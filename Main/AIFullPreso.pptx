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_rels/slideMaster9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14.xml.rels" ContentType="application/vnd.openxmlformats-package.relationships+xml"/>
  <Override PartName="/ppt/theme/theme1.xml" ContentType="application/vnd.openxmlformats-officedocument.theme+xml"/>
  <Override PartName="/ppt/theme/theme9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_rels/slideLayout3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119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37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38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39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1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08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09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129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148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49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65.xml.rels" ContentType="application/vnd.openxmlformats-package.relationships+xml"/>
  <Override PartName="/ppt/slideLayouts/_rels/slideLayout66.xml.rels" ContentType="application/vnd.openxmlformats-package.relationships+xml"/>
  <Override PartName="/ppt/slideLayouts/_rels/slideLayout67.xml.rels" ContentType="application/vnd.openxmlformats-package.relationships+xml"/>
  <Override PartName="/ppt/slideLayouts/_rels/slideLayout68.xml.rels" ContentType="application/vnd.openxmlformats-package.relationships+xml"/>
  <Override PartName="/ppt/slideLayouts/_rels/slideLayout69.xml.rels" ContentType="application/vnd.openxmlformats-package.relationships+xml"/>
  <Override PartName="/ppt/slideLayouts/_rels/slideLayout158.xml.rels" ContentType="application/vnd.openxmlformats-package.relationships+xml"/>
  <Override PartName="/ppt/slideLayouts/_rels/slideLayout70.xml.rels" ContentType="application/vnd.openxmlformats-package.relationships+xml"/>
  <Override PartName="/ppt/slideLayouts/_rels/slideLayout159.xml.rels" ContentType="application/vnd.openxmlformats-package.relationships+xml"/>
  <Override PartName="/ppt/slideLayouts/_rels/slideLayout71.xml.rels" ContentType="application/vnd.openxmlformats-package.relationships+xml"/>
  <Override PartName="/ppt/slideLayouts/_rels/slideLayout72.xml.rels" ContentType="application/vnd.openxmlformats-package.relationships+xml"/>
  <Override PartName="/ppt/slideLayouts/_rels/slideLayout73.xml.rels" ContentType="application/vnd.openxmlformats-package.relationships+xml"/>
  <Override PartName="/ppt/slideLayouts/_rels/slideLayout74.xml.rels" ContentType="application/vnd.openxmlformats-package.relationships+xml"/>
  <Override PartName="/ppt/slideLayouts/_rels/slideLayout75.xml.rels" ContentType="application/vnd.openxmlformats-package.relationships+xml"/>
  <Override PartName="/ppt/slideLayouts/_rels/slideLayout76.xml.rels" ContentType="application/vnd.openxmlformats-package.relationships+xml"/>
  <Override PartName="/ppt/slideLayouts/_rels/slideLayout77.xml.rels" ContentType="application/vnd.openxmlformats-package.relationships+xml"/>
  <Override PartName="/ppt/slideLayouts/_rels/slideLayout78.xml.rels" ContentType="application/vnd.openxmlformats-package.relationships+xml"/>
  <Override PartName="/ppt/slideLayouts/_rels/slideLayout79.xml.rels" ContentType="application/vnd.openxmlformats-package.relationships+xml"/>
  <Override PartName="/ppt/slideLayouts/_rels/slideLayout168.xml.rels" ContentType="application/vnd.openxmlformats-package.relationships+xml"/>
  <Override PartName="/ppt/slideLayouts/_rels/slideLayout80.xml.rels" ContentType="application/vnd.openxmlformats-package.relationships+xml"/>
  <Override PartName="/ppt/slideLayouts/_rels/slideLayout81.xml.rels" ContentType="application/vnd.openxmlformats-package.relationships+xml"/>
  <Override PartName="/ppt/slideLayouts/_rels/slideLayout82.xml.rels" ContentType="application/vnd.openxmlformats-package.relationships+xml"/>
  <Override PartName="/ppt/slideLayouts/_rels/slideLayout83.xml.rels" ContentType="application/vnd.openxmlformats-package.relationships+xml"/>
  <Override PartName="/ppt/slideLayouts/_rels/slideLayout84.xml.rels" ContentType="application/vnd.openxmlformats-package.relationships+xml"/>
  <Override PartName="/ppt/slideLayouts/_rels/slideLayout85.xml.rels" ContentType="application/vnd.openxmlformats-package.relationships+xml"/>
  <Override PartName="/ppt/slideLayouts/_rels/slideLayout86.xml.rels" ContentType="application/vnd.openxmlformats-package.relationships+xml"/>
  <Override PartName="/ppt/slideLayouts/_rels/slideLayout87.xml.rels" ContentType="application/vnd.openxmlformats-package.relationships+xml"/>
  <Override PartName="/ppt/slideLayouts/_rels/slideLayout88.xml.rels" ContentType="application/vnd.openxmlformats-package.relationships+xml"/>
  <Override PartName="/ppt/slideLayouts/_rels/slideLayout89.xml.rels" ContentType="application/vnd.openxmlformats-package.relationships+xml"/>
  <Override PartName="/ppt/slideLayouts/_rels/slideLayout90.xml.rels" ContentType="application/vnd.openxmlformats-package.relationships+xml"/>
  <Override PartName="/ppt/slideLayouts/_rels/slideLayout91.xml.rels" ContentType="application/vnd.openxmlformats-package.relationships+xml"/>
  <Override PartName="/ppt/slideLayouts/_rels/slideLayout92.xml.rels" ContentType="application/vnd.openxmlformats-package.relationships+xml"/>
  <Override PartName="/ppt/slideLayouts/_rels/slideLayout93.xml.rels" ContentType="application/vnd.openxmlformats-package.relationships+xml"/>
  <Override PartName="/ppt/slideLayouts/_rels/slideLayout94.xml.rels" ContentType="application/vnd.openxmlformats-package.relationships+xml"/>
  <Override PartName="/ppt/slideLayouts/_rels/slideLayout95.xml.rels" ContentType="application/vnd.openxmlformats-package.relationships+xml"/>
  <Override PartName="/ppt/slideLayouts/_rels/slideLayout96.xml.rels" ContentType="application/vnd.openxmlformats-package.relationships+xml"/>
  <Override PartName="/ppt/slideLayouts/_rels/slideLayout97.xml.rels" ContentType="application/vnd.openxmlformats-package.relationships+xml"/>
  <Override PartName="/ppt/slideLayouts/_rels/slideLayout98.xml.rels" ContentType="application/vnd.openxmlformats-package.relationships+xml"/>
  <Override PartName="/ppt/slideLayouts/_rels/slideLayout99.xml.rels" ContentType="application/vnd.openxmlformats-package.relationships+xml"/>
  <Override PartName="/ppt/slideLayouts/_rels/slideLayout100.xml.rels" ContentType="application/vnd.openxmlformats-package.relationships+xml"/>
  <Override PartName="/ppt/slideLayouts/_rels/slideLayout101.xml.rels" ContentType="application/vnd.openxmlformats-package.relationships+xml"/>
  <Override PartName="/ppt/slideLayouts/_rels/slideLayout102.xml.rels" ContentType="application/vnd.openxmlformats-package.relationships+xml"/>
  <Override PartName="/ppt/slideLayouts/_rels/slideLayout103.xml.rels" ContentType="application/vnd.openxmlformats-package.relationships+xml"/>
  <Override PartName="/ppt/slideLayouts/_rels/slideLayout104.xml.rels" ContentType="application/vnd.openxmlformats-package.relationships+xml"/>
  <Override PartName="/ppt/slideLayouts/_rels/slideLayout105.xml.rels" ContentType="application/vnd.openxmlformats-package.relationships+xml"/>
  <Override PartName="/ppt/slideLayouts/_rels/slideLayout106.xml.rels" ContentType="application/vnd.openxmlformats-package.relationships+xml"/>
  <Override PartName="/ppt/slideLayouts/_rels/slideLayout107.xml.rels" ContentType="application/vnd.openxmlformats-package.relationships+xml"/>
  <Override PartName="/ppt/slideLayouts/_rels/slideLayout110.xml.rels" ContentType="application/vnd.openxmlformats-package.relationships+xml"/>
  <Override PartName="/ppt/slideLayouts/_rels/slideLayout111.xml.rels" ContentType="application/vnd.openxmlformats-package.relationships+xml"/>
  <Override PartName="/ppt/slideLayouts/_rels/slideLayout112.xml.rels" ContentType="application/vnd.openxmlformats-package.relationships+xml"/>
  <Override PartName="/ppt/slideLayouts/_rels/slideLayout113.xml.rels" ContentType="application/vnd.openxmlformats-package.relationships+xml"/>
  <Override PartName="/ppt/slideLayouts/_rels/slideLayout114.xml.rels" ContentType="application/vnd.openxmlformats-package.relationships+xml"/>
  <Override PartName="/ppt/slideLayouts/_rels/slideLayout115.xml.rels" ContentType="application/vnd.openxmlformats-package.relationships+xml"/>
  <Override PartName="/ppt/slideLayouts/_rels/slideLayout116.xml.rels" ContentType="application/vnd.openxmlformats-package.relationships+xml"/>
  <Override PartName="/ppt/slideLayouts/_rels/slideLayout117.xml.rels" ContentType="application/vnd.openxmlformats-package.relationships+xml"/>
  <Override PartName="/ppt/slideLayouts/_rels/slideLayout120.xml.rels" ContentType="application/vnd.openxmlformats-package.relationships+xml"/>
  <Override PartName="/ppt/slideLayouts/_rels/slideLayout121.xml.rels" ContentType="application/vnd.openxmlformats-package.relationships+xml"/>
  <Override PartName="/ppt/slideLayouts/_rels/slideLayout122.xml.rels" ContentType="application/vnd.openxmlformats-package.relationships+xml"/>
  <Override PartName="/ppt/slideLayouts/_rels/slideLayout123.xml.rels" ContentType="application/vnd.openxmlformats-package.relationships+xml"/>
  <Override PartName="/ppt/slideLayouts/_rels/slideLayout124.xml.rels" ContentType="application/vnd.openxmlformats-package.relationships+xml"/>
  <Override PartName="/ppt/slideLayouts/_rels/slideLayout125.xml.rels" ContentType="application/vnd.openxmlformats-package.relationships+xml"/>
  <Override PartName="/ppt/slideLayouts/_rels/slideLayout126.xml.rels" ContentType="application/vnd.openxmlformats-package.relationships+xml"/>
  <Override PartName="/ppt/slideLayouts/_rels/slideLayout127.xml.rels" ContentType="application/vnd.openxmlformats-package.relationships+xml"/>
  <Override PartName="/ppt/slideLayouts/_rels/slideLayout130.xml.rels" ContentType="application/vnd.openxmlformats-package.relationships+xml"/>
  <Override PartName="/ppt/slideLayouts/_rels/slideLayout131.xml.rels" ContentType="application/vnd.openxmlformats-package.relationships+xml"/>
  <Override PartName="/ppt/slideLayouts/_rels/slideLayout132.xml.rels" ContentType="application/vnd.openxmlformats-package.relationships+xml"/>
  <Override PartName="/ppt/slideLayouts/_rels/slideLayout133.xml.rels" ContentType="application/vnd.openxmlformats-package.relationships+xml"/>
  <Override PartName="/ppt/slideLayouts/_rels/slideLayout134.xml.rels" ContentType="application/vnd.openxmlformats-package.relationships+xml"/>
  <Override PartName="/ppt/slideLayouts/_rels/slideLayout135.xml.rels" ContentType="application/vnd.openxmlformats-package.relationships+xml"/>
  <Override PartName="/ppt/slideLayouts/_rels/slideLayout136.xml.rels" ContentType="application/vnd.openxmlformats-package.relationships+xml"/>
  <Override PartName="/ppt/slideLayouts/_rels/slideLayout140.xml.rels" ContentType="application/vnd.openxmlformats-package.relationships+xml"/>
  <Override PartName="/ppt/slideLayouts/_rels/slideLayout141.xml.rels" ContentType="application/vnd.openxmlformats-package.relationships+xml"/>
  <Override PartName="/ppt/slideLayouts/_rels/slideLayout142.xml.rels" ContentType="application/vnd.openxmlformats-package.relationships+xml"/>
  <Override PartName="/ppt/slideLayouts/_rels/slideLayout143.xml.rels" ContentType="application/vnd.openxmlformats-package.relationships+xml"/>
  <Override PartName="/ppt/slideLayouts/_rels/slideLayout144.xml.rels" ContentType="application/vnd.openxmlformats-package.relationships+xml"/>
  <Override PartName="/ppt/slideLayouts/_rels/slideLayout145.xml.rels" ContentType="application/vnd.openxmlformats-package.relationships+xml"/>
  <Override PartName="/ppt/slideLayouts/_rels/slideLayout146.xml.rels" ContentType="application/vnd.openxmlformats-package.relationships+xml"/>
  <Override PartName="/ppt/slideLayouts/_rels/slideLayout147.xml.rels" ContentType="application/vnd.openxmlformats-package.relationships+xml"/>
  <Override PartName="/ppt/slideLayouts/_rels/slideLayout150.xml.rels" ContentType="application/vnd.openxmlformats-package.relationships+xml"/>
  <Override PartName="/ppt/slideLayouts/_rels/slideLayout151.xml.rels" ContentType="application/vnd.openxmlformats-package.relationships+xml"/>
  <Override PartName="/ppt/slideLayouts/_rels/slideLayout152.xml.rels" ContentType="application/vnd.openxmlformats-package.relationships+xml"/>
  <Override PartName="/ppt/slideLayouts/_rels/slideLayout153.xml.rels" ContentType="application/vnd.openxmlformats-package.relationships+xml"/>
  <Override PartName="/ppt/slideLayouts/_rels/slideLayout154.xml.rels" ContentType="application/vnd.openxmlformats-package.relationships+xml"/>
  <Override PartName="/ppt/slideLayouts/_rels/slideLayout155.xml.rels" ContentType="application/vnd.openxmlformats-package.relationships+xml"/>
  <Override PartName="/ppt/slideLayouts/_rels/slideLayout156.xml.rels" ContentType="application/vnd.openxmlformats-package.relationships+xml"/>
  <Override PartName="/ppt/slideLayouts/_rels/slideLayout157.xml.rels" ContentType="application/vnd.openxmlformats-package.relationships+xml"/>
  <Override PartName="/ppt/slideLayouts/_rels/slideLayout160.xml.rels" ContentType="application/vnd.openxmlformats-package.relationships+xml"/>
  <Override PartName="/ppt/slideLayouts/_rels/slideLayout161.xml.rels" ContentType="application/vnd.openxmlformats-package.relationships+xml"/>
  <Override PartName="/ppt/slideLayouts/_rels/slideLayout162.xml.rels" ContentType="application/vnd.openxmlformats-package.relationships+xml"/>
  <Override PartName="/ppt/slideLayouts/_rels/slideLayout163.xml.rels" ContentType="application/vnd.openxmlformats-package.relationships+xml"/>
  <Override PartName="/ppt/slideLayouts/_rels/slideLayout164.xml.rels" ContentType="application/vnd.openxmlformats-package.relationships+xml"/>
  <Override PartName="/ppt/slideLayouts/_rels/slideLayout165.xml.rels" ContentType="application/vnd.openxmlformats-package.relationships+xml"/>
  <Override PartName="/ppt/slideLayouts/_rels/slideLayout166.xml.rels" ContentType="application/vnd.openxmlformats-package.relationships+xml"/>
  <Override PartName="/ppt/slideLayouts/_rels/slideLayout167.xml.rels" ContentType="application/vnd.openxmlformats-package.relationships+xml"/>
  <Override PartName="/ppt/slideLayouts/slideLayout61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6.xml" ContentType="application/vnd.openxmlformats-officedocument.presentationml.slide+xml"/>
  <Override PartName="/ppt/slides/slide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36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37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media/image1.jpeg" ContentType="image/jpeg"/>
  <Override PartName="/ppt/media/image9.jpeg" ContentType="image/jpeg"/>
  <Override PartName="/ppt/media/image2.png" ContentType="image/png"/>
  <Override PartName="/ppt/media/image4.jpeg" ContentType="image/jpeg"/>
  <Override PartName="/ppt/media/image3.jpeg" ContentType="image/jpe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  <p:sldMasterId id="2147483713" r:id="rId7"/>
    <p:sldMasterId id="2147483726" r:id="rId8"/>
    <p:sldMasterId id="2147483739" r:id="rId9"/>
    <p:sldMasterId id="2147483752" r:id="rId10"/>
    <p:sldMasterId id="2147483765" r:id="rId11"/>
    <p:sldMasterId id="2147483778" r:id="rId12"/>
    <p:sldMasterId id="2147483791" r:id="rId13"/>
    <p:sldMasterId id="2147483804" r:id="rId14"/>
    <p:sldMasterId id="2147483817" r:id="rId15"/>
  </p:sld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8" r:id="rId28"/>
    <p:sldId id="269" r:id="rId29"/>
    <p:sldId id="270" r:id="rId30"/>
    <p:sldId id="271" r:id="rId31"/>
    <p:sldId id="272" r:id="rId32"/>
    <p:sldId id="273" r:id="rId33"/>
    <p:sldId id="274" r:id="rId34"/>
    <p:sldId id="275" r:id="rId35"/>
    <p:sldId id="276" r:id="rId36"/>
    <p:sldId id="277" r:id="rId37"/>
    <p:sldId id="278" r:id="rId38"/>
    <p:sldId id="279" r:id="rId39"/>
    <p:sldId id="280" r:id="rId40"/>
    <p:sldId id="281" r:id="rId41"/>
    <p:sldId id="282" r:id="rId42"/>
    <p:sldId id="283" r:id="rId43"/>
    <p:sldId id="284" r:id="rId44"/>
    <p:sldId id="285" r:id="rId45"/>
    <p:sldId id="286" r:id="rId46"/>
    <p:sldId id="287" r:id="rId47"/>
    <p:sldId id="288" r:id="rId48"/>
    <p:sldId id="289" r:id="rId49"/>
    <p:sldId id="290" r:id="rId50"/>
    <p:sldId id="291" r:id="rId51"/>
    <p:sldId id="292" r:id="rId52"/>
  </p:sldIdLst>
  <p:sldSz cx="10080625" cy="567055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Relationship Id="rId46" Type="http://schemas.openxmlformats.org/officeDocument/2006/relationships/slide" Target="slides/slide31.xml"/><Relationship Id="rId47" Type="http://schemas.openxmlformats.org/officeDocument/2006/relationships/slide" Target="slides/slide32.xml"/><Relationship Id="rId48" Type="http://schemas.openxmlformats.org/officeDocument/2006/relationships/slide" Target="slides/slide33.xml"/><Relationship Id="rId49" Type="http://schemas.openxmlformats.org/officeDocument/2006/relationships/slide" Target="slides/slide34.xml"/><Relationship Id="rId50" Type="http://schemas.openxmlformats.org/officeDocument/2006/relationships/slide" Target="slides/slide35.xml"/><Relationship Id="rId51" Type="http://schemas.openxmlformats.org/officeDocument/2006/relationships/slide" Target="slides/slide36.xml"/><Relationship Id="rId52" Type="http://schemas.openxmlformats.org/officeDocument/2006/relationships/slide" Target="slides/slide37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2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3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8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4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49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0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1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0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1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2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7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8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89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8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9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0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4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5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6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7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6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0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7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8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2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3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4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5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0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4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8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5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6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0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1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2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3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1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1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8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2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6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2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3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3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4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8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9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0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1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0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45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4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6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0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6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4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6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1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2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7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5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6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7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8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9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83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8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9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4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8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0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5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0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9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0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1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3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4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5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6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17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2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2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2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2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3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32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3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3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36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3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3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40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4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43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4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4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47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48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5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52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53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54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55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59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6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6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6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6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69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70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7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7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74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7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7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78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8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81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8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84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85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86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8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89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90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91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92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93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9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49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0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0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</p:spTree>
  </p:cSld>
</p:sldLayout>
</file>

<file path=ppt/slideLayouts/slideLayout1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200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0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0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08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1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1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12" name="PlaceHolder 4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1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1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16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1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19" name="PlaceHolder 3"/>
          <p:cNvSpPr>
            <a:spLocks noGrp="1"/>
          </p:cNvSpPr>
          <p:nvPr>
            <p:ph type="body"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2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3" name="PlaceHolder 4"/>
          <p:cNvSpPr>
            <a:spLocks noGrp="1"/>
          </p:cNvSpPr>
          <p:nvPr>
            <p:ph type="body"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4" name="PlaceHolder 5"/>
          <p:cNvSpPr>
            <a:spLocks noGrp="1"/>
          </p:cNvSpPr>
          <p:nvPr>
            <p:ph type="body"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4400" spc="-1" strike="noStrike">
              <a:latin typeface="Arial"/>
            </a:endParaRPr>
          </a:p>
        </p:txBody>
      </p:sp>
      <p:sp>
        <p:nvSpPr>
          <p:cNvPr id="52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7" name="PlaceHolder 3"/>
          <p:cNvSpPr>
            <a:spLocks noGrp="1"/>
          </p:cNvSpPr>
          <p:nvPr>
            <p:ph type="body"/>
          </p:nvPr>
        </p:nvSpPr>
        <p:spPr>
          <a:xfrm>
            <a:off x="357156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8" name="PlaceHolder 4"/>
          <p:cNvSpPr>
            <a:spLocks noGrp="1"/>
          </p:cNvSpPr>
          <p:nvPr>
            <p:ph type="body"/>
          </p:nvPr>
        </p:nvSpPr>
        <p:spPr>
          <a:xfrm>
            <a:off x="6639120" y="132660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9" name="PlaceHolder 5"/>
          <p:cNvSpPr>
            <a:spLocks noGrp="1"/>
          </p:cNvSpPr>
          <p:nvPr>
            <p:ph type="body"/>
          </p:nvPr>
        </p:nvSpPr>
        <p:spPr>
          <a:xfrm>
            <a:off x="50400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30" name="PlaceHolder 6"/>
          <p:cNvSpPr>
            <a:spLocks noGrp="1"/>
          </p:cNvSpPr>
          <p:nvPr>
            <p:ph type="body"/>
          </p:nvPr>
        </p:nvSpPr>
        <p:spPr>
          <a:xfrm>
            <a:off x="357156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31" name="PlaceHolder 7"/>
          <p:cNvSpPr>
            <a:spLocks noGrp="1"/>
          </p:cNvSpPr>
          <p:nvPr>
            <p:ph type="body"/>
          </p:nvPr>
        </p:nvSpPr>
        <p:spPr>
          <a:xfrm>
            <a:off x="6639120" y="3044520"/>
            <a:ext cx="2921040" cy="15685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1.xml"/><Relationship Id="rId13" Type="http://schemas.openxmlformats.org/officeDocument/2006/relationships/slideLayout" Target="../slideLayouts/slideLayout72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4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5.xml"/><Relationship Id="rId3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8.xml"/><Relationship Id="rId6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0.xml"/><Relationship Id="rId8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93.xml"/><Relationship Id="rId11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95.xml"/><Relationship Id="rId13" Type="http://schemas.openxmlformats.org/officeDocument/2006/relationships/slideLayout" Target="../slideLayouts/slideLayout96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7.xml"/><Relationship Id="rId3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9.xml"/><Relationship Id="rId5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2.xml"/><Relationship Id="rId8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06.xml"/><Relationship Id="rId12" Type="http://schemas.openxmlformats.org/officeDocument/2006/relationships/slideLayout" Target="../slideLayouts/slideLayout107.xml"/><Relationship Id="rId13" Type="http://schemas.openxmlformats.org/officeDocument/2006/relationships/slideLayout" Target="../slideLayouts/slideLayout108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9.xml"/><Relationship Id="rId3" Type="http://schemas.openxmlformats.org/officeDocument/2006/relationships/slideLayout" Target="../slideLayouts/slideLayout110.xml"/><Relationship Id="rId4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112.xml"/><Relationship Id="rId6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4.xml"/><Relationship Id="rId8" Type="http://schemas.openxmlformats.org/officeDocument/2006/relationships/slideLayout" Target="../slideLayouts/slideLayout115.xml"/><Relationship Id="rId9" Type="http://schemas.openxmlformats.org/officeDocument/2006/relationships/slideLayout" Target="../slideLayouts/slideLayout116.xml"/><Relationship Id="rId10" Type="http://schemas.openxmlformats.org/officeDocument/2006/relationships/slideLayout" Target="../slideLayouts/slideLayout117.xml"/><Relationship Id="rId11" Type="http://schemas.openxmlformats.org/officeDocument/2006/relationships/slideLayout" Target="../slideLayouts/slideLayout118.xml"/><Relationship Id="rId12" Type="http://schemas.openxmlformats.org/officeDocument/2006/relationships/slideLayout" Target="../slideLayouts/slideLayout119.xml"/><Relationship Id="rId13" Type="http://schemas.openxmlformats.org/officeDocument/2006/relationships/slideLayout" Target="../slideLayouts/slideLayout12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122.xml"/><Relationship Id="rId4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5.xml"/><Relationship Id="rId7" Type="http://schemas.openxmlformats.org/officeDocument/2006/relationships/slideLayout" Target="../slideLayouts/slideLayout126.xml"/><Relationship Id="rId8" Type="http://schemas.openxmlformats.org/officeDocument/2006/relationships/slideLayout" Target="../slideLayouts/slideLayout127.xml"/><Relationship Id="rId9" Type="http://schemas.openxmlformats.org/officeDocument/2006/relationships/slideLayout" Target="../slideLayouts/slideLayout128.xml"/><Relationship Id="rId10" Type="http://schemas.openxmlformats.org/officeDocument/2006/relationships/slideLayout" Target="../slideLayouts/slideLayout129.xml"/><Relationship Id="rId11" Type="http://schemas.openxmlformats.org/officeDocument/2006/relationships/slideLayout" Target="../slideLayouts/slideLayout130.xml"/><Relationship Id="rId12" Type="http://schemas.openxmlformats.org/officeDocument/2006/relationships/slideLayout" Target="../slideLayouts/slideLayout131.xml"/><Relationship Id="rId13" Type="http://schemas.openxmlformats.org/officeDocument/2006/relationships/slideLayout" Target="../slideLayouts/slideLayout132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33.xml"/><Relationship Id="rId3" Type="http://schemas.openxmlformats.org/officeDocument/2006/relationships/slideLayout" Target="../slideLayouts/slideLayout134.xml"/><Relationship Id="rId4" Type="http://schemas.openxmlformats.org/officeDocument/2006/relationships/slideLayout" Target="../slideLayouts/slideLayout135.xml"/><Relationship Id="rId5" Type="http://schemas.openxmlformats.org/officeDocument/2006/relationships/slideLayout" Target="../slideLayouts/slideLayout136.xml"/><Relationship Id="rId6" Type="http://schemas.openxmlformats.org/officeDocument/2006/relationships/slideLayout" Target="../slideLayouts/slideLayout137.xml"/><Relationship Id="rId7" Type="http://schemas.openxmlformats.org/officeDocument/2006/relationships/slideLayout" Target="../slideLayouts/slideLayout138.xml"/><Relationship Id="rId8" Type="http://schemas.openxmlformats.org/officeDocument/2006/relationships/slideLayout" Target="../slideLayouts/slideLayout139.xml"/><Relationship Id="rId9" Type="http://schemas.openxmlformats.org/officeDocument/2006/relationships/slideLayout" Target="../slideLayouts/slideLayout140.xml"/><Relationship Id="rId10" Type="http://schemas.openxmlformats.org/officeDocument/2006/relationships/slideLayout" Target="../slideLayouts/slideLayout141.xml"/><Relationship Id="rId11" Type="http://schemas.openxmlformats.org/officeDocument/2006/relationships/slideLayout" Target="../slideLayouts/slideLayout142.xml"/><Relationship Id="rId12" Type="http://schemas.openxmlformats.org/officeDocument/2006/relationships/slideLayout" Target="../slideLayouts/slideLayout143.xml"/><Relationship Id="rId13" Type="http://schemas.openxmlformats.org/officeDocument/2006/relationships/slideLayout" Target="../slideLayouts/slideLayout144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45.xml"/><Relationship Id="rId3" Type="http://schemas.openxmlformats.org/officeDocument/2006/relationships/slideLayout" Target="../slideLayouts/slideLayout146.xml"/><Relationship Id="rId4" Type="http://schemas.openxmlformats.org/officeDocument/2006/relationships/slideLayout" Target="../slideLayouts/slideLayout147.xml"/><Relationship Id="rId5" Type="http://schemas.openxmlformats.org/officeDocument/2006/relationships/slideLayout" Target="../slideLayouts/slideLayout148.xml"/><Relationship Id="rId6" Type="http://schemas.openxmlformats.org/officeDocument/2006/relationships/slideLayout" Target="../slideLayouts/slideLayout149.xml"/><Relationship Id="rId7" Type="http://schemas.openxmlformats.org/officeDocument/2006/relationships/slideLayout" Target="../slideLayouts/slideLayout150.xml"/><Relationship Id="rId8" Type="http://schemas.openxmlformats.org/officeDocument/2006/relationships/slideLayout" Target="../slideLayouts/slideLayout151.xml"/><Relationship Id="rId9" Type="http://schemas.openxmlformats.org/officeDocument/2006/relationships/slideLayout" Target="../slideLayouts/slideLayout152.xml"/><Relationship Id="rId10" Type="http://schemas.openxmlformats.org/officeDocument/2006/relationships/slideLayout" Target="../slideLayouts/slideLayout153.xml"/><Relationship Id="rId11" Type="http://schemas.openxmlformats.org/officeDocument/2006/relationships/slideLayout" Target="../slideLayouts/slideLayout154.xml"/><Relationship Id="rId12" Type="http://schemas.openxmlformats.org/officeDocument/2006/relationships/slideLayout" Target="../slideLayouts/slideLayout155.xml"/><Relationship Id="rId13" Type="http://schemas.openxmlformats.org/officeDocument/2006/relationships/slideLayout" Target="../slideLayouts/slideLayout156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57.xml"/><Relationship Id="rId3" Type="http://schemas.openxmlformats.org/officeDocument/2006/relationships/slideLayout" Target="../slideLayouts/slideLayout158.xml"/><Relationship Id="rId4" Type="http://schemas.openxmlformats.org/officeDocument/2006/relationships/slideLayout" Target="../slideLayouts/slideLayout159.xml"/><Relationship Id="rId5" Type="http://schemas.openxmlformats.org/officeDocument/2006/relationships/slideLayout" Target="../slideLayouts/slideLayout160.xml"/><Relationship Id="rId6" Type="http://schemas.openxmlformats.org/officeDocument/2006/relationships/slideLayout" Target="../slideLayouts/slideLayout161.xml"/><Relationship Id="rId7" Type="http://schemas.openxmlformats.org/officeDocument/2006/relationships/slideLayout" Target="../slideLayouts/slideLayout162.xml"/><Relationship Id="rId8" Type="http://schemas.openxmlformats.org/officeDocument/2006/relationships/slideLayout" Target="../slideLayouts/slideLayout163.xml"/><Relationship Id="rId9" Type="http://schemas.openxmlformats.org/officeDocument/2006/relationships/slideLayout" Target="../slideLayouts/slideLayout164.xml"/><Relationship Id="rId10" Type="http://schemas.openxmlformats.org/officeDocument/2006/relationships/slideLayout" Target="../slideLayouts/slideLayout165.xml"/><Relationship Id="rId11" Type="http://schemas.openxmlformats.org/officeDocument/2006/relationships/slideLayout" Target="../slideLayouts/slideLayout166.xml"/><Relationship Id="rId12" Type="http://schemas.openxmlformats.org/officeDocument/2006/relationships/slideLayout" Target="../slideLayouts/slideLayout167.xml"/><Relationship Id="rId13" Type="http://schemas.openxmlformats.org/officeDocument/2006/relationships/slideLayout" Target="../slideLayouts/slideLayout16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 algn="ctr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 algn="ctr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 algn="ctr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 algn="ctr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 algn="ctr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 algn="ctr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 algn="ctr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 algn="ctr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  <p:sldLayoutId id="2147483790" r:id="rId1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1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 algn="ctr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 algn="ctr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 algn="ctr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 algn="ctr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  <p:sldLayoutId id="2147483803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0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1800" spc="-1" strike="noStrike">
                <a:latin typeface="Arial"/>
              </a:rPr>
              <a:t>Click to edit the title text format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5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 algn="ctr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Click to edit the outline text format</a:t>
            </a:r>
            <a:endParaRPr b="0" lang="en-US" sz="1800" spc="-1" strike="noStrike">
              <a:latin typeface="Arial"/>
            </a:endParaRPr>
          </a:p>
          <a:p>
            <a:pPr lvl="1" marL="864000" indent="-324000" algn="ctr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Second Outline Level</a:t>
            </a:r>
            <a:endParaRPr b="0" lang="en-US" sz="1800" spc="-1" strike="noStrike">
              <a:latin typeface="Arial"/>
            </a:endParaRPr>
          </a:p>
          <a:p>
            <a:pPr lvl="2" marL="1296000" indent="-288000" algn="ctr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Third Outline Level</a:t>
            </a:r>
            <a:endParaRPr b="0" lang="en-US" sz="1800" spc="-1" strike="noStrike">
              <a:latin typeface="Arial"/>
            </a:endParaRPr>
          </a:p>
          <a:p>
            <a:pPr lvl="3" marL="1728000" indent="-216000" algn="ctr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latin typeface="Arial"/>
              </a:rPr>
              <a:t>Fourth Outline Level</a:t>
            </a:r>
            <a:endParaRPr b="0" lang="en-US" sz="1800" spc="-1" strike="noStrike">
              <a:latin typeface="Arial"/>
            </a:endParaRPr>
          </a:p>
          <a:p>
            <a:pPr lvl="4" marL="2160000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Fifth Outline Level</a:t>
            </a:r>
            <a:endParaRPr b="0" lang="en-US" sz="1800" spc="-1" strike="noStrike">
              <a:latin typeface="Arial"/>
            </a:endParaRPr>
          </a:p>
          <a:p>
            <a:pPr lvl="5" marL="2592000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Sixth Outline Level</a:t>
            </a:r>
            <a:endParaRPr b="0" lang="en-US" sz="1800" spc="-1" strike="noStrike">
              <a:latin typeface="Arial"/>
            </a:endParaRPr>
          </a:p>
          <a:p>
            <a:pPr lvl="6" marL="3024000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latin typeface="Arial"/>
              </a:rPr>
              <a:t>Seventh Outline Level</a:t>
            </a:r>
            <a:endParaRPr b="0" lang="en-US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  <p:sldLayoutId id="2147483816" r:id="rId1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9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8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7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10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0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7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5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5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7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jpeg"/><Relationship Id="rId4" Type="http://schemas.openxmlformats.org/officeDocument/2006/relationships/slideLayout" Target="../slideLayouts/slideLayout25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CustomShape 1"/>
          <p:cNvSpPr/>
          <p:nvPr/>
        </p:nvSpPr>
        <p:spPr>
          <a:xfrm>
            <a:off x="731520" y="2088360"/>
            <a:ext cx="9063360" cy="560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4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Technology and Philosophy</a:t>
            </a:r>
            <a:endParaRPr b="0" lang="en-US" sz="40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40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of Artificial Intelligence</a:t>
            </a:r>
            <a:endParaRPr b="0" lang="en-US" sz="40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40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Dr. Clint Staley (C’80)</a:t>
            </a:r>
            <a:endParaRPr b="0" lang="en-US" sz="1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Dean of STEM, UATX</a:t>
            </a:r>
            <a:endParaRPr b="0" lang="en-US" sz="1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CSCI Professor, Principia College</a:t>
            </a:r>
            <a:endParaRPr b="0" lang="en-US" sz="16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CSC Professor Emeritus, Cal Poly SLO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533" name="CustomShape 2"/>
          <p:cNvSpPr/>
          <p:nvPr/>
        </p:nvSpPr>
        <p:spPr>
          <a:xfrm>
            <a:off x="4206240" y="2768400"/>
            <a:ext cx="1639080" cy="396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CustomShape 1"/>
          <p:cNvSpPr/>
          <p:nvPr/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latin typeface="Arial"/>
              </a:rPr>
              <a:t>Types of AI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35" name="CustomShape 2"/>
          <p:cNvSpPr/>
          <p:nvPr/>
        </p:nvSpPr>
        <p:spPr>
          <a:xfrm>
            <a:off x="274320" y="1645920"/>
            <a:ext cx="6993720" cy="3885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45000"/>
          </a:bodyPr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AI: software with “human-like” intelligence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Machine Learning: AI that trains itself 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Deep Learning: ML that models neurons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Generative AI: Deep Learning that generates text, music, art rather than just analyzing.</a:t>
            </a:r>
            <a:endParaRPr b="0" lang="en-US" sz="32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latin typeface="Arial"/>
              </a:rPr>
              <a:t>LLM Large Language Model: ChatGPT, Gemini, Claude, Grok</a:t>
            </a:r>
            <a:endParaRPr b="0" lang="en-US" sz="28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latin typeface="Arial"/>
              </a:rPr>
              <a:t>Art and Music generators: Suno, Sora, DALL-E, etc 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536" name="" descr=""/>
          <p:cNvPicPr/>
          <p:nvPr/>
        </p:nvPicPr>
        <p:blipFill>
          <a:blip r:embed="rId1"/>
          <a:stretch/>
        </p:blipFill>
        <p:spPr>
          <a:xfrm>
            <a:off x="7223760" y="914400"/>
            <a:ext cx="2819520" cy="29257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CustomShape 1"/>
          <p:cNvSpPr/>
          <p:nvPr/>
        </p:nvSpPr>
        <p:spPr>
          <a:xfrm>
            <a:off x="503640" y="477720"/>
            <a:ext cx="9063360" cy="938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LLM</a:t>
            </a: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 Demo</a:t>
            </a:r>
            <a:endParaRPr b="0" lang="en-US" sz="4000" spc="-1" strike="noStrike">
              <a:latin typeface="Arial"/>
            </a:endParaRPr>
          </a:p>
        </p:txBody>
      </p:sp>
      <p:sp>
        <p:nvSpPr>
          <p:cNvPr id="538" name="CustomShape 2"/>
          <p:cNvSpPr/>
          <p:nvPr/>
        </p:nvSpPr>
        <p:spPr>
          <a:xfrm>
            <a:off x="503640" y="1326240"/>
            <a:ext cx="9063360" cy="3280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42000"/>
          </a:bodyPr>
          <a:p>
            <a:pPr>
              <a:lnSpc>
                <a:spcPct val="100000"/>
              </a:lnSpc>
              <a:spcBef>
                <a:spcPts val="1417"/>
              </a:spcBef>
            </a:pPr>
            <a:endParaRPr b="0" lang="en-US" sz="1800" spc="-1" strike="noStrike">
              <a:latin typeface="Arial"/>
            </a:endParaRPr>
          </a:p>
          <a:p>
            <a:pPr marL="432000" indent="-3168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Like a text conversation, but with highly sophisticated program</a:t>
            </a:r>
            <a:endParaRPr b="0" lang="en-US" sz="3200" spc="-1" strike="noStrike">
              <a:latin typeface="Arial"/>
            </a:endParaRPr>
          </a:p>
          <a:p>
            <a:pPr marL="432000" indent="-3168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Much more than a search engine:</a:t>
            </a:r>
            <a:endParaRPr b="0" lang="en-US" sz="3200" spc="-1" strike="noStrike">
              <a:latin typeface="Arial"/>
            </a:endParaRPr>
          </a:p>
          <a:p>
            <a:pPr marL="432000" indent="-3168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Write and Revise a Story (Claude Sonnet)</a:t>
            </a:r>
            <a:endParaRPr b="0" lang="en-US" sz="3200" spc="-1" strike="noStrike">
              <a:latin typeface="Arial"/>
            </a:endParaRPr>
          </a:p>
          <a:p>
            <a:pPr lvl="1" marL="864000" indent="-3168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Understands the context of the story, summarizes; changes style</a:t>
            </a:r>
            <a:endParaRPr b="0" lang="en-US" sz="2800" spc="-1" strike="noStrike">
              <a:latin typeface="Arial"/>
            </a:endParaRPr>
          </a:p>
          <a:p>
            <a:pPr marL="432000" indent="-3168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Explain funny images</a:t>
            </a:r>
            <a:endParaRPr b="0" lang="en-US" sz="2800" spc="-1" strike="noStrike">
              <a:latin typeface="Arial"/>
            </a:endParaRPr>
          </a:p>
          <a:p>
            <a:pPr lvl="1" marL="864000" indent="-3168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Gets the humorous intent, understands images</a:t>
            </a:r>
            <a:endParaRPr b="0" lang="en-US" sz="2800" spc="-1" strike="noStrike">
              <a:latin typeface="Arial"/>
            </a:endParaRPr>
          </a:p>
          <a:p>
            <a:pPr marL="432000" indent="-3168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Engage in “theory of mind” exercise</a:t>
            </a:r>
            <a:endParaRPr b="0" lang="en-US" sz="2800" spc="-1" strike="noStrike">
              <a:latin typeface="Arial"/>
            </a:endParaRPr>
          </a:p>
          <a:p>
            <a:pPr lvl="1" marL="864000" indent="-3168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Intuitive, self-reflective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34"/>
              </a:spcBef>
            </a:pP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CustomShape 1"/>
          <p:cNvSpPr/>
          <p:nvPr/>
        </p:nvSpPr>
        <p:spPr>
          <a:xfrm>
            <a:off x="504000" y="226080"/>
            <a:ext cx="9069120" cy="943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Example Uses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40" name="CustomShape 2"/>
          <p:cNvSpPr/>
          <p:nvPr/>
        </p:nvSpPr>
        <p:spPr>
          <a:xfrm>
            <a:off x="504000" y="731520"/>
            <a:ext cx="9069120" cy="3880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88000"/>
          </a:bodyPr>
          <a:p>
            <a:pPr>
              <a:lnSpc>
                <a:spcPct val="100000"/>
              </a:lnSpc>
              <a:spcBef>
                <a:spcPts val="1417"/>
              </a:spcBef>
            </a:pPr>
            <a:endParaRPr b="0" lang="en-US" sz="18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Document summary/analysis – IP agreement</a:t>
            </a:r>
            <a:endParaRPr b="0" lang="en-US" sz="3200" spc="-1" strike="noStrike">
              <a:latin typeface="Arial"/>
            </a:endParaRPr>
          </a:p>
          <a:p>
            <a:pPr lvl="1" marL="864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Prompt includes entire document</a:t>
            </a:r>
            <a:endParaRPr b="0" lang="en-US" sz="2800" spc="-1" strike="noStrike">
              <a:latin typeface="Arial"/>
            </a:endParaRPr>
          </a:p>
          <a:p>
            <a:pPr lvl="1" marL="864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Summarizes, points out issues, correctly evaluates</a:t>
            </a:r>
            <a:endParaRPr b="0" lang="en-US" sz="2800" spc="-1" strike="noStrike">
              <a:latin typeface="Arial"/>
            </a:endParaRPr>
          </a:p>
          <a:p>
            <a:pPr lvl="1" marL="864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(But check for accuracy!)</a:t>
            </a:r>
            <a:endParaRPr b="0" lang="en-US" sz="28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Editing prose – remove passive voice</a:t>
            </a:r>
            <a:endParaRPr b="0" lang="en-US" sz="3200" spc="-1" strike="noStrike">
              <a:latin typeface="Arial"/>
            </a:endParaRPr>
          </a:p>
          <a:p>
            <a:pPr lvl="1" marL="864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Understands grammar, style</a:t>
            </a:r>
            <a:endParaRPr b="0" lang="en-US" sz="2800" spc="-1" strike="noStrike">
              <a:latin typeface="Arial"/>
            </a:endParaRPr>
          </a:p>
          <a:p>
            <a:pPr lvl="1" marL="864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Example revision for PV is correct, succinct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34"/>
              </a:spcBef>
            </a:pP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CustomShape 1"/>
          <p:cNvSpPr/>
          <p:nvPr/>
        </p:nvSpPr>
        <p:spPr>
          <a:xfrm>
            <a:off x="504000" y="226080"/>
            <a:ext cx="9069480" cy="943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Example Uses, cont..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42" name="CustomShape 2"/>
          <p:cNvSpPr/>
          <p:nvPr/>
        </p:nvSpPr>
        <p:spPr>
          <a:xfrm>
            <a:off x="504000" y="1326600"/>
            <a:ext cx="9069480" cy="328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45000"/>
          </a:bodyPr>
          <a:p>
            <a:pPr marL="432000" indent="-3214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Write standard documents – reference letter</a:t>
            </a:r>
            <a:endParaRPr b="0" lang="en-US" sz="3200" spc="-1" strike="noStrike">
              <a:latin typeface="Arial"/>
            </a:endParaRPr>
          </a:p>
          <a:p>
            <a:pPr lvl="1" marL="864000" indent="-321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Prompt should include particular details, and general instructions</a:t>
            </a:r>
            <a:endParaRPr b="0" lang="en-US" sz="2800" spc="-1" strike="noStrike">
              <a:latin typeface="Arial"/>
            </a:endParaRPr>
          </a:p>
          <a:p>
            <a:pPr lvl="1" marL="864000" indent="-321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Can reuse prompt over and over w/ adjustments</a:t>
            </a:r>
            <a:endParaRPr b="0" lang="en-US" sz="2800" spc="-1" strike="noStrike">
              <a:latin typeface="Arial"/>
            </a:endParaRPr>
          </a:p>
          <a:p>
            <a:pPr lvl="1" marL="864000" indent="-321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Good at first drafts, but needs final polish (3</a:t>
            </a:r>
            <a:r>
              <a:rPr b="0" lang="en-US" sz="2800" spc="-1" strike="noStrike" baseline="14000000">
                <a:solidFill>
                  <a:srgbClr val="000000"/>
                </a:solidFill>
                <a:latin typeface="Arial"/>
                <a:ea typeface="DejaVu Sans"/>
              </a:rPr>
              <a:t>rd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 paragraph, for instance)</a:t>
            </a:r>
            <a:endParaRPr b="0" lang="en-US" sz="2800" spc="-1" strike="noStrike">
              <a:latin typeface="Arial"/>
            </a:endParaRPr>
          </a:p>
          <a:p>
            <a:pPr marL="432000" indent="-3214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Tutorial Study – hierarchical Bayes’ analysis</a:t>
            </a:r>
            <a:endParaRPr b="0" lang="en-US" sz="3200" spc="-1" strike="noStrike">
              <a:latin typeface="Arial"/>
            </a:endParaRPr>
          </a:p>
          <a:p>
            <a:pPr lvl="1" marL="864000" indent="-321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Gives good “textbook” summaries and explanations</a:t>
            </a:r>
            <a:endParaRPr b="0" lang="en-US" sz="2800" spc="-1" strike="noStrike">
              <a:latin typeface="Arial"/>
            </a:endParaRPr>
          </a:p>
          <a:p>
            <a:pPr lvl="1" marL="864000" indent="-321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Also response intuitively to questions</a:t>
            </a:r>
            <a:endParaRPr b="0" lang="en-US" sz="2800" spc="-1" strike="noStrike">
              <a:latin typeface="Arial"/>
            </a:endParaRPr>
          </a:p>
          <a:p>
            <a:pPr lvl="1" marL="864000" indent="-321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Wide ranging knowledge – like talking with universal graduate TA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CustomShape 1"/>
          <p:cNvSpPr/>
          <p:nvPr/>
        </p:nvSpPr>
        <p:spPr>
          <a:xfrm>
            <a:off x="504000" y="226080"/>
            <a:ext cx="9069120" cy="943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LLM Use “How To”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44" name="CustomShape 2"/>
          <p:cNvSpPr/>
          <p:nvPr/>
        </p:nvSpPr>
        <p:spPr>
          <a:xfrm>
            <a:off x="504000" y="1326600"/>
            <a:ext cx="9069120" cy="328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51000"/>
          </a:bodyPr>
          <a:p>
            <a:pPr>
              <a:lnSpc>
                <a:spcPct val="100000"/>
              </a:lnSpc>
              <a:spcBef>
                <a:spcPts val="1417"/>
              </a:spcBef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Prompting is Essential</a:t>
            </a:r>
            <a:endParaRPr b="0" lang="en-US" sz="32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More than a question.  Can include information, like documents, photos, etc.</a:t>
            </a:r>
            <a:endParaRPr b="0" lang="en-US" sz="26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LLM “knows” info from training, sometimes years earlier.  Prompt gives current details.</a:t>
            </a:r>
            <a:endParaRPr b="0" lang="en-US" sz="26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Task examples – “no shot”, “one shot”, …</a:t>
            </a:r>
            <a:endParaRPr b="0" lang="en-US" sz="26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Not just one prompt – entire conversation is “input” for each exchange</a:t>
            </a:r>
            <a:endParaRPr b="0" lang="en-US" sz="2600" spc="-1" strike="noStrike"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Depth of remembered conversation “context window” varies by LLM</a:t>
            </a:r>
            <a:endParaRPr b="0" lang="en-US" sz="2600" spc="-1" strike="noStrike">
              <a:latin typeface="Arial"/>
            </a:endParaRPr>
          </a:p>
          <a:p>
            <a:pPr lvl="1" marL="864000" indent="-3211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10,000 words to 1,000,000</a:t>
            </a:r>
            <a:endParaRPr b="0" lang="en-US" sz="2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134"/>
              </a:spcBef>
            </a:pPr>
            <a:endParaRPr b="0" lang="en-US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CustomShape 1"/>
          <p:cNvSpPr/>
          <p:nvPr/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latin typeface="Arial"/>
              </a:rPr>
              <a:t>LLM “How To” – continued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46" name="CustomShape 2"/>
          <p:cNvSpPr/>
          <p:nvPr/>
        </p:nvSpPr>
        <p:spPr>
          <a:xfrm>
            <a:off x="504000" y="1326600"/>
            <a:ext cx="9071640" cy="35193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68000"/>
          </a:bodyPr>
          <a:p>
            <a:pPr marL="432000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LLM’s “hallucinate”, often very confidently – check critical facts</a:t>
            </a:r>
            <a:endParaRPr b="0" lang="en-US" sz="26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Many LLMs available</a:t>
            </a:r>
            <a:endParaRPr b="0" lang="en-US" sz="22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ChatGPT (OpenAI), Claude (Anthropic), Grok (X), R1 (DeepSeek)</a:t>
            </a:r>
            <a:endParaRPr b="0" lang="en-US" sz="2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Steadily Improving.  You can choose a level of intelligence</a:t>
            </a:r>
            <a:endParaRPr b="0" lang="en-US" sz="2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Usage measured by “tokens”</a:t>
            </a:r>
            <a:endParaRPr b="0" lang="en-US" sz="22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Certain amount free.  More with subscriptions</a:t>
            </a:r>
            <a:endParaRPr b="0" lang="en-US" sz="2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Likely to be in short supply for a few years.  Use efficiently</a:t>
            </a:r>
            <a:endParaRPr b="0" lang="en-US" sz="22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Simpler tools when they are enough</a:t>
            </a:r>
            <a:endParaRPr b="0" lang="en-US" sz="22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200" spc="-1" strike="noStrike">
                <a:solidFill>
                  <a:srgbClr val="000000"/>
                </a:solidFill>
                <a:latin typeface="Arial"/>
                <a:ea typeface="DejaVu Sans"/>
              </a:rPr>
              <a:t>Ask for brief responses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CustomShape 1"/>
          <p:cNvSpPr/>
          <p:nvPr/>
        </p:nvSpPr>
        <p:spPr>
          <a:xfrm>
            <a:off x="503640" y="182520"/>
            <a:ext cx="9063360" cy="938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An LLM Is </a:t>
            </a:r>
            <a:r>
              <a:rPr b="0" i="1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Not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48" name="CustomShape 2"/>
          <p:cNvSpPr/>
          <p:nvPr/>
        </p:nvSpPr>
        <p:spPr>
          <a:xfrm>
            <a:off x="503640" y="1096920"/>
            <a:ext cx="9063360" cy="3509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55000"/>
          </a:bodyPr>
          <a:p>
            <a:pPr marL="432000" indent="-3168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An improved search engine</a:t>
            </a:r>
            <a:endParaRPr b="0" lang="en-US" sz="3200" spc="-1" strike="noStrike">
              <a:latin typeface="Arial"/>
            </a:endParaRPr>
          </a:p>
          <a:p>
            <a:pPr lvl="1" marL="864000" indent="-3168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Is able to web-search when useful, but…</a:t>
            </a:r>
            <a:endParaRPr b="0" lang="en-US" sz="2600" spc="-1" strike="noStrike">
              <a:latin typeface="Arial"/>
            </a:endParaRPr>
          </a:p>
          <a:p>
            <a:pPr lvl="1" marL="864000" indent="-3168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… 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can work unplugged from the internet</a:t>
            </a:r>
            <a:endParaRPr b="0" lang="en-US" sz="2600" spc="-1" strike="noStrike">
              <a:latin typeface="Arial"/>
            </a:endParaRPr>
          </a:p>
          <a:p>
            <a:pPr marL="432000" indent="-3168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Hand-crafted code</a:t>
            </a:r>
            <a:endParaRPr b="0" lang="en-US" sz="3200" spc="-1" strike="noStrike">
              <a:latin typeface="Arial"/>
            </a:endParaRPr>
          </a:p>
          <a:p>
            <a:pPr lvl="1" marL="864000" indent="-3168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No programming specific to the questions/answers</a:t>
            </a:r>
            <a:endParaRPr b="0" lang="en-US" sz="2600" spc="-1" strike="noStrike">
              <a:latin typeface="Arial"/>
            </a:endParaRPr>
          </a:p>
          <a:p>
            <a:pPr lvl="1" marL="864000" indent="-3168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Could be written in one page of code – </a:t>
            </a:r>
            <a:r>
              <a:rPr b="1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12 equations</a:t>
            </a:r>
            <a:endParaRPr b="0" lang="en-US" sz="2600" spc="-1" strike="noStrike">
              <a:latin typeface="Arial"/>
            </a:endParaRPr>
          </a:p>
          <a:p>
            <a:pPr marL="432000" indent="-3168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The whole modern AI story</a:t>
            </a:r>
            <a:endParaRPr b="0" lang="en-US" sz="3200" spc="-1" strike="noStrike">
              <a:latin typeface="Arial"/>
            </a:endParaRPr>
          </a:p>
          <a:p>
            <a:pPr lvl="1" marL="864000" indent="-3168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Important other areas are making major advances too, e.g. “reinforcement learning”, computer vision (will review later)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CustomShape 1"/>
          <p:cNvSpPr/>
          <p:nvPr/>
        </p:nvSpPr>
        <p:spPr>
          <a:xfrm>
            <a:off x="503640" y="225720"/>
            <a:ext cx="9063360" cy="938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An LLM </a:t>
            </a:r>
            <a:r>
              <a:rPr b="0" i="1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Is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50" name="CustomShape 2"/>
          <p:cNvSpPr/>
          <p:nvPr/>
        </p:nvSpPr>
        <p:spPr>
          <a:xfrm>
            <a:off x="503640" y="1326240"/>
            <a:ext cx="9063360" cy="3280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27000"/>
          </a:bodyPr>
          <a:p>
            <a:pPr marL="432000" indent="-3168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A sophisticated mathematical engine</a:t>
            </a:r>
            <a:endParaRPr b="0" lang="en-US" sz="3200" spc="-1" strike="noStrike">
              <a:latin typeface="Arial"/>
            </a:endParaRPr>
          </a:p>
          <a:p>
            <a:pPr lvl="1" marL="864000" indent="-3168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12 equations, but on “matrices” – huge grids of numbers</a:t>
            </a:r>
            <a:endParaRPr b="0" lang="en-US" sz="3200" spc="-1" strike="noStrike">
              <a:latin typeface="Arial"/>
            </a:endParaRPr>
          </a:p>
          <a:p>
            <a:pPr lvl="1" marL="864000" indent="-3168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From 10 billion to over 1 trillion numbers</a:t>
            </a:r>
            <a:endParaRPr b="0" lang="en-US" sz="3200" spc="-1" strike="noStrike">
              <a:latin typeface="Arial"/>
            </a:endParaRPr>
          </a:p>
          <a:p>
            <a:pPr lvl="1" marL="864000" indent="-3168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The “intelligence” is in those numbers (aka weights or parameters)</a:t>
            </a:r>
            <a:endParaRPr b="0" lang="en-US" sz="3200" spc="-1" strike="noStrike">
              <a:latin typeface="Arial"/>
            </a:endParaRPr>
          </a:p>
          <a:p>
            <a:pPr marL="432000" indent="-3168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Self-organizing!</a:t>
            </a:r>
            <a:endParaRPr b="0" lang="en-US" sz="3200" spc="-1" strike="noStrike">
              <a:latin typeface="Arial"/>
            </a:endParaRPr>
          </a:p>
          <a:p>
            <a:pPr lvl="1" marL="864000" indent="-3168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The weights are “trained” by incremental adjustment </a:t>
            </a:r>
            <a:endParaRPr b="0" lang="en-US" sz="3200" spc="-1" strike="noStrike">
              <a:latin typeface="Arial"/>
            </a:endParaRPr>
          </a:p>
          <a:p>
            <a:pPr lvl="4" marL="1080000" indent="-212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First, to match known texts</a:t>
            </a:r>
            <a:endParaRPr b="0" lang="en-US" sz="3200" spc="-1" strike="noStrike">
              <a:latin typeface="Arial"/>
            </a:endParaRPr>
          </a:p>
          <a:p>
            <a:pPr lvl="4" marL="1080000" indent="-2124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Then to adjust to human feedback given by “RLHF”</a:t>
            </a:r>
            <a:endParaRPr b="0" lang="en-US" sz="3200" spc="-1" strike="noStrike">
              <a:latin typeface="Arial"/>
            </a:endParaRPr>
          </a:p>
          <a:p>
            <a:pPr marL="432000" indent="-3168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Humans design the training process and the equations, but not the weights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CustomShape 1"/>
          <p:cNvSpPr/>
          <p:nvPr/>
        </p:nvSpPr>
        <p:spPr>
          <a:xfrm>
            <a:off x="504000" y="226080"/>
            <a:ext cx="9069480" cy="943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Other AI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52" name="CustomShape 2"/>
          <p:cNvSpPr/>
          <p:nvPr/>
        </p:nvSpPr>
        <p:spPr>
          <a:xfrm>
            <a:off x="504000" y="1326600"/>
            <a:ext cx="9069480" cy="328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45000"/>
          </a:bodyPr>
          <a:p>
            <a:pPr marL="432000" indent="-3214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Diffusion Model”</a:t>
            </a:r>
            <a:endParaRPr b="0" lang="en-US" sz="3200" spc="-1" strike="noStrike">
              <a:latin typeface="Arial"/>
            </a:endParaRPr>
          </a:p>
          <a:p>
            <a:pPr lvl="1" marL="864000" indent="-321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Deep Learning and generative, but not LLM</a:t>
            </a:r>
            <a:endParaRPr b="0" lang="en-US" sz="3200" spc="-1" strike="noStrike">
              <a:latin typeface="Arial"/>
            </a:endParaRPr>
          </a:p>
          <a:p>
            <a:pPr lvl="1" marL="864000" indent="-321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Same principles and training, but different design and purposes.</a:t>
            </a:r>
            <a:endParaRPr b="0" lang="en-US" sz="3200" spc="-1" strike="noStrike">
              <a:latin typeface="Arial"/>
            </a:endParaRPr>
          </a:p>
          <a:p>
            <a:pPr lvl="1" marL="864000" indent="-321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Generate photos, short movie clips, music</a:t>
            </a:r>
            <a:endParaRPr b="0" lang="en-US" sz="3200" spc="-1" strike="noStrike">
              <a:latin typeface="Arial"/>
            </a:endParaRPr>
          </a:p>
          <a:p>
            <a:pPr lvl="1" marL="864000" indent="-321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(Term “hallucination” originates with this type of AI)</a:t>
            </a:r>
            <a:endParaRPr b="0" lang="en-US" sz="3200" spc="-1" strike="noStrike">
              <a:latin typeface="Arial"/>
            </a:endParaRPr>
          </a:p>
          <a:p>
            <a:pPr marL="432000" indent="-3214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Can generate audio of text </a:t>
            </a:r>
            <a:r>
              <a:rPr b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in your own voice</a:t>
            </a:r>
            <a:endParaRPr b="0" lang="en-US" sz="3200" spc="-1" strike="noStrike">
              <a:latin typeface="Arial"/>
            </a:endParaRPr>
          </a:p>
          <a:p>
            <a:pPr lvl="1" marL="864000" indent="-3214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Note that this means voices are not representative e.g. on phone calls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CustomShape 1"/>
          <p:cNvSpPr/>
          <p:nvPr/>
        </p:nvSpPr>
        <p:spPr>
          <a:xfrm>
            <a:off x="504000" y="226080"/>
            <a:ext cx="9067680" cy="94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Other AI - cont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54" name="CustomShape 2"/>
          <p:cNvSpPr/>
          <p:nvPr/>
        </p:nvSpPr>
        <p:spPr>
          <a:xfrm>
            <a:off x="504000" y="1326600"/>
            <a:ext cx="9067680" cy="3283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94000"/>
          </a:bodyPr>
          <a:p>
            <a:pPr marL="216000" indent="-214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Computer Vision: face recognition, object tracking</a:t>
            </a:r>
            <a:endParaRPr b="0" lang="en-US" sz="2000" spc="-1" strike="noStrike">
              <a:latin typeface="Arial"/>
            </a:endParaRPr>
          </a:p>
          <a:p>
            <a:pPr marL="216000" indent="-214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Physical” or “Embedded” AI: robots, automated drones</a:t>
            </a:r>
            <a:endParaRPr b="0" lang="en-US" sz="2000" spc="-1" strike="noStrike">
              <a:latin typeface="Arial"/>
            </a:endParaRPr>
          </a:p>
          <a:p>
            <a:pPr marL="216000" indent="-214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Reinforcement Learning (RL)</a:t>
            </a:r>
            <a:endParaRPr b="0" lang="en-US" sz="2000" spc="-1" strike="noStrike">
              <a:latin typeface="Arial"/>
            </a:endParaRPr>
          </a:p>
          <a:p>
            <a:pPr lvl="2" marL="648000" indent="-215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Self-instructing.  Requires automatically generable feedback.</a:t>
            </a:r>
            <a:endParaRPr b="0" lang="en-US" sz="2000" spc="-1" strike="noStrike">
              <a:latin typeface="Arial"/>
            </a:endParaRPr>
          </a:p>
          <a:p>
            <a:pPr lvl="2" marL="648000" indent="-215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Examples: Alpha Go,  code-writing agents, physical AI (via simulation)</a:t>
            </a:r>
            <a:endParaRPr b="0" lang="en-US" sz="2000" spc="-1" strike="noStrike">
              <a:latin typeface="Arial"/>
            </a:endParaRPr>
          </a:p>
          <a:p>
            <a:pPr marL="216000" indent="-214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Graph Neural Networks: </a:t>
            </a:r>
            <a:endParaRPr b="0" lang="en-US" sz="2000" spc="-1" strike="noStrike">
              <a:latin typeface="Arial"/>
            </a:endParaRPr>
          </a:p>
          <a:p>
            <a:pPr lvl="2" marL="648000" indent="-215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Analyze connection patterns, e.g. chemical compounds</a:t>
            </a:r>
            <a:endParaRPr b="0" lang="en-US" sz="2000" spc="-1" strike="noStrike">
              <a:latin typeface="Arial"/>
            </a:endParaRPr>
          </a:p>
          <a:p>
            <a:pPr lvl="2" marL="648000" indent="-215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DejaVu Sans"/>
              </a:rPr>
              <a:t>AlphaFold, which solves protein folding problems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CustomShape 1"/>
          <p:cNvSpPr/>
          <p:nvPr/>
        </p:nvSpPr>
        <p:spPr>
          <a:xfrm>
            <a:off x="504000" y="82080"/>
            <a:ext cx="9064800" cy="939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Word/Idea “Embedding”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556" name="" descr=""/>
          <p:cNvPicPr/>
          <p:nvPr/>
        </p:nvPicPr>
        <p:blipFill>
          <a:blip r:embed="rId1"/>
          <a:stretch/>
        </p:blipFill>
        <p:spPr>
          <a:xfrm>
            <a:off x="91440" y="909000"/>
            <a:ext cx="9870480" cy="2837160"/>
          </a:xfrm>
          <a:prstGeom prst="rect">
            <a:avLst/>
          </a:prstGeom>
          <a:ln>
            <a:noFill/>
          </a:ln>
        </p:spPr>
      </p:pic>
      <p:sp>
        <p:nvSpPr>
          <p:cNvPr id="557" name="CustomShape 2"/>
          <p:cNvSpPr/>
          <p:nvPr/>
        </p:nvSpPr>
        <p:spPr>
          <a:xfrm>
            <a:off x="526320" y="3987360"/>
            <a:ext cx="9066600" cy="1927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Autofit/>
          </a:bodyPr>
          <a:p>
            <a:pPr marL="216000" indent="-21096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This is how an LLM represents words, phrases and ideas</a:t>
            </a:r>
            <a:endParaRPr b="0" lang="en-US" sz="2600" spc="-1" strike="noStrike">
              <a:latin typeface="Arial"/>
            </a:endParaRPr>
          </a:p>
          <a:p>
            <a:pPr marL="216000" indent="-21096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Dimensions represent meaning, and also word position</a:t>
            </a:r>
            <a:endParaRPr b="0" lang="en-US" sz="2600" spc="-1" strike="noStrike">
              <a:latin typeface="Arial"/>
            </a:endParaRPr>
          </a:p>
          <a:p>
            <a:pPr marL="216000" indent="-21096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DejaVu Sans"/>
              </a:rPr>
              <a:t>But, with 12,800 numbers per word – many conceptual dimensions</a:t>
            </a:r>
            <a:endParaRPr b="0" lang="en-US" sz="2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CustomShape 1"/>
          <p:cNvSpPr/>
          <p:nvPr/>
        </p:nvSpPr>
        <p:spPr>
          <a:xfrm>
            <a:off x="504000" y="226080"/>
            <a:ext cx="9064800" cy="939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How An LLM “Thinks”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59" name="CustomShape 2"/>
          <p:cNvSpPr/>
          <p:nvPr/>
        </p:nvSpPr>
        <p:spPr>
          <a:xfrm>
            <a:off x="504000" y="1326600"/>
            <a:ext cx="9064800" cy="3281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57000"/>
          </a:bodyPr>
          <a:p>
            <a:pPr marL="432000" indent="-3171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Starts with word embeddings representing words in your prompt and the current conversation.</a:t>
            </a:r>
            <a:endParaRPr b="0" lang="en-US" sz="3200" spc="-1" strike="noStrike">
              <a:latin typeface="Arial"/>
            </a:endParaRPr>
          </a:p>
          <a:p>
            <a:pPr marL="432000" indent="-3171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Combines words via “attention blocks” into higher embeddings representing phrases, then sentences, etc.</a:t>
            </a:r>
            <a:endParaRPr b="0" lang="en-US" sz="3200" spc="-1" strike="noStrike">
              <a:latin typeface="Arial"/>
            </a:endParaRPr>
          </a:p>
          <a:p>
            <a:pPr marL="432000" indent="-3171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Predicts next “thought” as an embedding and chooses closest next word.</a:t>
            </a:r>
            <a:endParaRPr b="0" lang="en-US" sz="3200" spc="-1" strike="noStrike">
              <a:latin typeface="Arial"/>
            </a:endParaRPr>
          </a:p>
          <a:p>
            <a:pPr marL="432000" indent="-3171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Repeat, word by word...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CustomShape 1"/>
          <p:cNvSpPr/>
          <p:nvPr/>
        </p:nvSpPr>
        <p:spPr>
          <a:xfrm>
            <a:off x="504000" y="226080"/>
            <a:ext cx="9064800" cy="939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The Weights </a:t>
            </a:r>
            <a:r>
              <a:rPr b="0" i="1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are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 the “Intelligence”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61" name="CustomShape 2"/>
          <p:cNvSpPr/>
          <p:nvPr/>
        </p:nvSpPr>
        <p:spPr>
          <a:xfrm>
            <a:off x="504000" y="1326600"/>
            <a:ext cx="9064800" cy="3281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97000"/>
          </a:bodyPr>
          <a:p>
            <a:pPr marL="432000" indent="-3171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All “reasoning” is by word/concept embeddings.</a:t>
            </a:r>
            <a:endParaRPr b="0" lang="en-US" sz="2800" spc="-1" strike="noStrike">
              <a:latin typeface="Arial"/>
            </a:endParaRPr>
          </a:p>
          <a:p>
            <a:pPr marL="432000" indent="-3171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And we (mostly) </a:t>
            </a:r>
            <a:r>
              <a:rPr b="0" i="1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don’t know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 what each weight does.   </a:t>
            </a:r>
            <a:endParaRPr b="0" lang="en-US" sz="2800" spc="-1" strike="noStrike">
              <a:latin typeface="Arial"/>
            </a:endParaRPr>
          </a:p>
          <a:p>
            <a:pPr marL="432000" indent="-3171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Could learn to converse in a language none of its programmers understand.</a:t>
            </a:r>
            <a:endParaRPr b="0" lang="en-US" sz="2800" spc="-1" strike="noStrike">
              <a:latin typeface="Arial"/>
            </a:endParaRPr>
          </a:p>
          <a:p>
            <a:pPr marL="432000" indent="-3171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Are world-models, theory of mind, etc. spontaneously emerging from the training?  Latest research clearly says “yes”. 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CustomShape 1"/>
          <p:cNvSpPr/>
          <p:nvPr/>
        </p:nvSpPr>
        <p:spPr>
          <a:xfrm>
            <a:off x="504000" y="226080"/>
            <a:ext cx="9064800" cy="939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Is an LLM Intelligent?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63" name="CustomShape 2"/>
          <p:cNvSpPr/>
          <p:nvPr/>
        </p:nvSpPr>
        <p:spPr>
          <a:xfrm>
            <a:off x="457200" y="1254600"/>
            <a:ext cx="9064800" cy="4042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43000"/>
          </a:bodyPr>
          <a:p>
            <a:pPr marL="432000" indent="-3171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Yes” arguments</a:t>
            </a:r>
            <a:endParaRPr b="0" lang="en-US" sz="3200" spc="-1" strike="noStrike">
              <a:latin typeface="Arial"/>
            </a:endParaRPr>
          </a:p>
          <a:p>
            <a:pPr lvl="1" marL="864000" indent="-3171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Vast possibilities in 1 trillion weights.  Printed out they’d be 4 million large books.</a:t>
            </a:r>
            <a:endParaRPr b="0" lang="en-US" sz="2800" spc="-1" strike="noStrike">
              <a:latin typeface="Arial"/>
            </a:endParaRPr>
          </a:p>
          <a:p>
            <a:pPr lvl="1" marL="864000" indent="-3171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Research in “mechanistic interpretability” shows conceptual models spontaneously arise from training</a:t>
            </a:r>
            <a:endParaRPr b="0" lang="en-US" sz="2800" spc="-1" strike="noStrike">
              <a:latin typeface="Arial"/>
            </a:endParaRPr>
          </a:p>
          <a:p>
            <a:pPr lvl="1" marL="864000" indent="-3171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(But, we still know only some of what those weights are doing, and “intelligent” doesn’t necessarily mean “conscious”)</a:t>
            </a:r>
            <a:endParaRPr b="0" lang="en-US" sz="2800" spc="-1" strike="noStrike">
              <a:latin typeface="Arial"/>
            </a:endParaRPr>
          </a:p>
          <a:p>
            <a:pPr marL="432000" indent="-3171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Microsoft YaHei"/>
              </a:rPr>
              <a:t>“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Microsoft YaHei"/>
              </a:rPr>
              <a:t>No” arguments</a:t>
            </a:r>
            <a:endParaRPr b="0" lang="en-US" sz="3200" spc="-1" strike="noStrike">
              <a:latin typeface="Arial"/>
            </a:endParaRPr>
          </a:p>
          <a:p>
            <a:pPr lvl="1" marL="864000" indent="-3171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Just mindless numbers and 12 equations</a:t>
            </a:r>
            <a:endParaRPr b="0" lang="en-US" sz="2600" spc="-1" strike="noStrike">
              <a:latin typeface="Arial"/>
            </a:endParaRPr>
          </a:p>
          <a:p>
            <a:pPr lvl="1" marL="864000" indent="-3171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Just predicting the next word.</a:t>
            </a:r>
            <a:endParaRPr b="0" lang="en-US" sz="2600" spc="-1" strike="noStrike">
              <a:latin typeface="Arial"/>
            </a:endParaRPr>
          </a:p>
          <a:p>
            <a:pPr lvl="1" marL="864000" indent="-3171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(But, it’s improving 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fast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, a human brain is just “mindless” neurons and synapses, and </a:t>
            </a:r>
            <a:r>
              <a:rPr b="0" i="1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how</a:t>
            </a:r>
            <a:r>
              <a:rPr b="0" lang="en-US" sz="2600" spc="-1" strike="noStrike">
                <a:solidFill>
                  <a:srgbClr val="000000"/>
                </a:solidFill>
                <a:latin typeface="Arial"/>
                <a:ea typeface="Microsoft YaHei"/>
              </a:rPr>
              <a:t> is it picking that next word so intelligently?)</a:t>
            </a:r>
            <a:endParaRPr b="0" lang="en-US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CustomShape 1"/>
          <p:cNvSpPr/>
          <p:nvPr/>
        </p:nvSpPr>
        <p:spPr>
          <a:xfrm>
            <a:off x="504000" y="226080"/>
            <a:ext cx="9071640" cy="94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AI Events and People 1950s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65" name="CustomShape 2"/>
          <p:cNvSpPr/>
          <p:nvPr/>
        </p:nvSpPr>
        <p:spPr>
          <a:xfrm>
            <a:off x="504000" y="1326600"/>
            <a:ext cx="5622120" cy="328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33000"/>
          </a:bodyPr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(1912-1954) Alan Turing </a:t>
            </a:r>
            <a:endParaRPr b="0" lang="en-US" sz="32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Theoretical father of CS.  “Turing Test”</a:t>
            </a:r>
            <a:endParaRPr b="0" lang="en-US" sz="28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Early thoughts on “connectionist” AI – forerunner to neural nets/deep learning</a:t>
            </a:r>
            <a:endParaRPr b="0" lang="en-US" sz="28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(1956) “Dartmouth conference” </a:t>
            </a:r>
            <a:endParaRPr b="0" lang="en-US" sz="32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John McCarthy coins “Artificial Intelligence”</a:t>
            </a:r>
            <a:endParaRPr b="0" lang="en-US" sz="28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Microsoft YaHei"/>
              </a:rPr>
              <a:t>(1956) Logic Theorist</a:t>
            </a:r>
            <a:endParaRPr b="0" lang="en-US" sz="3200" spc="-1" strike="noStrike">
              <a:latin typeface="Arial"/>
            </a:endParaRPr>
          </a:p>
          <a:p>
            <a:pPr lvl="1" marL="864000" indent="-3232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Microsoft YaHei"/>
              </a:rPr>
              <a:t>First good “theorem prover” – symbolic AI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566" name="" descr=""/>
          <p:cNvPicPr/>
          <p:nvPr/>
        </p:nvPicPr>
        <p:blipFill>
          <a:blip r:embed="rId1"/>
          <a:stretch/>
        </p:blipFill>
        <p:spPr>
          <a:xfrm>
            <a:off x="6401160" y="1172520"/>
            <a:ext cx="2193840" cy="2194200"/>
          </a:xfrm>
          <a:prstGeom prst="rect">
            <a:avLst/>
          </a:prstGeom>
          <a:ln>
            <a:noFill/>
          </a:ln>
        </p:spPr>
      </p:pic>
      <p:pic>
        <p:nvPicPr>
          <p:cNvPr id="567" name="" descr=""/>
          <p:cNvPicPr/>
          <p:nvPr/>
        </p:nvPicPr>
        <p:blipFill>
          <a:blip r:embed="rId2"/>
          <a:stretch/>
        </p:blipFill>
        <p:spPr>
          <a:xfrm>
            <a:off x="7049160" y="3475080"/>
            <a:ext cx="2552040" cy="18770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CustomShape 1"/>
          <p:cNvSpPr/>
          <p:nvPr/>
        </p:nvSpPr>
        <p:spPr>
          <a:xfrm>
            <a:off x="504000" y="226080"/>
            <a:ext cx="9067680" cy="94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AI History 1960s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69" name="CustomShape 2"/>
          <p:cNvSpPr/>
          <p:nvPr/>
        </p:nvSpPr>
        <p:spPr>
          <a:xfrm>
            <a:off x="504000" y="1343520"/>
            <a:ext cx="5801040" cy="3283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17000"/>
          </a:bodyPr>
          <a:p>
            <a:pPr>
              <a:lnSpc>
                <a:spcPct val="100000"/>
              </a:lnSpc>
              <a:spcBef>
                <a:spcPts val="1417"/>
              </a:spcBef>
            </a:pPr>
            <a:endParaRPr b="0" lang="en-US" sz="1800" spc="-1" strike="noStrike">
              <a:latin typeface="Arial"/>
            </a:endParaRPr>
          </a:p>
          <a:p>
            <a:pPr marL="432000" indent="-3193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DejaVu Sans"/>
              </a:rPr>
              <a:t>(1965) ELIZA basic “chatbot” in 200 lines of code</a:t>
            </a:r>
            <a:endParaRPr b="0" lang="en-US" sz="3600" spc="-1" strike="noStrike">
              <a:latin typeface="Arial"/>
            </a:endParaRPr>
          </a:p>
          <a:p>
            <a:pPr marL="432000" indent="-3193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DejaVu Sans"/>
              </a:rPr>
              <a:t>(1960s) Hopfield, Minsky and others do early work in </a:t>
            </a:r>
            <a:r>
              <a:rPr b="1" lang="en-US" sz="3600" spc="-1" strike="noStrike">
                <a:solidFill>
                  <a:srgbClr val="000000"/>
                </a:solidFill>
                <a:latin typeface="Arial"/>
                <a:ea typeface="DejaVu Sans"/>
              </a:rPr>
              <a:t>“neural networks”</a:t>
            </a:r>
            <a:endParaRPr b="0" lang="en-US" sz="3600" spc="-1" strike="noStrike">
              <a:latin typeface="Arial"/>
            </a:endParaRPr>
          </a:p>
          <a:p>
            <a:pPr marL="432000" indent="-3193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DejaVu Sans"/>
              </a:rPr>
              <a:t>(1967) Minsky: “Within a generation … the problem of creating artificial intelligence will substantially be solved.”</a:t>
            </a:r>
            <a:endParaRPr b="0" lang="en-US" sz="3600" spc="-1" strike="noStrike">
              <a:latin typeface="Arial"/>
            </a:endParaRPr>
          </a:p>
          <a:p>
            <a:pPr marL="432000" indent="-3193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DejaVu Sans"/>
              </a:rPr>
              <a:t>(1969) Minsky and Papert publish “Perceptrons”</a:t>
            </a:r>
            <a:endParaRPr b="0" lang="en-US" sz="3600" spc="-1" strike="noStrike">
              <a:latin typeface="Arial"/>
            </a:endParaRPr>
          </a:p>
          <a:p>
            <a:pPr lvl="1" marL="864000" indent="-3193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DejaVu Sans"/>
              </a:rPr>
              <a:t>Proves one-layer (all they knew how to train) neural networks very limited and triggers first </a:t>
            </a:r>
            <a:r>
              <a:rPr b="1" lang="en-US" sz="3600" spc="-1" strike="noStrike">
                <a:solidFill>
                  <a:srgbClr val="000000"/>
                </a:solidFill>
                <a:latin typeface="Arial"/>
                <a:ea typeface="DejaVu Sans"/>
              </a:rPr>
              <a:t>“AI winter”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570" name="" descr=""/>
          <p:cNvPicPr/>
          <p:nvPr/>
        </p:nvPicPr>
        <p:blipFill>
          <a:blip r:embed="rId1"/>
          <a:stretch/>
        </p:blipFill>
        <p:spPr>
          <a:xfrm>
            <a:off x="6675480" y="1463040"/>
            <a:ext cx="2790360" cy="19872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CustomShape 1"/>
          <p:cNvSpPr/>
          <p:nvPr/>
        </p:nvSpPr>
        <p:spPr>
          <a:xfrm>
            <a:off x="504000" y="226080"/>
            <a:ext cx="9071640" cy="94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First AI Winter 1970-1985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72" name="CustomShape 2"/>
          <p:cNvSpPr/>
          <p:nvPr/>
        </p:nvSpPr>
        <p:spPr>
          <a:xfrm>
            <a:off x="504000" y="731520"/>
            <a:ext cx="5987880" cy="3882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35000"/>
          </a:bodyPr>
          <a:p>
            <a:pPr>
              <a:lnSpc>
                <a:spcPct val="100000"/>
              </a:lnSpc>
              <a:spcBef>
                <a:spcPts val="1417"/>
              </a:spcBef>
            </a:pPr>
            <a:endParaRPr b="0" lang="en-US" sz="18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(1970) S Linnainmaa quietly publishes “backpropagation” algorithm,</a:t>
            </a:r>
            <a:endParaRPr b="0" lang="en-US" sz="32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(1974) P Werbos does the same.  No one notices.</a:t>
            </a:r>
            <a:endParaRPr b="0" lang="en-US" sz="32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Gradual development of symbol/logic based AI</a:t>
            </a:r>
            <a:endParaRPr b="0" lang="en-US" sz="32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(1982) Japan announces “5</a:t>
            </a:r>
            <a:r>
              <a:rPr b="0" lang="en-US" sz="3200" spc="-1" strike="noStrike" baseline="14000000">
                <a:solidFill>
                  <a:srgbClr val="000000"/>
                </a:solidFill>
                <a:latin typeface="Arial"/>
                <a:ea typeface="DejaVu Sans"/>
              </a:rPr>
              <a:t>th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 generation computing” project – hardware devoted to expert systems or symbolic reasoning</a:t>
            </a:r>
            <a:endParaRPr b="0" lang="en-US" sz="32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Various </a:t>
            </a:r>
            <a:r>
              <a:rPr b="0" i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limited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 successes with expert systems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573" name="" descr=""/>
          <p:cNvPicPr/>
          <p:nvPr/>
        </p:nvPicPr>
        <p:blipFill>
          <a:blip r:embed="rId1"/>
          <a:stretch/>
        </p:blipFill>
        <p:spPr>
          <a:xfrm>
            <a:off x="6281640" y="1751040"/>
            <a:ext cx="3868200" cy="30949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CustomShape 1"/>
          <p:cNvSpPr/>
          <p:nvPr/>
        </p:nvSpPr>
        <p:spPr>
          <a:xfrm>
            <a:off x="504000" y="226080"/>
            <a:ext cx="9067680" cy="94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AI History 1986- early1990s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75" name="CustomShape 2"/>
          <p:cNvSpPr/>
          <p:nvPr/>
        </p:nvSpPr>
        <p:spPr>
          <a:xfrm>
            <a:off x="504000" y="1326600"/>
            <a:ext cx="9067680" cy="3283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63000"/>
          </a:bodyPr>
          <a:p>
            <a:pPr marL="432000" indent="-3193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(1986) Backpropagation algorithm (re)discovered. </a:t>
            </a:r>
            <a:endParaRPr b="0" lang="en-US" sz="3200" spc="-1" strike="noStrike">
              <a:latin typeface="Arial"/>
            </a:endParaRPr>
          </a:p>
          <a:p>
            <a:pPr lvl="1" marL="864000" indent="-3193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Neural nets are back.</a:t>
            </a:r>
            <a:endParaRPr b="0" lang="en-US" sz="2800" spc="-1" strike="noStrike">
              <a:latin typeface="Arial"/>
            </a:endParaRPr>
          </a:p>
          <a:p>
            <a:pPr lvl="1" marL="864000" indent="-3193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But training networks &gt; 3 layers proves very hard.  (Modern deep learning uses hundreds.)</a:t>
            </a:r>
            <a:endParaRPr b="0" lang="en-US" sz="2800" spc="-1" strike="noStrike">
              <a:latin typeface="Arial"/>
            </a:endParaRPr>
          </a:p>
          <a:p>
            <a:pPr lvl="1" marL="864000" indent="-3193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Advances inhibited by persistent effort to imitate neurons, which don’t train by backpropagation.</a:t>
            </a:r>
            <a:endParaRPr b="0" lang="en-US" sz="2800" spc="-1" strike="noStrike">
              <a:latin typeface="Arial"/>
            </a:endParaRPr>
          </a:p>
          <a:p>
            <a:pPr marL="432000" indent="-3193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After brief burst of progress, a </a:t>
            </a:r>
            <a:r>
              <a:rPr b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second “AI Winter”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CustomShape 1"/>
          <p:cNvSpPr/>
          <p:nvPr/>
        </p:nvSpPr>
        <p:spPr>
          <a:xfrm>
            <a:off x="504000" y="226080"/>
            <a:ext cx="9071640" cy="94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Second AI Winter 1990-2012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77" name="CustomShape 2"/>
          <p:cNvSpPr/>
          <p:nvPr/>
        </p:nvSpPr>
        <p:spPr>
          <a:xfrm>
            <a:off x="457200" y="1326600"/>
            <a:ext cx="9071640" cy="3287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57000"/>
          </a:bodyPr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Expert systems and symbolic AI prove too limited/fragile</a:t>
            </a:r>
            <a:endParaRPr b="0" lang="en-US" sz="32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Gradual improvements in neural networks, by Geoff Hinton, Ilya Sutskever, Yan LeCunn, Yoshua Bengio and many others.</a:t>
            </a:r>
            <a:endParaRPr b="0" lang="en-US" sz="32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Other machine-learning methods, e.g. SVMs, explored.</a:t>
            </a:r>
            <a:endParaRPr b="0" lang="en-US" sz="3200" spc="-1" strike="noStrike">
              <a:latin typeface="Arial"/>
            </a:endParaRPr>
          </a:p>
          <a:p>
            <a:pPr marL="432000" indent="-3232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Various limited neural net successes e.g. character recognition for written digits.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CustomShape 1"/>
          <p:cNvSpPr/>
          <p:nvPr/>
        </p:nvSpPr>
        <p:spPr>
          <a:xfrm>
            <a:off x="504000" y="226080"/>
            <a:ext cx="9067680" cy="94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AI History 2012-2024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79" name="CustomShape 2"/>
          <p:cNvSpPr/>
          <p:nvPr/>
        </p:nvSpPr>
        <p:spPr>
          <a:xfrm>
            <a:off x="504000" y="1326600"/>
            <a:ext cx="9067680" cy="3283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14000"/>
          </a:bodyPr>
          <a:p>
            <a:pPr marL="216000" indent="-214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Four important advances lay ground for new neural network growth</a:t>
            </a:r>
            <a:endParaRPr b="0" lang="en-US" sz="4400" spc="-1" strike="noStrike">
              <a:latin typeface="Arial"/>
            </a:endParaRPr>
          </a:p>
          <a:p>
            <a:pPr lvl="1" marL="432000" indent="-214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OpenSymbol"/>
              <a:buChar char="‒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more available training data via internet</a:t>
            </a:r>
            <a:endParaRPr b="0" lang="en-US" sz="4400" spc="-1" strike="noStrike">
              <a:latin typeface="Arial"/>
            </a:endParaRPr>
          </a:p>
          <a:p>
            <a:pPr lvl="1" marL="432000" indent="-214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OpenSymbol"/>
              <a:buChar char="‒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computing power via GPUs (video games fund the AI revolution :))</a:t>
            </a:r>
            <a:endParaRPr b="0" lang="en-US" sz="4400" spc="-1" strike="noStrike">
              <a:latin typeface="Arial"/>
            </a:endParaRPr>
          </a:p>
          <a:p>
            <a:pPr lvl="1" marL="432000" indent="-214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OpenSymbol"/>
              <a:buChar char="‒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better neural network design:  stop imitating neurons</a:t>
            </a:r>
            <a:endParaRPr b="0" lang="en-US" sz="4400" spc="-1" strike="noStrike">
              <a:latin typeface="Arial"/>
            </a:endParaRPr>
          </a:p>
          <a:p>
            <a:pPr lvl="1" marL="432000" indent="-21456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OpenSymbol"/>
              <a:buChar char="‒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vibrant and very intensive research community</a:t>
            </a:r>
            <a:endParaRPr b="0" lang="en-US" sz="4400" spc="-1" strike="noStrike">
              <a:latin typeface="Arial"/>
            </a:endParaRPr>
          </a:p>
          <a:p>
            <a:pPr marL="216000" indent="-214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(2012) Surprise success of neural networks in image recognition</a:t>
            </a:r>
            <a:endParaRPr b="0" lang="en-US" sz="4400" spc="-1" strike="noStrike">
              <a:latin typeface="Arial"/>
            </a:endParaRPr>
          </a:p>
          <a:p>
            <a:pPr marL="216000" indent="-214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(2017) “Attention is all you Need” paper describes Transformers</a:t>
            </a:r>
            <a:endParaRPr b="0" lang="en-US" sz="4400" spc="-1" strike="noStrike">
              <a:latin typeface="Arial"/>
            </a:endParaRPr>
          </a:p>
          <a:p>
            <a:pPr marL="216000" indent="-2145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(2020-2023) Steady LLM improvement arrives at GPT-4</a:t>
            </a:r>
            <a:endParaRPr b="0" lang="en-US" sz="4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CustomShape 1"/>
          <p:cNvSpPr/>
          <p:nvPr/>
        </p:nvSpPr>
        <p:spPr>
          <a:xfrm>
            <a:off x="504000" y="226080"/>
            <a:ext cx="9068040" cy="94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  <a:ea typeface="DejaVu Sans"/>
              </a:rPr>
              <a:t>AI History – Taking Stock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581" name="CustomShape 2"/>
          <p:cNvSpPr/>
          <p:nvPr/>
        </p:nvSpPr>
        <p:spPr>
          <a:xfrm>
            <a:off x="1097280" y="1097280"/>
            <a:ext cx="9068040" cy="3284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76000"/>
          </a:bodyPr>
          <a:p>
            <a:pPr marL="432000" indent="-3196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Early investigation of major ideas</a:t>
            </a:r>
            <a:endParaRPr b="0" lang="en-US" sz="3200" spc="-1" strike="noStrike">
              <a:latin typeface="Arial"/>
            </a:endParaRPr>
          </a:p>
          <a:p>
            <a:pPr lvl="1" marL="864000" indent="-3196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Neural networks and symbol systems since 1950s</a:t>
            </a:r>
            <a:endParaRPr b="0" lang="en-US" sz="2800" spc="-1" strike="noStrike">
              <a:latin typeface="Arial"/>
            </a:endParaRPr>
          </a:p>
          <a:p>
            <a:pPr marL="432000" indent="-3196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Alternating optimism and AI winters</a:t>
            </a:r>
            <a:endParaRPr b="0" lang="en-US" sz="3200" spc="-1" strike="noStrike">
              <a:latin typeface="Arial"/>
            </a:endParaRPr>
          </a:p>
          <a:p>
            <a:pPr marL="432000" indent="-3196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Neural networks and ML beat symbolic logic</a:t>
            </a:r>
            <a:endParaRPr b="0" lang="en-US" sz="3200" spc="-1" strike="noStrike">
              <a:latin typeface="Arial"/>
            </a:endParaRPr>
          </a:p>
          <a:p>
            <a:pPr lvl="1" marL="864000" indent="-3196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The “bitter lesson” – can’t program AI directly</a:t>
            </a:r>
            <a:endParaRPr b="0" lang="en-US" sz="2800" spc="-1" strike="noStrike">
              <a:latin typeface="Arial"/>
            </a:endParaRPr>
          </a:p>
          <a:p>
            <a:pPr marL="432000" indent="-3196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Focus on imitating nature (neurons) was a distraction</a:t>
            </a:r>
            <a:endParaRPr b="0" lang="en-US" sz="2800" spc="-1" strike="noStrike">
              <a:latin typeface="Arial"/>
            </a:endParaRPr>
          </a:p>
          <a:p>
            <a:pPr marL="432000" indent="-3196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Needed confluence of factors – the “adjacent possible”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CustomShape 1"/>
          <p:cNvSpPr/>
          <p:nvPr/>
        </p:nvSpPr>
        <p:spPr>
          <a:xfrm>
            <a:off x="504000" y="226080"/>
            <a:ext cx="9067320" cy="94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2024 AI Events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83" name="CustomShape 2"/>
          <p:cNvSpPr/>
          <p:nvPr/>
        </p:nvSpPr>
        <p:spPr>
          <a:xfrm>
            <a:off x="504000" y="1326600"/>
            <a:ext cx="9067320" cy="3283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34000"/>
          </a:bodyPr>
          <a:p>
            <a:pPr marL="432000" indent="-3193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Nobel Prizes 2024</a:t>
            </a:r>
            <a:endParaRPr b="0" lang="en-US" sz="4000" spc="-1" strike="noStrike">
              <a:latin typeface="Arial"/>
            </a:endParaRPr>
          </a:p>
          <a:p>
            <a:pPr lvl="1" marL="864000" indent="-3193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Physics to John Hopfield and Geoffrey Hinton</a:t>
            </a:r>
            <a:endParaRPr b="0" lang="en-US" sz="4000" spc="-1" strike="noStrike">
              <a:latin typeface="Arial"/>
            </a:endParaRPr>
          </a:p>
          <a:p>
            <a:pPr lvl="1" marL="864000" indent="-3193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Chemistry to the developers of Alpha Fold</a:t>
            </a:r>
            <a:endParaRPr b="0" lang="en-US" sz="4000" spc="-1" strike="noStrike">
              <a:latin typeface="Arial"/>
            </a:endParaRPr>
          </a:p>
          <a:p>
            <a:pPr marL="432000" indent="-3193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Improved LLM Architectures</a:t>
            </a:r>
            <a:endParaRPr b="0" lang="en-US" sz="4000" spc="-1" strike="noStrike">
              <a:latin typeface="Arial"/>
            </a:endParaRPr>
          </a:p>
          <a:p>
            <a:pPr lvl="1" marL="864000" indent="-3193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MoE – “Mixture of Experts”</a:t>
            </a:r>
            <a:endParaRPr b="0" lang="en-US" sz="4000" spc="-1" strike="noStrike">
              <a:latin typeface="Arial"/>
            </a:endParaRPr>
          </a:p>
          <a:p>
            <a:pPr lvl="1" marL="864000" indent="-3193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CoT – “Chain of Thought” – LLMs that reason</a:t>
            </a:r>
            <a:endParaRPr b="0" lang="en-US" sz="4000" spc="-1" strike="noStrike">
              <a:latin typeface="Arial"/>
            </a:endParaRPr>
          </a:p>
          <a:p>
            <a:pPr marL="432000" indent="-3193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Early Coding Tools, e.g. Cursor</a:t>
            </a:r>
            <a:endParaRPr b="0" lang="en-US" sz="4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CustomShape 1"/>
          <p:cNvSpPr/>
          <p:nvPr/>
        </p:nvSpPr>
        <p:spPr>
          <a:xfrm>
            <a:off x="504000" y="226080"/>
            <a:ext cx="9067320" cy="94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2025 Events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85" name="CustomShape 2"/>
          <p:cNvSpPr/>
          <p:nvPr/>
        </p:nvSpPr>
        <p:spPr>
          <a:xfrm>
            <a:off x="504000" y="1326600"/>
            <a:ext cx="9067320" cy="3283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25000"/>
          </a:bodyPr>
          <a:p>
            <a:pPr marL="432000" indent="-3193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Huge buildout of data centers</a:t>
            </a:r>
            <a:endParaRPr b="0" lang="en-US" sz="4000" spc="-1" strike="noStrike">
              <a:latin typeface="Arial"/>
            </a:endParaRPr>
          </a:p>
          <a:p>
            <a:pPr lvl="3" marL="864000" indent="-215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Electrical and (sometimes) water concerns</a:t>
            </a:r>
            <a:endParaRPr b="0" lang="en-US" sz="4000" spc="-1" strike="noStrike">
              <a:latin typeface="Arial"/>
            </a:endParaRPr>
          </a:p>
          <a:p>
            <a:pPr lvl="3" marL="864000" indent="-215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Shortage of computer memory</a:t>
            </a:r>
            <a:endParaRPr b="0" lang="en-US" sz="4000" spc="-1" strike="noStrike">
              <a:latin typeface="Arial"/>
            </a:endParaRPr>
          </a:p>
          <a:p>
            <a:pPr marL="432000" indent="-3193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But, ongoing efficiency advances</a:t>
            </a:r>
            <a:endParaRPr b="0" lang="en-US" sz="4000" spc="-1" strike="noStrike">
              <a:latin typeface="Arial"/>
            </a:endParaRPr>
          </a:p>
          <a:p>
            <a:pPr lvl="3" marL="864000" indent="-215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E.g. Distillation, “Turboquant”</a:t>
            </a:r>
            <a:endParaRPr b="0" lang="en-US" sz="4000" spc="-1" strike="noStrike">
              <a:latin typeface="Arial"/>
            </a:endParaRPr>
          </a:p>
          <a:p>
            <a:pPr marL="432000" indent="-3193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Mid-year talk of a plateau in LLM progress...</a:t>
            </a:r>
            <a:endParaRPr b="0" lang="en-US" sz="4000" spc="-1" strike="noStrike">
              <a:latin typeface="Arial"/>
            </a:endParaRPr>
          </a:p>
          <a:p>
            <a:pPr marL="432000" indent="-3193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But by year end, models, especially Anthropic, advancing</a:t>
            </a:r>
            <a:endParaRPr b="0" lang="en-US" sz="4000" spc="-1" strike="noStrike">
              <a:latin typeface="Arial"/>
            </a:endParaRPr>
          </a:p>
          <a:p>
            <a:pPr lvl="1" marL="864000" indent="-3193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 </a:t>
            </a:r>
            <a:r>
              <a:rPr b="0" lang="en-US" sz="4000" spc="-1" strike="noStrike">
                <a:solidFill>
                  <a:srgbClr val="000000"/>
                </a:solidFill>
                <a:latin typeface="Arial"/>
                <a:ea typeface="DejaVu Sans"/>
              </a:rPr>
              <a:t>Claude Code revolutionizes software dev (!)</a:t>
            </a:r>
            <a:endParaRPr b="0" lang="en-US" sz="4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CustomShape 1"/>
          <p:cNvSpPr/>
          <p:nvPr/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latin typeface="Arial"/>
              </a:rPr>
              <a:t>2026 Events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87" name="CustomShape 2"/>
          <p:cNvSpPr/>
          <p:nvPr/>
        </p:nvSpPr>
        <p:spPr>
          <a:xfrm>
            <a:off x="457200" y="1283400"/>
            <a:ext cx="9071640" cy="328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AI Agents</a:t>
            </a:r>
            <a:endParaRPr b="0" lang="en-US" sz="32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latin typeface="Arial"/>
              </a:rPr>
              <a:t>LLM that does computer/online tasks for you</a:t>
            </a:r>
            <a:endParaRPr b="0" lang="en-US" sz="28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Ongoing relentless improvement of LLMs</a:t>
            </a:r>
            <a:endParaRPr b="0" lang="en-US" sz="32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Anthropic Mythos release</a:t>
            </a:r>
            <a:endParaRPr b="0" lang="en-US" sz="32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latin typeface="Arial"/>
              </a:rPr>
              <a:t>So serious a cyber security threat that it’s being withheld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CustomShape 1"/>
          <p:cNvSpPr/>
          <p:nvPr/>
        </p:nvSpPr>
        <p:spPr>
          <a:xfrm>
            <a:off x="504000" y="226080"/>
            <a:ext cx="9067320" cy="94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AI Events: late 2026-&gt; (?)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89" name="CustomShape 2"/>
          <p:cNvSpPr/>
          <p:nvPr/>
        </p:nvSpPr>
        <p:spPr>
          <a:xfrm>
            <a:off x="504000" y="1326600"/>
            <a:ext cx="9067320" cy="3283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34000"/>
          </a:bodyPr>
          <a:p>
            <a:pPr marL="432000" indent="-3193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Ongoing automation of white collar work</a:t>
            </a:r>
            <a:endParaRPr b="0" lang="en-US" sz="3200" spc="-1" strike="noStrike">
              <a:latin typeface="Arial"/>
            </a:endParaRPr>
          </a:p>
          <a:p>
            <a:pPr lvl="1" marL="864000" indent="-3193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Writing, coding, art, music, law, healthcare, customer service, language translation, entertainment, etc.</a:t>
            </a:r>
            <a:endParaRPr b="0" lang="en-US" sz="2800" spc="-1" strike="noStrike">
              <a:latin typeface="Arial"/>
            </a:endParaRPr>
          </a:p>
          <a:p>
            <a:pPr lvl="1" marL="864000" indent="-3193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Claude Code is like a competent, knowledgeable, very fast junior engineer.</a:t>
            </a:r>
            <a:endParaRPr b="0" lang="en-US" sz="2800" spc="-1" strike="noStrike">
              <a:latin typeface="Arial"/>
            </a:endParaRPr>
          </a:p>
          <a:p>
            <a:pPr lvl="1" marL="864000" indent="-3193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May increase productivity of experienced professionals by 5x,</a:t>
            </a:r>
            <a:endParaRPr b="0" lang="en-US" sz="2800" spc="-1" strike="noStrike">
              <a:latin typeface="Arial"/>
            </a:endParaRPr>
          </a:p>
          <a:p>
            <a:pPr marL="432000" indent="-3193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Physical AI</a:t>
            </a:r>
            <a:endParaRPr b="0" lang="en-US" sz="3200" spc="-1" strike="noStrike">
              <a:latin typeface="Arial"/>
            </a:endParaRPr>
          </a:p>
          <a:p>
            <a:pPr lvl="1" marL="864000" indent="-3193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AI with vision, movement, hearing</a:t>
            </a:r>
            <a:endParaRPr b="0" lang="en-US" sz="2800" spc="-1" strike="noStrike">
              <a:latin typeface="Arial"/>
            </a:endParaRPr>
          </a:p>
          <a:p>
            <a:pPr lvl="1" marL="864000" indent="-3193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Robotics, drones, self-driving cars, manufacturing, construction, etc.</a:t>
            </a:r>
            <a:endParaRPr b="0" lang="en-US" sz="2800" spc="-1" strike="noStrike">
              <a:latin typeface="Arial"/>
            </a:endParaRPr>
          </a:p>
          <a:p>
            <a:pPr marL="432000" indent="-3193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Scientific advances using AI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CustomShape 1"/>
          <p:cNvSpPr/>
          <p:nvPr/>
        </p:nvSpPr>
        <p:spPr>
          <a:xfrm>
            <a:off x="504000" y="226080"/>
            <a:ext cx="9067680" cy="94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Near Term Issues to Consider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91" name="CustomShape 2"/>
          <p:cNvSpPr/>
          <p:nvPr/>
        </p:nvSpPr>
        <p:spPr>
          <a:xfrm>
            <a:off x="504000" y="1326600"/>
            <a:ext cx="9067680" cy="3283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32000"/>
          </a:bodyPr>
          <a:p>
            <a:pPr marL="432000" indent="-3193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Legal questions of copyright and liability</a:t>
            </a:r>
            <a:endParaRPr b="0" lang="en-US" sz="3200" spc="-1" strike="noStrike">
              <a:latin typeface="Arial"/>
            </a:endParaRPr>
          </a:p>
          <a:p>
            <a:pPr marL="432000" indent="-3193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Alignment” of AI with human values</a:t>
            </a:r>
            <a:endParaRPr b="0" lang="en-US" sz="3200" spc="-1" strike="noStrike">
              <a:latin typeface="Arial"/>
            </a:endParaRPr>
          </a:p>
          <a:p>
            <a:pPr marL="432000" indent="-3193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Economic and environmental impact of data center buildout</a:t>
            </a:r>
            <a:endParaRPr b="0" lang="en-US" sz="3200" spc="-1" strike="noStrike">
              <a:latin typeface="Arial"/>
            </a:endParaRPr>
          </a:p>
          <a:p>
            <a:pPr lvl="3" marL="864000" indent="-215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Demand pressure on memory, electricity</a:t>
            </a:r>
            <a:endParaRPr b="0" lang="en-US" sz="3200" spc="-1" strike="noStrike">
              <a:latin typeface="Arial"/>
            </a:endParaRPr>
          </a:p>
          <a:p>
            <a:pPr lvl="3" marL="864000" indent="-215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Encouraging efficient use of “tokens”</a:t>
            </a:r>
            <a:endParaRPr b="0" lang="en-US" sz="3200" spc="-1" strike="noStrike">
              <a:latin typeface="Arial"/>
            </a:endParaRPr>
          </a:p>
          <a:p>
            <a:pPr marL="432000" indent="-3193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Employment Impacts</a:t>
            </a:r>
            <a:endParaRPr b="0" lang="en-US" sz="2800" spc="-1" strike="noStrike">
              <a:latin typeface="Arial"/>
            </a:endParaRPr>
          </a:p>
          <a:p>
            <a:pPr lvl="3" marL="864000" indent="-215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Not like going from farm to factory to simple white-collar work</a:t>
            </a:r>
            <a:endParaRPr b="0" lang="en-US" sz="2800" spc="-1" strike="noStrike">
              <a:latin typeface="Arial"/>
            </a:endParaRPr>
          </a:p>
          <a:p>
            <a:pPr lvl="3" marL="864000" indent="-215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UBI” can provide subsistence, but doesn’t provide purpose</a:t>
            </a:r>
            <a:endParaRPr b="0" lang="en-US" sz="2800" spc="-1" strike="noStrike">
              <a:latin typeface="Arial"/>
            </a:endParaRPr>
          </a:p>
          <a:p>
            <a:pPr marL="432000" indent="-3193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Which nation will lead, US or China? – Manhattan project of the 2020s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CustomShape 1"/>
          <p:cNvSpPr/>
          <p:nvPr/>
        </p:nvSpPr>
        <p:spPr>
          <a:xfrm>
            <a:off x="504000" y="226080"/>
            <a:ext cx="9067680" cy="941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Near Term Issues – Education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93" name="CustomShape 2"/>
          <p:cNvSpPr/>
          <p:nvPr/>
        </p:nvSpPr>
        <p:spPr>
          <a:xfrm>
            <a:off x="504000" y="731520"/>
            <a:ext cx="9067680" cy="387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45000"/>
          </a:bodyPr>
          <a:p>
            <a:pPr>
              <a:lnSpc>
                <a:spcPct val="100000"/>
              </a:lnSpc>
              <a:spcBef>
                <a:spcPts val="1417"/>
              </a:spcBef>
            </a:pPr>
            <a:endParaRPr b="0" lang="en-US" sz="1800" spc="-1" strike="noStrike">
              <a:latin typeface="Arial"/>
            </a:endParaRPr>
          </a:p>
          <a:p>
            <a:pPr marL="432000" indent="-3193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How does education adapt to AI?</a:t>
            </a:r>
            <a:endParaRPr b="0" lang="en-US" sz="2800" spc="-1" strike="noStrike">
              <a:latin typeface="Arial"/>
            </a:endParaRPr>
          </a:p>
          <a:p>
            <a:pPr marL="432000" indent="-3193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Starship vs Cloister</a:t>
            </a:r>
            <a:endParaRPr b="0" lang="en-US" sz="2800" spc="-1" strike="noStrike">
              <a:latin typeface="Arial"/>
            </a:endParaRPr>
          </a:p>
          <a:p>
            <a:pPr lvl="1" marL="864000" indent="-3193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Be able to do everything *without* AI. </a:t>
            </a:r>
            <a:endParaRPr b="0" lang="en-US" sz="2800" spc="-1" strike="noStrike">
              <a:latin typeface="Arial"/>
            </a:endParaRPr>
          </a:p>
          <a:p>
            <a:pPr lvl="1" marL="864000" indent="-3193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Can’t be “in charge” if you are dependent</a:t>
            </a:r>
            <a:endParaRPr b="0" lang="en-US" sz="2800" spc="-1" strike="noStrike">
              <a:latin typeface="Arial"/>
            </a:endParaRPr>
          </a:p>
          <a:p>
            <a:pPr marL="432000" indent="-3193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But, do use AI</a:t>
            </a:r>
            <a:endParaRPr b="0" lang="en-US" sz="3200" spc="-1" strike="noStrike">
              <a:latin typeface="Arial"/>
            </a:endParaRPr>
          </a:p>
          <a:p>
            <a:pPr lvl="1" marL="864000" indent="-3193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Leverage AI as “cointelligence” to create more than you can alone</a:t>
            </a:r>
            <a:endParaRPr b="0" lang="en-US" sz="2800" spc="-1" strike="noStrike">
              <a:latin typeface="Arial"/>
            </a:endParaRPr>
          </a:p>
          <a:p>
            <a:pPr lvl="1" marL="864000" indent="-3193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Always question/challenge the AI; don’t take output at face value</a:t>
            </a:r>
            <a:endParaRPr b="0" lang="en-US" sz="2800" spc="-1" strike="noStrike">
              <a:latin typeface="Arial"/>
            </a:endParaRPr>
          </a:p>
          <a:p>
            <a:pPr lvl="1" marL="864000" indent="-3193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Any good LLM session includes you correcting the LLM”</a:t>
            </a:r>
            <a:endParaRPr b="0" lang="en-US" sz="2800" spc="-1" strike="noStrike">
              <a:latin typeface="Arial"/>
            </a:endParaRPr>
          </a:p>
          <a:p>
            <a:pPr marL="432000" indent="-31932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Students must jump the “apprentice gap”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CustomShape 1"/>
          <p:cNvSpPr/>
          <p:nvPr/>
        </p:nvSpPr>
        <p:spPr>
          <a:xfrm>
            <a:off x="504000" y="226080"/>
            <a:ext cx="9068040" cy="94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AI Future – Limits on Prediction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	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95" name="CustomShape 2"/>
          <p:cNvSpPr/>
          <p:nvPr/>
        </p:nvSpPr>
        <p:spPr>
          <a:xfrm>
            <a:off x="504000" y="1323720"/>
            <a:ext cx="9068040" cy="3284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46000"/>
          </a:bodyPr>
          <a:p>
            <a:pPr marL="432000" indent="-3196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“…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heavier than air flying machines are impossible”</a:t>
            </a:r>
            <a:endParaRPr b="0" lang="en-US" sz="3200" spc="-1" strike="noStrike">
              <a:latin typeface="Arial"/>
            </a:endParaRPr>
          </a:p>
          <a:p>
            <a:pPr lvl="1" marL="864000" indent="-3196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Lord Kelvin, 1895</a:t>
            </a:r>
            <a:endParaRPr b="0" lang="en-US" sz="2800" spc="-1" strike="noStrike">
              <a:latin typeface="Arial"/>
            </a:endParaRPr>
          </a:p>
          <a:p>
            <a:pPr marL="432000" indent="-3196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Alchemistic Empiricism</a:t>
            </a:r>
            <a:endParaRPr b="0" lang="en-US" sz="3200" spc="-1" strike="noStrike">
              <a:latin typeface="Arial"/>
            </a:endParaRPr>
          </a:p>
          <a:p>
            <a:pPr lvl="1" marL="864000" indent="-3196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Analogy of Chemistry in 1825</a:t>
            </a:r>
            <a:endParaRPr b="0" lang="en-US" sz="3200" spc="-1" strike="noStrike">
              <a:latin typeface="Arial"/>
            </a:endParaRPr>
          </a:p>
          <a:p>
            <a:pPr lvl="1" marL="864000" indent="-3196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Results in fits and starts as we try things out by guess-and-by-golly</a:t>
            </a:r>
            <a:endParaRPr b="0" lang="en-US" sz="2800" spc="-1" strike="noStrike">
              <a:latin typeface="Arial"/>
            </a:endParaRPr>
          </a:p>
          <a:p>
            <a:pPr marL="432000" indent="-3196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Start with Nature, End with Design</a:t>
            </a:r>
            <a:endParaRPr b="0" lang="en-US" sz="3200" spc="-1" strike="noStrike">
              <a:latin typeface="Arial"/>
            </a:endParaRPr>
          </a:p>
          <a:p>
            <a:pPr lvl="1" marL="864000" indent="-3196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Planes vs birds</a:t>
            </a:r>
            <a:endParaRPr b="0" lang="en-US" sz="2800" spc="-1" strike="noStrike">
              <a:latin typeface="Arial"/>
            </a:endParaRPr>
          </a:p>
          <a:p>
            <a:pPr lvl="1" marL="864000" indent="-3196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Deep Learning vs brains : Geoff Hinton’s warning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CustomShape 1"/>
          <p:cNvSpPr/>
          <p:nvPr/>
        </p:nvSpPr>
        <p:spPr>
          <a:xfrm>
            <a:off x="504000" y="226080"/>
            <a:ext cx="9064800" cy="939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AI Future – Ideas to Consider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97" name="CustomShape 2"/>
          <p:cNvSpPr/>
          <p:nvPr/>
        </p:nvSpPr>
        <p:spPr>
          <a:xfrm>
            <a:off x="504000" y="1326600"/>
            <a:ext cx="9064800" cy="3281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80000"/>
          </a:bodyPr>
          <a:p>
            <a:pPr marL="432000" indent="-3171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Pair of essays worth reading by Dario Amodei (darioamodei.com)</a:t>
            </a:r>
            <a:endParaRPr b="0" lang="en-US" sz="2400" spc="-1" strike="noStrike">
              <a:latin typeface="Arial"/>
            </a:endParaRPr>
          </a:p>
          <a:p>
            <a:pPr lvl="3" marL="864000" indent="-215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(2024) “Machines of Loving Grace”</a:t>
            </a:r>
            <a:endParaRPr b="0" lang="en-US" sz="2400" spc="-1" strike="noStrike">
              <a:latin typeface="Arial"/>
            </a:endParaRPr>
          </a:p>
          <a:p>
            <a:pPr lvl="3" marL="864000" indent="-215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(2026) “The Adolescence of Technology”</a:t>
            </a:r>
            <a:endParaRPr b="0" lang="en-US" sz="2400" spc="-1" strike="noStrike">
              <a:latin typeface="Arial"/>
            </a:endParaRPr>
          </a:p>
          <a:p>
            <a:pPr marL="432000" indent="-3171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Technological History Lessons</a:t>
            </a:r>
            <a:endParaRPr b="0" lang="en-US" sz="2400" spc="-1" strike="noStrike">
              <a:latin typeface="Arial"/>
            </a:endParaRPr>
          </a:p>
          <a:p>
            <a:pPr lvl="3" marL="864000" indent="-215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S curve pattern in innovation – aerospace example</a:t>
            </a:r>
            <a:endParaRPr b="0" lang="en-US" sz="2400" spc="-1" strike="noStrike">
              <a:latin typeface="Arial"/>
            </a:endParaRPr>
          </a:p>
          <a:p>
            <a:pPr lvl="3" marL="864000" indent="-215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AI winters of past</a:t>
            </a:r>
            <a:endParaRPr b="0" lang="en-US" sz="2400" spc="-1" strike="noStrike">
              <a:latin typeface="Arial"/>
            </a:endParaRPr>
          </a:p>
          <a:p>
            <a:pPr lvl="3" marL="864000" indent="-215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Effect of missing theory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CustomShape 1"/>
          <p:cNvSpPr/>
          <p:nvPr/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latin typeface="Arial"/>
              </a:rPr>
              <a:t>AI Future – 3 Tracks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99" name="CustomShape 2"/>
          <p:cNvSpPr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80000"/>
          </a:bodyPr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Option A: Progress will plateau near term (in a year or two)</a:t>
            </a:r>
            <a:endParaRPr b="0" lang="en-US" sz="24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We are reaching limits on compute and on data</a:t>
            </a:r>
            <a:endParaRPr b="0" lang="en-US" sz="24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Example of aerospace after 1970</a:t>
            </a:r>
            <a:endParaRPr b="0" lang="en-US" sz="24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Option B: Progress will plateau mid-term (2030s)</a:t>
            </a:r>
            <a:endParaRPr b="0" lang="en-US" sz="24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Continued improvement in hardware and “frontier models”</a:t>
            </a:r>
            <a:endParaRPr b="0" lang="en-US" sz="24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Likely to reach “AGI” or “superintelligence”</a:t>
            </a:r>
            <a:endParaRPr b="0" lang="en-US" sz="24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Option C: Progress explodes with AI refining its own design</a:t>
            </a:r>
            <a:endParaRPr b="0" lang="en-US" sz="24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Singularity” concept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CustomShape 1"/>
          <p:cNvSpPr/>
          <p:nvPr/>
        </p:nvSpPr>
        <p:spPr>
          <a:xfrm>
            <a:off x="504000" y="226080"/>
            <a:ext cx="9071640" cy="94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latin typeface="Arial"/>
              </a:rPr>
              <a:t>3 Tracks – Which?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601" name="CustomShape 2"/>
          <p:cNvSpPr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70000"/>
          </a:bodyPr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Estimates vary, of course, and shift over time.</a:t>
            </a:r>
            <a:endParaRPr b="0" lang="en-US" sz="24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My own </a:t>
            </a:r>
            <a:r>
              <a:rPr b="1" i="1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vague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 impressions (not data supported!)</a:t>
            </a:r>
            <a:endParaRPr b="0" lang="en-US" sz="24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2023: A: 70%, B 25%, C 5%</a:t>
            </a:r>
            <a:endParaRPr b="0" lang="en-US" sz="24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2025 midyear  A: 75%, B 15%, C 10%</a:t>
            </a:r>
            <a:endParaRPr b="0" lang="en-US" sz="24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2026 present: A: 45%, B 45%, C 10%</a:t>
            </a:r>
            <a:endParaRPr b="0" lang="en-US" sz="2400" spc="-1" strike="noStrike">
              <a:latin typeface="Arial"/>
            </a:endParaRPr>
          </a:p>
          <a:p>
            <a:pPr marL="432000" indent="-32364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Long term, regardless of A/B/C possibilities</a:t>
            </a:r>
            <a:endParaRPr b="0" lang="en-US" sz="24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We have uncovered something fundamental about intelligent behavior</a:t>
            </a:r>
            <a:endParaRPr b="0" lang="en-US" sz="2400" spc="-1" strike="noStrike">
              <a:latin typeface="Arial"/>
            </a:endParaRPr>
          </a:p>
          <a:p>
            <a:pPr lvl="1" marL="864000" indent="-32364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Future, near or long term, shows no clear limits on this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CustomShape 1"/>
          <p:cNvSpPr/>
          <p:nvPr/>
        </p:nvSpPr>
        <p:spPr>
          <a:xfrm>
            <a:off x="504000" y="226080"/>
            <a:ext cx="9064800" cy="939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Long Term Questions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603" name="CustomShape 2"/>
          <p:cNvSpPr/>
          <p:nvPr/>
        </p:nvSpPr>
        <p:spPr>
          <a:xfrm>
            <a:off x="457200" y="1326600"/>
            <a:ext cx="9064800" cy="3878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171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What can AI teach us about the nature of thought and intelligence? </a:t>
            </a:r>
            <a:endParaRPr b="0" lang="en-US" sz="3200" spc="-1" strike="noStrike">
              <a:latin typeface="Arial"/>
            </a:endParaRPr>
          </a:p>
          <a:p>
            <a:pPr marL="432000" indent="-3171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What if it becomes more intelligent than us?</a:t>
            </a:r>
            <a:endParaRPr b="0" lang="en-US" sz="3200" spc="-1" strike="noStrike">
              <a:latin typeface="Arial"/>
            </a:endParaRPr>
          </a:p>
          <a:p>
            <a:pPr marL="432000" indent="-3171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Hard Problem of Consciousness</a:t>
            </a:r>
            <a:endParaRPr b="0" lang="en-US" sz="3200" spc="-1" strike="noStrike">
              <a:latin typeface="Arial"/>
            </a:endParaRPr>
          </a:p>
          <a:p>
            <a:pPr marL="432000" indent="-3171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AI as “moral patient”?</a:t>
            </a:r>
            <a:endParaRPr b="0" lang="en-US" sz="3200" spc="-1" strike="noStrike">
              <a:latin typeface="Arial"/>
            </a:endParaRPr>
          </a:p>
          <a:p>
            <a:pPr marL="432000" indent="-3171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Use of AI to extend human intelligence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CustomShape 1"/>
          <p:cNvSpPr/>
          <p:nvPr/>
        </p:nvSpPr>
        <p:spPr>
          <a:xfrm>
            <a:off x="504000" y="226080"/>
            <a:ext cx="9068040" cy="94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Future Predictions – Dystopian SF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605" name="CustomShape 2"/>
          <p:cNvSpPr/>
          <p:nvPr/>
        </p:nvSpPr>
        <p:spPr>
          <a:xfrm>
            <a:off x="504000" y="1326600"/>
            <a:ext cx="9068040" cy="3284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 fontScale="64000"/>
          </a:bodyPr>
          <a:p>
            <a:pPr marL="432000" indent="-3196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Premise: Technology is a power unto itself</a:t>
            </a:r>
            <a:endParaRPr b="0" lang="en-US" sz="3200" spc="-1" strike="noStrike">
              <a:latin typeface="Arial"/>
            </a:endParaRPr>
          </a:p>
          <a:p>
            <a:pPr marL="432000" indent="-3196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(1984) Blade Runner</a:t>
            </a:r>
            <a:endParaRPr b="0" lang="en-US" sz="3200" spc="-1" strike="noStrike">
              <a:latin typeface="Arial"/>
            </a:endParaRPr>
          </a:p>
          <a:p>
            <a:pPr lvl="1" marL="864000" indent="-3196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LA is stygian hellscape in 2020s</a:t>
            </a:r>
            <a:endParaRPr b="0" lang="en-US" sz="2800" spc="-1" strike="noStrike">
              <a:latin typeface="Arial"/>
            </a:endParaRPr>
          </a:p>
          <a:p>
            <a:pPr marL="432000" indent="-3196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(1984) Terminator</a:t>
            </a:r>
            <a:endParaRPr b="0" lang="en-US" sz="3200" spc="-1" strike="noStrike">
              <a:latin typeface="Arial"/>
            </a:endParaRPr>
          </a:p>
          <a:p>
            <a:pPr lvl="1" marL="864000" indent="-3196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LA is nuclear-blasted wreck with robots killing humans in 2020s</a:t>
            </a:r>
            <a:endParaRPr b="0" lang="en-US" sz="2800" spc="-1" strike="noStrike">
              <a:latin typeface="Arial"/>
            </a:endParaRPr>
          </a:p>
          <a:p>
            <a:pPr marL="432000" indent="-3196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(1970) Colossus</a:t>
            </a:r>
            <a:endParaRPr b="0" lang="en-US" sz="3200" spc="-1" strike="noStrike">
              <a:latin typeface="Arial"/>
            </a:endParaRPr>
          </a:p>
          <a:p>
            <a:pPr lvl="1" marL="864000" indent="-31968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DejaVu Sans"/>
              </a:rPr>
              <a:t>AI computer becomes world dictator in late 1970s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CustomShape 1"/>
          <p:cNvSpPr/>
          <p:nvPr/>
        </p:nvSpPr>
        <p:spPr>
          <a:xfrm>
            <a:off x="504000" y="74160"/>
            <a:ext cx="9068040" cy="124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Future Predictions – CS Perspective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607" name="CustomShape 2"/>
          <p:cNvSpPr/>
          <p:nvPr/>
        </p:nvSpPr>
        <p:spPr>
          <a:xfrm>
            <a:off x="504000" y="1326600"/>
            <a:ext cx="9068040" cy="3284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196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Premise: Technology is Mind’s creativity unfolding.</a:t>
            </a:r>
            <a:endParaRPr b="0" lang="en-US" sz="3200" spc="-1" strike="noStrike">
              <a:latin typeface="Arial"/>
            </a:endParaRPr>
          </a:p>
          <a:p>
            <a:pPr marL="432000" indent="-3196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The mariner will have dominion over the atmosphere and the great deep .. the astronomer will no longer look up to the stars, – he will look out from them..”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  <a:ea typeface="DejaVu Sans"/>
              </a:rPr>
              <a:t>Science and Health p125: 25-29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8" name="" descr=""/>
          <p:cNvPicPr/>
          <p:nvPr/>
        </p:nvPicPr>
        <p:blipFill>
          <a:blip r:embed="rId1"/>
          <a:stretch/>
        </p:blipFill>
        <p:spPr>
          <a:xfrm>
            <a:off x="274320" y="1005840"/>
            <a:ext cx="5299200" cy="3287520"/>
          </a:xfrm>
          <a:prstGeom prst="rect">
            <a:avLst/>
          </a:prstGeom>
          <a:ln>
            <a:noFill/>
          </a:ln>
        </p:spPr>
      </p:pic>
      <p:pic>
        <p:nvPicPr>
          <p:cNvPr id="609" name="" descr=""/>
          <p:cNvPicPr/>
          <p:nvPr/>
        </p:nvPicPr>
        <p:blipFill>
          <a:blip r:embed="rId2"/>
          <a:stretch/>
        </p:blipFill>
        <p:spPr>
          <a:xfrm>
            <a:off x="4297680" y="2651760"/>
            <a:ext cx="4384800" cy="2921040"/>
          </a:xfrm>
          <a:prstGeom prst="rect">
            <a:avLst/>
          </a:prstGeom>
          <a:ln>
            <a:noFill/>
          </a:ln>
        </p:spPr>
      </p:pic>
      <p:pic>
        <p:nvPicPr>
          <p:cNvPr id="610" name="" descr=""/>
          <p:cNvPicPr/>
          <p:nvPr/>
        </p:nvPicPr>
        <p:blipFill>
          <a:blip r:embed="rId3"/>
          <a:stretch/>
        </p:blipFill>
        <p:spPr>
          <a:xfrm>
            <a:off x="6126840" y="518400"/>
            <a:ext cx="3470760" cy="231228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CustomShape 1"/>
          <p:cNvSpPr/>
          <p:nvPr/>
        </p:nvSpPr>
        <p:spPr>
          <a:xfrm>
            <a:off x="504000" y="226080"/>
            <a:ext cx="9067320" cy="9414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DejaVu Sans"/>
              </a:rPr>
              <a:t>Christian Science Perspective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612" name="CustomShape 2"/>
          <p:cNvSpPr/>
          <p:nvPr/>
        </p:nvSpPr>
        <p:spPr>
          <a:xfrm>
            <a:off x="504000" y="1326600"/>
            <a:ext cx="9067320" cy="3283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>
            <a:normAutofit/>
          </a:bodyPr>
          <a:p>
            <a:pPr marL="432000" indent="-3189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i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There is no life, truth, intelligence, nor substance in matter. All is infinite Mind and its infinite manifestation…” S&amp;H p 468</a:t>
            </a:r>
            <a:endParaRPr b="0" lang="en-US" sz="3200" spc="-1" strike="noStrike">
              <a:latin typeface="Arial"/>
            </a:endParaRPr>
          </a:p>
          <a:p>
            <a:pPr marL="432000" indent="-31896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i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“</a:t>
            </a:r>
            <a:r>
              <a:rPr b="0" i="1" lang="en-US" sz="3200" spc="-1" strike="noStrike">
                <a:solidFill>
                  <a:srgbClr val="000000"/>
                </a:solidFill>
                <a:latin typeface="Arial"/>
                <a:ea typeface="DejaVu Sans"/>
              </a:rPr>
              <a:t>Intelligence is omniscience, omnipresence, and omnipotence.  It is the primal and eternal quality of infinite Mind...”  S&amp;H p 469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8119</TotalTime>
  <Application>LibreOffice/6.3.5.2$Windows_X86_64 LibreOffice_project/dd0751754f11728f69b42ee2af66670068624673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2017-10-20T23:41:18Z</dcterms:created>
  <dc:creator/>
  <dc:description/>
  <dc:language>en-US</dc:language>
  <cp:lastModifiedBy/>
  <cp:lastPrinted>2023-04-17T14:15:08Z</cp:lastPrinted>
  <dcterms:modified xsi:type="dcterms:W3CDTF">2026-06-17T11:42:21Z</dcterms:modified>
  <cp:revision>76</cp:revision>
  <dc:subject/>
  <dc:title/>
</cp:coreProperties>
</file>