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CustomShape 1"/>
          <p:cNvSpPr/>
          <p:nvPr/>
        </p:nvSpPr>
        <p:spPr>
          <a:xfrm>
            <a:off x="731520" y="2088360"/>
            <a:ext cx="9065520" cy="56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AI Research Universe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Dr. Clint Staley (C’80)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Professor of STEM, UATX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Former CSCI Professor, Principia College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CSC Professor Emeritus, Cal Poly SLO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43" name="CustomShape 2"/>
          <p:cNvSpPr/>
          <p:nvPr/>
        </p:nvSpPr>
        <p:spPr>
          <a:xfrm>
            <a:off x="4206240" y="2768400"/>
            <a:ext cx="1641240" cy="39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CustomShape 1"/>
          <p:cNvSpPr/>
          <p:nvPr/>
        </p:nvSpPr>
        <p:spPr>
          <a:xfrm>
            <a:off x="503640" y="477720"/>
            <a:ext cx="9065520" cy="94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Large Language Model” (LLM) Demo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345" name="CustomShape 2"/>
          <p:cNvSpPr/>
          <p:nvPr/>
        </p:nvSpPr>
        <p:spPr>
          <a:xfrm>
            <a:off x="503640" y="1326240"/>
            <a:ext cx="9065520" cy="328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8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and Revise a Story (Claude Sonnet)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the context of the story</a:t>
            </a:r>
            <a:endParaRPr b="0" lang="en-US" sz="28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Summarizes; changes style</a:t>
            </a:r>
            <a:endParaRPr b="0" lang="en-US" sz="28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Multimodal: Analyzing humorous images</a:t>
            </a:r>
            <a:endParaRPr b="0" lang="en-US" sz="28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Many LLMs available, steadily improving</a:t>
            </a:r>
            <a:endParaRPr b="0" lang="en-US" sz="28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ChatGPT (OpenAI), Claude (Anthropic), Grok (X), R1 (DeepSeek)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CustomShape 1"/>
          <p:cNvSpPr/>
          <p:nvPr/>
        </p:nvSpPr>
        <p:spPr>
          <a:xfrm>
            <a:off x="503640" y="182520"/>
            <a:ext cx="9065520" cy="94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47" name="CustomShape 2"/>
          <p:cNvSpPr/>
          <p:nvPr/>
        </p:nvSpPr>
        <p:spPr>
          <a:xfrm>
            <a:off x="503640" y="1096920"/>
            <a:ext cx="9065520" cy="351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2000"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Is able to web-search when useful, but…</a:t>
            </a:r>
            <a:endParaRPr b="0" lang="en-US" sz="26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…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can work unplugged from the internet</a:t>
            </a:r>
            <a:endParaRPr b="0" lang="en-US" sz="26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 programming specific to the questions/answers</a:t>
            </a:r>
            <a:endParaRPr b="0" lang="en-US" sz="26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Could be written in one page of code –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</a:t>
            </a:r>
            <a:endParaRPr b="0" lang="en-US" sz="26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 other areas are making major advances too, e.g. “reinforcement learning”, computer vision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CustomShape 1"/>
          <p:cNvSpPr/>
          <p:nvPr/>
        </p:nvSpPr>
        <p:spPr>
          <a:xfrm>
            <a:off x="503640" y="225720"/>
            <a:ext cx="9065520" cy="94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49" name="CustomShape 2"/>
          <p:cNvSpPr/>
          <p:nvPr/>
        </p:nvSpPr>
        <p:spPr>
          <a:xfrm>
            <a:off x="503640" y="1326240"/>
            <a:ext cx="9065520" cy="328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7000"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equations, but on “matrices” – huge grids of numbers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From 10 billion to over 1 trillion numbers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“intelligence” is in those numbers (aka weights or parameters)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are “trained” by incremental adjustment </a:t>
            </a:r>
            <a:endParaRPr b="0" lang="en-US" sz="3200" spc="-1" strike="noStrike">
              <a:latin typeface="Arial"/>
            </a:endParaRPr>
          </a:p>
          <a:p>
            <a:pPr lvl="4" marL="1080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First, to match known texts</a:t>
            </a:r>
            <a:endParaRPr b="0" lang="en-US" sz="3200" spc="-1" strike="noStrike">
              <a:latin typeface="Arial"/>
            </a:endParaRPr>
          </a:p>
          <a:p>
            <a:pPr lvl="4" marL="1080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 to adjust to human feedback given by RLHF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Humans design the training process and the equations, but not the weights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504000" y="82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91440" y="909000"/>
            <a:ext cx="9872640" cy="2839320"/>
          </a:xfrm>
          <a:prstGeom prst="rect">
            <a:avLst/>
          </a:prstGeom>
          <a:ln>
            <a:noFill/>
          </a:ln>
        </p:spPr>
      </p:pic>
      <p:sp>
        <p:nvSpPr>
          <p:cNvPr id="352" name="CustomShape 2"/>
          <p:cNvSpPr/>
          <p:nvPr/>
        </p:nvSpPr>
        <p:spPr>
          <a:xfrm>
            <a:off x="526320" y="3987360"/>
            <a:ext cx="9068760" cy="192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16000" indent="-2131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This is how an LLM represents words, phrases and ideas</a:t>
            </a:r>
            <a:endParaRPr b="0" lang="en-US" sz="2600" spc="-1" strike="noStrike">
              <a:latin typeface="Arial"/>
            </a:endParaRPr>
          </a:p>
          <a:p>
            <a:pPr marL="216000" indent="-2131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Dimensions represent meaning, and also word position</a:t>
            </a:r>
            <a:endParaRPr b="0" lang="en-US" sz="2600" spc="-1" strike="noStrike">
              <a:latin typeface="Arial"/>
            </a:endParaRPr>
          </a:p>
          <a:p>
            <a:pPr marL="216000" indent="-21312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But, with 12,800 numbers per word – many conceptual dimensions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ustomShape 1"/>
          <p:cNvSpPr/>
          <p:nvPr/>
        </p:nvSpPr>
        <p:spPr>
          <a:xfrm>
            <a:off x="504000" y="226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“Thinks”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4" name="CustomShape 2"/>
          <p:cNvSpPr/>
          <p:nvPr/>
        </p:nvSpPr>
        <p:spPr>
          <a:xfrm>
            <a:off x="504000" y="1326600"/>
            <a:ext cx="9066960" cy="32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7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Starts with word embeddings representing words in your prompt and the current conversation.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via “attention blocks” into higher embeddings representing phrases, then sentences, etc.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as an embedding and chooses closest next word.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Repeat, word by word...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ustomShape 1"/>
          <p:cNvSpPr/>
          <p:nvPr/>
        </p:nvSpPr>
        <p:spPr>
          <a:xfrm>
            <a:off x="504000" y="226080"/>
            <a:ext cx="906696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6" name="CustomShape 2"/>
          <p:cNvSpPr/>
          <p:nvPr/>
        </p:nvSpPr>
        <p:spPr>
          <a:xfrm>
            <a:off x="504000" y="1326600"/>
            <a:ext cx="9066960" cy="32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 “reasoning”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(mostly)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 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CustomShape 1"/>
          <p:cNvSpPr/>
          <p:nvPr/>
        </p:nvSpPr>
        <p:spPr>
          <a:xfrm>
            <a:off x="504000" y="226080"/>
            <a:ext cx="906984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Other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58" name="CustomShape 2"/>
          <p:cNvSpPr/>
          <p:nvPr/>
        </p:nvSpPr>
        <p:spPr>
          <a:xfrm>
            <a:off x="504000" y="1326600"/>
            <a:ext cx="906984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Same principles of training and numerical patterns, but different designs and purposes.</a:t>
            </a:r>
            <a:endParaRPr b="0" lang="en-US" sz="20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Diffusion Models (saw earlier)</a:t>
            </a:r>
            <a:endParaRPr b="0" lang="en-US" sz="20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Reinforcement Learning (RL)</a:t>
            </a:r>
            <a:endParaRPr b="0" lang="en-US" sz="2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Self-instructing.  Requires automatically generable feedback.</a:t>
            </a:r>
            <a:endParaRPr b="0" lang="en-US" sz="2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Alpha Go example</a:t>
            </a:r>
            <a:endParaRPr b="0" lang="en-US" sz="20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and Physical AI</a:t>
            </a:r>
            <a:endParaRPr b="0" lang="en-US" sz="2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CNNs and Vision Transformers</a:t>
            </a:r>
            <a:endParaRPr b="0" lang="en-US" sz="20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Graph Neural Networks</a:t>
            </a:r>
            <a:endParaRPr b="0" lang="en-US" sz="20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Analyze connection patterns, e.g. chemical compounds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Shape 1"/>
          <p:cNvSpPr txBox="1"/>
          <p:nvPr/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All the world’s a number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0" name="TextShape 2"/>
          <p:cNvSpPr txBox="1"/>
          <p:nvPr/>
        </p:nvSpPr>
        <p:spPr>
          <a:xfrm>
            <a:off x="489240" y="133416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9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Words/concepts =&gt; embeddings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Images =&gt; pixels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Colors =&gt; 3-value vectors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Sounds =&gt; frequency intensities or wave amplitudes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Categorizations =&gt; probability distributions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Shape 1"/>
          <p:cNvSpPr txBox="1"/>
          <p:nvPr/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High Dimensions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2" name="TextShape 2"/>
          <p:cNvSpPr txBox="1"/>
          <p:nvPr/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3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All modern AI centers on high-dimensional spaces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Example of dimensional progression – hypercubes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Square, cube, tesseract…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Number of corners grows exponentially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Concept embedding example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small/big, cold/hot, sad/happy…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“</a:t>
            </a:r>
            <a:r>
              <a:rPr b="0" lang="en-US" sz="2800" spc="-1" strike="noStrike">
                <a:latin typeface="Arial"/>
              </a:rPr>
              <a:t>vocabulary” for 10, 20, 265 dimensions…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“</a:t>
            </a:r>
            <a:r>
              <a:rPr b="0" lang="en-US" sz="3200" spc="-1" strike="noStrike">
                <a:latin typeface="Arial"/>
              </a:rPr>
              <a:t>Pattern space” and pattern regions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Neural layers do “affine transforms” in high dimensions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The Computations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4" name="CustomShape 2"/>
          <p:cNvSpPr/>
          <p:nvPr/>
        </p:nvSpPr>
        <p:spPr>
          <a:xfrm>
            <a:off x="51336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3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Basic “neuron”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Weights on inputs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“</a:t>
            </a:r>
            <a:r>
              <a:rPr b="0" lang="en-US" sz="2800" spc="-1" strike="noStrike">
                <a:latin typeface="Arial"/>
              </a:rPr>
              <a:t>Activation function”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Layers do pattern-space “affine transforms”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Banks of layers form “neural networks”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Other types of mathematical layers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latin typeface="Arial"/>
              </a:rPr>
              <a:t>“</a:t>
            </a:r>
            <a:r>
              <a:rPr b="0" lang="en-US" sz="3200" spc="-1" strike="noStrike">
                <a:latin typeface="Arial"/>
              </a:rPr>
              <a:t>softmax”, 2-d max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Thus “deep learning” not just “neural nets”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1"/>
          <a:stretch/>
        </p:blipFill>
        <p:spPr>
          <a:xfrm>
            <a:off x="5973840" y="1074600"/>
            <a:ext cx="2909160" cy="1472400"/>
          </a:xfrm>
          <a:prstGeom prst="rect">
            <a:avLst/>
          </a:prstGeom>
          <a:ln>
            <a:noFill/>
          </a:ln>
        </p:spPr>
      </p:pic>
      <p:pic>
        <p:nvPicPr>
          <p:cNvPr id="366" name="" descr=""/>
          <p:cNvPicPr/>
          <p:nvPr/>
        </p:nvPicPr>
        <p:blipFill>
          <a:blip r:embed="rId2"/>
          <a:stretch/>
        </p:blipFill>
        <p:spPr>
          <a:xfrm>
            <a:off x="6492600" y="2926080"/>
            <a:ext cx="3017160" cy="2271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Transformer Architecture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8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5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Tokens to embeddings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Positional Embedding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Neural networks for Attention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Neural networks for analysis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Many layers deep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Final output is next token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6766560" y="1554480"/>
            <a:ext cx="2518920" cy="3439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Training Process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1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8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“</a:t>
            </a:r>
            <a:r>
              <a:rPr b="0" lang="en-US" sz="3200" spc="-1" strike="noStrike">
                <a:latin typeface="Arial"/>
              </a:rPr>
              <a:t>Gradient Descent” PreTraining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Compute “error” in output based on examples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Compute “downhill” direction of error (aka negative gradient)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Adjust all weights a bit to reduce that error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Repeat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And… one trillion dimensions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Post-training via RLHF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Adjust weights to satisfy human trainers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“</a:t>
            </a:r>
            <a:r>
              <a:rPr b="0" lang="en-US" sz="2800" spc="-1" strike="noStrike">
                <a:latin typeface="Arial"/>
              </a:rPr>
              <a:t>Alignment” happens here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72" name="" descr=""/>
          <p:cNvPicPr/>
          <p:nvPr/>
        </p:nvPicPr>
        <p:blipFill>
          <a:blip r:embed="rId1"/>
          <a:stretch/>
        </p:blipFill>
        <p:spPr>
          <a:xfrm>
            <a:off x="5885280" y="2747160"/>
            <a:ext cx="3551760" cy="2190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Optimization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4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0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Make using the AI – “inference” – less expensive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Reduce power consumption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Allow LLMs to run on edge devices like phones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Compressing/removing weights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low-rank factorization” reduces transformation dimensionality and cost, preserving function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Lottery Ticket Hypothesis:  Any large network has much smaller network within that works as well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Quantization” – reducing precision of the weights for speed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Speculative Decoding”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Small “draft” LLM model does initial cut, confirmed by stronger model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Knowledge Distillation (KD)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Train small LLM from “smart” larger one that offers nuance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Ability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6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2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Longer context windows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Squared complexity – requires creative selectivity in pairwise comparisons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Reasoning models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Physical and multimodal AI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Robotics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Improved generalization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More data examples</a:t>
            </a:r>
            <a:endParaRPr b="0" lang="en-US" sz="2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RL-based training, especially in physical AI, coding, etc.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extShape 1"/>
          <p:cNvSpPr txBox="1"/>
          <p:nvPr/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Current Research – Architectures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8" name="TextShape 2"/>
          <p:cNvSpPr txBox="1"/>
          <p:nvPr/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4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Architecture” is organization and design of the layers, activation functions, etc.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History: RNN → LSTM → Transformer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Each addresses weaknesses in former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Activations: sigmoid -&gt; relu -&gt; GeGLU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Progress is ad-hoc, empirical, and often surprising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Mixture of Experts (MoE)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DeepSeek story...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Transformer research focuses on context windows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RoPE, sparse attention, etc.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Transformer → State Space Models (SSMs) ?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Shape 1"/>
          <p:cNvSpPr txBox="1"/>
          <p:nvPr/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Current Research – Alignment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0" name="TextShape 2"/>
          <p:cNvSpPr txBox="1"/>
          <p:nvPr/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5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Curation of data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Reduction of hallucinations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Self-checking, chain-of-reasoning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Informed prompts (RAG)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Mechanistic Interpretability (MI) and “explainability”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Sparse autoencoders, and “golden gate Claude”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Reverse engineering weight subnets “circuits”</a:t>
            </a:r>
            <a:r>
              <a:rPr b="0" lang="en-US" sz="2800" spc="-1" strike="noStrike">
                <a:latin typeface="Arial"/>
              </a:rPr>
              <a:t>Explainability (see theory)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Shape 1"/>
          <p:cNvSpPr txBox="1"/>
          <p:nvPr/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Theory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2" name="TextShape 2"/>
          <p:cNvSpPr txBox="1"/>
          <p:nvPr/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High Math Approaches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Information Bottleneck Theory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Tangent Kernels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Sheaf Theory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Analysis of high-dimensional optimization surfaces, e.g. singular learning theory (SLT)</a:t>
            </a:r>
            <a:endParaRPr b="0" lang="en-US" sz="2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Behavior of high-dimensional gradient descent</a:t>
            </a:r>
            <a:endParaRPr b="0" lang="en-US" sz="2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Double descent pattern and “grokking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7295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2025-11-14T11:41:08Z</dcterms:modified>
  <cp:revision>61</cp:revision>
  <dc:subject/>
  <dc:title/>
</cp:coreProperties>
</file>