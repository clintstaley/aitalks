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_rels/slideMaster9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1.xml.rels" ContentType="application/vnd.openxmlformats-package.relationships+xml"/>
  <Override PartName="/ppt/theme/theme1.xml" ContentType="application/vnd.openxmlformats-officedocument.theme+xml"/>
  <Override PartName="/ppt/theme/theme9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_rels/slideLayout39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119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118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08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09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28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129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64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73.xml.rels" ContentType="application/vnd.openxmlformats-package.relationships+xml"/>
  <Override PartName="/ppt/slideLayouts/_rels/slideLayout74.xml.rels" ContentType="application/vnd.openxmlformats-package.relationships+xml"/>
  <Override PartName="/ppt/slideLayouts/_rels/slideLayout75.xml.rels" ContentType="application/vnd.openxmlformats-package.relationships+xml"/>
  <Override PartName="/ppt/slideLayouts/_rels/slideLayout76.xml.rels" ContentType="application/vnd.openxmlformats-package.relationships+xml"/>
  <Override PartName="/ppt/slideLayouts/_rels/slideLayout77.xml.rels" ContentType="application/vnd.openxmlformats-package.relationships+xml"/>
  <Override PartName="/ppt/slideLayouts/_rels/slideLayout78.xml.rels" ContentType="application/vnd.openxmlformats-package.relationships+xml"/>
  <Override PartName="/ppt/slideLayouts/_rels/slideLayout79.xml.rels" ContentType="application/vnd.openxmlformats-package.relationships+xml"/>
  <Override PartName="/ppt/slideLayouts/_rels/slideLayout80.xml.rels" ContentType="application/vnd.openxmlformats-package.relationships+xml"/>
  <Override PartName="/ppt/slideLayouts/_rels/slideLayout81.xml.rels" ContentType="application/vnd.openxmlformats-package.relationships+xml"/>
  <Override PartName="/ppt/slideLayouts/_rels/slideLayout82.xml.rels" ContentType="application/vnd.openxmlformats-package.relationships+xml"/>
  <Override PartName="/ppt/slideLayouts/_rels/slideLayout83.xml.rels" ContentType="application/vnd.openxmlformats-package.relationships+xml"/>
  <Override PartName="/ppt/slideLayouts/_rels/slideLayout84.xml.rels" ContentType="application/vnd.openxmlformats-package.relationships+xml"/>
  <Override PartName="/ppt/slideLayouts/_rels/slideLayout85.xml.rels" ContentType="application/vnd.openxmlformats-package.relationships+xml"/>
  <Override PartName="/ppt/slideLayouts/_rels/slideLayout86.xml.rels" ContentType="application/vnd.openxmlformats-package.relationships+xml"/>
  <Override PartName="/ppt/slideLayouts/_rels/slideLayout87.xml.rels" ContentType="application/vnd.openxmlformats-package.relationships+xml"/>
  <Override PartName="/ppt/slideLayouts/_rels/slideLayout88.xml.rels" ContentType="application/vnd.openxmlformats-package.relationships+xml"/>
  <Override PartName="/ppt/slideLayouts/_rels/slideLayout89.xml.rels" ContentType="application/vnd.openxmlformats-package.relationships+xml"/>
  <Override PartName="/ppt/slideLayouts/_rels/slideLayout90.xml.rels" ContentType="application/vnd.openxmlformats-package.relationships+xml"/>
  <Override PartName="/ppt/slideLayouts/_rels/slideLayout91.xml.rels" ContentType="application/vnd.openxmlformats-package.relationships+xml"/>
  <Override PartName="/ppt/slideLayouts/_rels/slideLayout92.xml.rels" ContentType="application/vnd.openxmlformats-package.relationships+xml"/>
  <Override PartName="/ppt/slideLayouts/_rels/slideLayout93.xml.rels" ContentType="application/vnd.openxmlformats-package.relationships+xml"/>
  <Override PartName="/ppt/slideLayouts/_rels/slideLayout94.xml.rels" ContentType="application/vnd.openxmlformats-package.relationships+xml"/>
  <Override PartName="/ppt/slideLayouts/_rels/slideLayout95.xml.rels" ContentType="application/vnd.openxmlformats-package.relationships+xml"/>
  <Override PartName="/ppt/slideLayouts/_rels/slideLayout96.xml.rels" ContentType="application/vnd.openxmlformats-package.relationships+xml"/>
  <Override PartName="/ppt/slideLayouts/_rels/slideLayout97.xml.rels" ContentType="application/vnd.openxmlformats-package.relationships+xml"/>
  <Override PartName="/ppt/slideLayouts/_rels/slideLayout98.xml.rels" ContentType="application/vnd.openxmlformats-package.relationships+xml"/>
  <Override PartName="/ppt/slideLayouts/_rels/slideLayout99.xml.rels" ContentType="application/vnd.openxmlformats-package.relationships+xml"/>
  <Override PartName="/ppt/slideLayouts/_rels/slideLayout100.xml.rels" ContentType="application/vnd.openxmlformats-package.relationships+xml"/>
  <Override PartName="/ppt/slideLayouts/_rels/slideLayout101.xml.rels" ContentType="application/vnd.openxmlformats-package.relationships+xml"/>
  <Override PartName="/ppt/slideLayouts/_rels/slideLayout102.xml.rels" ContentType="application/vnd.openxmlformats-package.relationships+xml"/>
  <Override PartName="/ppt/slideLayouts/_rels/slideLayout103.xml.rels" ContentType="application/vnd.openxmlformats-package.relationships+xml"/>
  <Override PartName="/ppt/slideLayouts/_rels/slideLayout104.xml.rels" ContentType="application/vnd.openxmlformats-package.relationships+xml"/>
  <Override PartName="/ppt/slideLayouts/_rels/slideLayout105.xml.rels" ContentType="application/vnd.openxmlformats-package.relationships+xml"/>
  <Override PartName="/ppt/slideLayouts/_rels/slideLayout106.xml.rels" ContentType="application/vnd.openxmlformats-package.relationships+xml"/>
  <Override PartName="/ppt/slideLayouts/_rels/slideLayout107.xml.rels" ContentType="application/vnd.openxmlformats-package.relationships+xml"/>
  <Override PartName="/ppt/slideLayouts/_rels/slideLayout110.xml.rels" ContentType="application/vnd.openxmlformats-package.relationships+xml"/>
  <Override PartName="/ppt/slideLayouts/_rels/slideLayout111.xml.rels" ContentType="application/vnd.openxmlformats-package.relationships+xml"/>
  <Override PartName="/ppt/slideLayouts/_rels/slideLayout112.xml.rels" ContentType="application/vnd.openxmlformats-package.relationships+xml"/>
  <Override PartName="/ppt/slideLayouts/_rels/slideLayout113.xml.rels" ContentType="application/vnd.openxmlformats-package.relationships+xml"/>
  <Override PartName="/ppt/slideLayouts/_rels/slideLayout114.xml.rels" ContentType="application/vnd.openxmlformats-package.relationships+xml"/>
  <Override PartName="/ppt/slideLayouts/_rels/slideLayout115.xml.rels" ContentType="application/vnd.openxmlformats-package.relationships+xml"/>
  <Override PartName="/ppt/slideLayouts/_rels/slideLayout116.xml.rels" ContentType="application/vnd.openxmlformats-package.relationships+xml"/>
  <Override PartName="/ppt/slideLayouts/_rels/slideLayout117.xml.rels" ContentType="application/vnd.openxmlformats-package.relationships+xml"/>
  <Override PartName="/ppt/slideLayouts/_rels/slideLayout120.xml.rels" ContentType="application/vnd.openxmlformats-package.relationships+xml"/>
  <Override PartName="/ppt/slideLayouts/_rels/slideLayout121.xml.rels" ContentType="application/vnd.openxmlformats-package.relationships+xml"/>
  <Override PartName="/ppt/slideLayouts/_rels/slideLayout122.xml.rels" ContentType="application/vnd.openxmlformats-package.relationships+xml"/>
  <Override PartName="/ppt/slideLayouts/_rels/slideLayout123.xml.rels" ContentType="application/vnd.openxmlformats-package.relationships+xml"/>
  <Override PartName="/ppt/slideLayouts/_rels/slideLayout124.xml.rels" ContentType="application/vnd.openxmlformats-package.relationships+xml"/>
  <Override PartName="/ppt/slideLayouts/_rels/slideLayout125.xml.rels" ContentType="application/vnd.openxmlformats-package.relationships+xml"/>
  <Override PartName="/ppt/slideLayouts/_rels/slideLayout126.xml.rels" ContentType="application/vnd.openxmlformats-package.relationships+xml"/>
  <Override PartName="/ppt/slideLayouts/_rels/slideLayout127.xml.rels" ContentType="application/vnd.openxmlformats-package.relationships+xml"/>
  <Override PartName="/ppt/slideLayouts/_rels/slideLayout130.xml.rels" ContentType="application/vnd.openxmlformats-package.relationships+xml"/>
  <Override PartName="/ppt/slideLayouts/_rels/slideLayout131.xml.rels" ContentType="application/vnd.openxmlformats-package.relationships+xml"/>
  <Override PartName="/ppt/slideLayouts/_rels/slideLayout132.xml.rels" ContentType="application/vnd.openxmlformats-package.relationships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6.xml" ContentType="application/vnd.openxmlformats-officedocument.presentationml.slide+xml"/>
  <Override PartName="/ppt/slides/slide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2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25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35.xml.rels" ContentType="application/vnd.openxmlformats-package.relationships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7.xml.rels" ContentType="application/vnd.openxmlformats-package.relationships+xml"/>
  <Override PartName="/ppt/slides/_rels/slide28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31.xml.rels" ContentType="application/vnd.openxmlformats-package.relationships+xml"/>
  <Override PartName="/ppt/slides/_rels/slide32.xml.rels" ContentType="application/vnd.openxmlformats-package.relationships+xml"/>
  <Override PartName="/ppt/slides/_rels/slide33.xml.rels" ContentType="application/vnd.openxmlformats-package.relationships+xml"/>
  <Override PartName="/ppt/slides/_rels/slide34.xml.rels" ContentType="application/vnd.openxmlformats-package.relationships+xml"/>
  <Override PartName="/ppt/media/image1.jpeg" ContentType="image/jpeg"/>
  <Override PartName="/ppt/media/image3.png" ContentType="image/png"/>
  <Override PartName="/ppt/media/image2.png" ContentType="image/png"/>
  <Override PartName="/ppt/media/image4.png" ContentType="image/png"/>
  <Override PartName="/ppt/media/image6.jpeg" ContentType="image/jpeg"/>
  <Override PartName="/ppt/media/image5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  <p:sldMasterId id="2147483713" r:id="rId7"/>
    <p:sldMasterId id="2147483726" r:id="rId8"/>
    <p:sldMasterId id="2147483739" r:id="rId9"/>
    <p:sldMasterId id="2147483752" r:id="rId10"/>
    <p:sldMasterId id="2147483765" r:id="rId11"/>
    <p:sldMasterId id="214748377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  <p:sldId id="281" r:id="rId38"/>
    <p:sldId id="282" r:id="rId39"/>
    <p:sldId id="283" r:id="rId40"/>
    <p:sldId id="284" r:id="rId41"/>
    <p:sldId id="285" r:id="rId42"/>
    <p:sldId id="286" r:id="rId43"/>
    <p:sldId id="287" r:id="rId44"/>
    <p:sldId id="288" r:id="rId45"/>
    <p:sldId id="289" r:id="rId46"/>
    <p:sldId id="290" r:id="rId47"/>
  </p:sldIdLst>
  <p:sldSz cx="10080625" cy="5670550"/>
  <p:notesSz cx="7772400" cy="100584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Relationship Id="rId39" Type="http://schemas.openxmlformats.org/officeDocument/2006/relationships/slide" Target="slides/slide27.xml"/><Relationship Id="rId40" Type="http://schemas.openxmlformats.org/officeDocument/2006/relationships/slide" Target="slides/slide28.xml"/><Relationship Id="rId41" Type="http://schemas.openxmlformats.org/officeDocument/2006/relationships/slide" Target="slides/slide29.xml"/><Relationship Id="rId42" Type="http://schemas.openxmlformats.org/officeDocument/2006/relationships/slide" Target="slides/slide30.xml"/><Relationship Id="rId43" Type="http://schemas.openxmlformats.org/officeDocument/2006/relationships/slide" Target="slides/slide31.xml"/><Relationship Id="rId44" Type="http://schemas.openxmlformats.org/officeDocument/2006/relationships/slide" Target="slides/slide32.xml"/><Relationship Id="rId45" Type="http://schemas.openxmlformats.org/officeDocument/2006/relationships/slide" Target="slides/slide33.xml"/><Relationship Id="rId46" Type="http://schemas.openxmlformats.org/officeDocument/2006/relationships/slide" Target="slides/slide34.xml"/><Relationship Id="rId47" Type="http://schemas.openxmlformats.org/officeDocument/2006/relationships/slide" Target="slides/slide35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9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9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6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1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2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3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8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2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6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3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4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9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0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1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6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0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4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1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2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6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7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8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9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4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8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2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1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1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9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0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4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5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6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7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31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3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3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2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4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6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4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0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5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5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7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8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62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63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64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65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69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7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9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7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79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0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4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8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7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8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9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1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9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4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5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6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9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9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0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1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2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3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07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0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1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10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1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7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8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2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2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2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6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2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9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3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3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4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8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9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0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1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45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4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4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0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1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5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5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6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5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9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0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6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3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4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6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7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6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0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1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2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7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5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6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7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8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9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83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8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8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8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1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9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3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4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9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7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8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0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2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0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5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0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8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9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10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1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13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14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15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16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17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Relationship Id="rId9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0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Relationship Id="rId9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1.xml"/><Relationship Id="rId13" Type="http://schemas.openxmlformats.org/officeDocument/2006/relationships/slideLayout" Target="../slideLayouts/slideLayout72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3.xml"/><Relationship Id="rId3" Type="http://schemas.openxmlformats.org/officeDocument/2006/relationships/slideLayout" Target="../slideLayouts/slideLayout74.xml"/><Relationship Id="rId4" Type="http://schemas.openxmlformats.org/officeDocument/2006/relationships/slideLayout" Target="../slideLayouts/slideLayout75.xml"/><Relationship Id="rId5" Type="http://schemas.openxmlformats.org/officeDocument/2006/relationships/slideLayout" Target="../slideLayouts/slideLayout76.xml"/><Relationship Id="rId6" Type="http://schemas.openxmlformats.org/officeDocument/2006/relationships/slideLayout" Target="../slideLayouts/slideLayout77.xml"/><Relationship Id="rId7" Type="http://schemas.openxmlformats.org/officeDocument/2006/relationships/slideLayout" Target="../slideLayouts/slideLayout78.xml"/><Relationship Id="rId8" Type="http://schemas.openxmlformats.org/officeDocument/2006/relationships/slideLayout" Target="../slideLayouts/slideLayout79.xml"/><Relationship Id="rId9" Type="http://schemas.openxmlformats.org/officeDocument/2006/relationships/slideLayout" Target="../slideLayouts/slideLayout80.xml"/><Relationship Id="rId10" Type="http://schemas.openxmlformats.org/officeDocument/2006/relationships/slideLayout" Target="../slideLayouts/slideLayout81.xml"/><Relationship Id="rId11" Type="http://schemas.openxmlformats.org/officeDocument/2006/relationships/slideLayout" Target="../slideLayouts/slideLayout82.xml"/><Relationship Id="rId12" Type="http://schemas.openxmlformats.org/officeDocument/2006/relationships/slideLayout" Target="../slideLayouts/slideLayout83.xml"/><Relationship Id="rId13" Type="http://schemas.openxmlformats.org/officeDocument/2006/relationships/slideLayout" Target="../slideLayouts/slideLayout84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6.xml"/><Relationship Id="rId4" Type="http://schemas.openxmlformats.org/officeDocument/2006/relationships/slideLayout" Target="../slideLayouts/slideLayout87.xml"/><Relationship Id="rId5" Type="http://schemas.openxmlformats.org/officeDocument/2006/relationships/slideLayout" Target="../slideLayouts/slideLayout88.xml"/><Relationship Id="rId6" Type="http://schemas.openxmlformats.org/officeDocument/2006/relationships/slideLayout" Target="../slideLayouts/slideLayout89.xml"/><Relationship Id="rId7" Type="http://schemas.openxmlformats.org/officeDocument/2006/relationships/slideLayout" Target="../slideLayouts/slideLayout90.xml"/><Relationship Id="rId8" Type="http://schemas.openxmlformats.org/officeDocument/2006/relationships/slideLayout" Target="../slideLayouts/slideLayout91.xml"/><Relationship Id="rId9" Type="http://schemas.openxmlformats.org/officeDocument/2006/relationships/slideLayout" Target="../slideLayouts/slideLayout92.xml"/><Relationship Id="rId10" Type="http://schemas.openxmlformats.org/officeDocument/2006/relationships/slideLayout" Target="../slideLayouts/slideLayout93.xml"/><Relationship Id="rId11" Type="http://schemas.openxmlformats.org/officeDocument/2006/relationships/slideLayout" Target="../slideLayouts/slideLayout94.xml"/><Relationship Id="rId12" Type="http://schemas.openxmlformats.org/officeDocument/2006/relationships/slideLayout" Target="../slideLayouts/slideLayout95.xml"/><Relationship Id="rId13" Type="http://schemas.openxmlformats.org/officeDocument/2006/relationships/slideLayout" Target="../slideLayouts/slideLayout96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7.xml"/><Relationship Id="rId3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9.xml"/><Relationship Id="rId5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1.xml"/><Relationship Id="rId7" Type="http://schemas.openxmlformats.org/officeDocument/2006/relationships/slideLayout" Target="../slideLayouts/slideLayout102.xml"/><Relationship Id="rId8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4.xml"/><Relationship Id="rId10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06.xml"/><Relationship Id="rId12" Type="http://schemas.openxmlformats.org/officeDocument/2006/relationships/slideLayout" Target="../slideLayouts/slideLayout107.xml"/><Relationship Id="rId13" Type="http://schemas.openxmlformats.org/officeDocument/2006/relationships/slideLayout" Target="../slideLayouts/slideLayout108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9.xml"/><Relationship Id="rId3" Type="http://schemas.openxmlformats.org/officeDocument/2006/relationships/slideLayout" Target="../slideLayouts/slideLayout110.xml"/><Relationship Id="rId4" Type="http://schemas.openxmlformats.org/officeDocument/2006/relationships/slideLayout" Target="../slideLayouts/slideLayout111.xml"/><Relationship Id="rId5" Type="http://schemas.openxmlformats.org/officeDocument/2006/relationships/slideLayout" Target="../slideLayouts/slideLayout112.xml"/><Relationship Id="rId6" Type="http://schemas.openxmlformats.org/officeDocument/2006/relationships/slideLayout" Target="../slideLayouts/slideLayout113.xml"/><Relationship Id="rId7" Type="http://schemas.openxmlformats.org/officeDocument/2006/relationships/slideLayout" Target="../slideLayouts/slideLayout114.xml"/><Relationship Id="rId8" Type="http://schemas.openxmlformats.org/officeDocument/2006/relationships/slideLayout" Target="../slideLayouts/slideLayout115.xml"/><Relationship Id="rId9" Type="http://schemas.openxmlformats.org/officeDocument/2006/relationships/slideLayout" Target="../slideLayouts/slideLayout116.xml"/><Relationship Id="rId10" Type="http://schemas.openxmlformats.org/officeDocument/2006/relationships/slideLayout" Target="../slideLayouts/slideLayout117.xml"/><Relationship Id="rId11" Type="http://schemas.openxmlformats.org/officeDocument/2006/relationships/slideLayout" Target="../slideLayouts/slideLayout118.xml"/><Relationship Id="rId12" Type="http://schemas.openxmlformats.org/officeDocument/2006/relationships/slideLayout" Target="../slideLayouts/slideLayout119.xml"/><Relationship Id="rId13" Type="http://schemas.openxmlformats.org/officeDocument/2006/relationships/slideLayout" Target="../slideLayouts/slideLayout12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21.xml"/><Relationship Id="rId3" Type="http://schemas.openxmlformats.org/officeDocument/2006/relationships/slideLayout" Target="../slideLayouts/slideLayout122.xml"/><Relationship Id="rId4" Type="http://schemas.openxmlformats.org/officeDocument/2006/relationships/slideLayout" Target="../slideLayouts/slideLayout123.xml"/><Relationship Id="rId5" Type="http://schemas.openxmlformats.org/officeDocument/2006/relationships/slideLayout" Target="../slideLayouts/slideLayout124.xml"/><Relationship Id="rId6" Type="http://schemas.openxmlformats.org/officeDocument/2006/relationships/slideLayout" Target="../slideLayouts/slideLayout125.xml"/><Relationship Id="rId7" Type="http://schemas.openxmlformats.org/officeDocument/2006/relationships/slideLayout" Target="../slideLayouts/slideLayout126.xml"/><Relationship Id="rId8" Type="http://schemas.openxmlformats.org/officeDocument/2006/relationships/slideLayout" Target="../slideLayouts/slideLayout127.xml"/><Relationship Id="rId9" Type="http://schemas.openxmlformats.org/officeDocument/2006/relationships/slideLayout" Target="../slideLayouts/slideLayout128.xml"/><Relationship Id="rId10" Type="http://schemas.openxmlformats.org/officeDocument/2006/relationships/slideLayout" Target="../slideLayouts/slideLayout129.xml"/><Relationship Id="rId11" Type="http://schemas.openxmlformats.org/officeDocument/2006/relationships/slideLayout" Target="../slideLayouts/slideLayout130.xml"/><Relationship Id="rId12" Type="http://schemas.openxmlformats.org/officeDocument/2006/relationships/slideLayout" Target="../slideLayouts/slideLayout131.xml"/><Relationship Id="rId13" Type="http://schemas.openxmlformats.org/officeDocument/2006/relationships/slideLayout" Target="../slideLayouts/slideLayout13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2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6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0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  <p:sldLayoutId id="2147483763" r:id="rId12"/>
    <p:sldLayoutId id="2147483764" r:id="rId1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4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  <p:sldLayoutId id="2147483776" r:id="rId12"/>
    <p:sldLayoutId id="2147483777" r:id="rId13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8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79" r:id="rId2"/>
    <p:sldLayoutId id="2147483780" r:id="rId3"/>
    <p:sldLayoutId id="2147483781" r:id="rId4"/>
    <p:sldLayoutId id="2147483782" r:id="rId5"/>
    <p:sldLayoutId id="2147483783" r:id="rId6"/>
    <p:sldLayoutId id="2147483784" r:id="rId7"/>
    <p:sldLayoutId id="2147483785" r:id="rId8"/>
    <p:sldLayoutId id="2147483786" r:id="rId9"/>
    <p:sldLayoutId id="2147483787" r:id="rId10"/>
    <p:sldLayoutId id="2147483788" r:id="rId11"/>
    <p:sldLayoutId id="2147483789" r:id="rId12"/>
    <p:sldLayoutId id="214748379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7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5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5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7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7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9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5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5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9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jpeg"/><Relationship Id="rId4" Type="http://schemas.openxmlformats.org/officeDocument/2006/relationships/slideLayout" Target="../slideLayouts/slideLayout6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1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9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9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CustomShape 1"/>
          <p:cNvSpPr/>
          <p:nvPr/>
        </p:nvSpPr>
        <p:spPr>
          <a:xfrm>
            <a:off x="0" y="0"/>
            <a:ext cx="10079280" cy="5668920"/>
          </a:xfrm>
          <a:custGeom>
            <a:avLst/>
            <a:gdLst/>
            <a:ah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tretch>
              <a:fillRect l="504876" t="108424" r="0" b="108424"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419" name="Group 2"/>
          <p:cNvGrpSpPr/>
          <p:nvPr/>
        </p:nvGrpSpPr>
        <p:grpSpPr>
          <a:xfrm>
            <a:off x="487800" y="2381040"/>
            <a:ext cx="9114120" cy="2871720"/>
            <a:chOff x="487800" y="2381040"/>
            <a:chExt cx="9114120" cy="2871720"/>
          </a:xfrm>
        </p:grpSpPr>
        <p:sp>
          <p:nvSpPr>
            <p:cNvPr id="420" name="CustomShape 3"/>
            <p:cNvSpPr/>
            <p:nvPr/>
          </p:nvSpPr>
          <p:spPr>
            <a:xfrm>
              <a:off x="487800" y="2691000"/>
              <a:ext cx="9114120" cy="2561760"/>
            </a:xfrm>
            <a:custGeom>
              <a:avLst/>
              <a:gdLst/>
              <a:ahLst/>
              <a:rect l="l" t="t" r="r" b="b"/>
              <a:pathLst>
                <a:path w="2799908" h="787268">
                  <a:moveTo>
                    <a:pt x="12806" y="0"/>
                  </a:moveTo>
                  <a:lnTo>
                    <a:pt x="2787102" y="0"/>
                  </a:lnTo>
                  <a:cubicBezTo>
                    <a:pt x="2790498" y="0"/>
                    <a:pt x="2793755" y="1349"/>
                    <a:pt x="2796157" y="3751"/>
                  </a:cubicBezTo>
                  <a:cubicBezTo>
                    <a:pt x="2798559" y="6152"/>
                    <a:pt x="2799908" y="9410"/>
                    <a:pt x="2799908" y="12806"/>
                  </a:cubicBezTo>
                  <a:lnTo>
                    <a:pt x="2799908" y="774461"/>
                  </a:lnTo>
                  <a:cubicBezTo>
                    <a:pt x="2799908" y="777858"/>
                    <a:pt x="2798559" y="781115"/>
                    <a:pt x="2796157" y="783517"/>
                  </a:cubicBezTo>
                  <a:cubicBezTo>
                    <a:pt x="2793755" y="785918"/>
                    <a:pt x="2790498" y="787268"/>
                    <a:pt x="2787102" y="787268"/>
                  </a:cubicBezTo>
                  <a:lnTo>
                    <a:pt x="12806" y="787268"/>
                  </a:lnTo>
                  <a:cubicBezTo>
                    <a:pt x="9410" y="787268"/>
                    <a:pt x="6152" y="785918"/>
                    <a:pt x="3751" y="783517"/>
                  </a:cubicBezTo>
                  <a:cubicBezTo>
                    <a:pt x="1349" y="781115"/>
                    <a:pt x="0" y="777858"/>
                    <a:pt x="0" y="774461"/>
                  </a:cubicBezTo>
                  <a:lnTo>
                    <a:pt x="0" y="12806"/>
                  </a:lnTo>
                  <a:cubicBezTo>
                    <a:pt x="0" y="9410"/>
                    <a:pt x="1349" y="6152"/>
                    <a:pt x="3751" y="3751"/>
                  </a:cubicBezTo>
                  <a:cubicBezTo>
                    <a:pt x="6152" y="1349"/>
                    <a:pt x="9410" y="0"/>
                    <a:pt x="12806" y="0"/>
                  </a:cubicBezTo>
                  <a:close/>
                </a:path>
              </a:pathLst>
            </a:custGeom>
            <a:solidFill>
              <a:srgbClr val="b49759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21" name="CustomShape 4"/>
            <p:cNvSpPr/>
            <p:nvPr/>
          </p:nvSpPr>
          <p:spPr>
            <a:xfrm>
              <a:off x="487800" y="2381040"/>
              <a:ext cx="9114120" cy="287172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422" name="CustomShape 5"/>
          <p:cNvSpPr/>
          <p:nvPr/>
        </p:nvSpPr>
        <p:spPr>
          <a:xfrm>
            <a:off x="2883960" y="2837880"/>
            <a:ext cx="4311000" cy="45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 algn="ctr">
              <a:lnSpc>
                <a:spcPts val="3600"/>
              </a:lnSpc>
            </a:pPr>
            <a:r>
              <a:rPr b="1" lang="en-US" sz="2570" spc="41" strike="noStrike">
                <a:solidFill>
                  <a:srgbClr val="ffffff"/>
                </a:solidFill>
                <a:latin typeface="Poppins Bold"/>
                <a:ea typeface="Poppins Bold"/>
              </a:rPr>
              <a:t>Dr. Clint Staley (C’80)</a:t>
            </a:r>
            <a:endParaRPr b="0" lang="en-US" sz="2570" spc="-1" strike="noStrike">
              <a:latin typeface="Arial"/>
            </a:endParaRPr>
          </a:p>
        </p:txBody>
      </p:sp>
      <p:sp>
        <p:nvSpPr>
          <p:cNvPr id="423" name="CustomShape 6"/>
          <p:cNvSpPr/>
          <p:nvPr/>
        </p:nvSpPr>
        <p:spPr>
          <a:xfrm>
            <a:off x="629280" y="3382560"/>
            <a:ext cx="8820360" cy="2132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 algn="ctr">
              <a:lnSpc>
                <a:spcPts val="3359"/>
              </a:lnSpc>
            </a:pPr>
            <a:r>
              <a:rPr b="0" lang="en-US" sz="2400" spc="38" strike="noStrike">
                <a:solidFill>
                  <a:srgbClr val="ffffff"/>
                </a:solidFill>
                <a:latin typeface="Poppins"/>
                <a:ea typeface="Poppins"/>
              </a:rPr>
              <a:t>Principia Lifelong Learning Faculty </a:t>
            </a:r>
            <a:endParaRPr b="0" lang="en-US" sz="2400" spc="-1" strike="noStrike">
              <a:latin typeface="Arial"/>
            </a:endParaRPr>
          </a:p>
          <a:p>
            <a:pPr algn="ctr">
              <a:lnSpc>
                <a:spcPts val="3359"/>
              </a:lnSpc>
            </a:pPr>
            <a:r>
              <a:rPr b="0" lang="en-US" sz="2400" spc="38" strike="noStrike">
                <a:solidFill>
                  <a:srgbClr val="ffffff"/>
                </a:solidFill>
                <a:latin typeface="Poppins"/>
                <a:ea typeface="Poppins"/>
              </a:rPr>
              <a:t>Former Principia College Computer Science Professor</a:t>
            </a:r>
            <a:endParaRPr b="0" lang="en-US" sz="2400" spc="-1" strike="noStrike">
              <a:latin typeface="Arial"/>
            </a:endParaRPr>
          </a:p>
          <a:p>
            <a:pPr algn="ctr">
              <a:lnSpc>
                <a:spcPts val="3359"/>
              </a:lnSpc>
            </a:pPr>
            <a:r>
              <a:rPr b="0" lang="en-US" sz="2400" spc="38" strike="noStrike">
                <a:solidFill>
                  <a:srgbClr val="ffffff"/>
                </a:solidFill>
                <a:latin typeface="Poppins"/>
                <a:ea typeface="Poppins"/>
              </a:rPr>
              <a:t>Professor of STEM, UATX</a:t>
            </a:r>
            <a:endParaRPr b="0" lang="en-US" sz="2400" spc="-1" strike="noStrike">
              <a:latin typeface="Arial"/>
            </a:endParaRPr>
          </a:p>
          <a:p>
            <a:pPr algn="ctr">
              <a:lnSpc>
                <a:spcPts val="3359"/>
              </a:lnSpc>
            </a:pPr>
            <a:r>
              <a:rPr b="0" lang="en-US" sz="2400" spc="38" strike="noStrike">
                <a:solidFill>
                  <a:srgbClr val="ffffff"/>
                </a:solidFill>
                <a:latin typeface="Poppins"/>
                <a:ea typeface="Poppins"/>
              </a:rPr>
              <a:t>CSC Professor Emeritus, Cal Poly SLO</a:t>
            </a:r>
            <a:endParaRPr b="0" lang="en-US" sz="2400" spc="-1" strike="noStrike">
              <a:latin typeface="Arial"/>
            </a:endParaRPr>
          </a:p>
          <a:p>
            <a:pPr algn="ctr">
              <a:lnSpc>
                <a:spcPts val="3359"/>
              </a:lnSpc>
            </a:pPr>
            <a:endParaRPr b="0" lang="en-US" sz="2400" spc="-1" strike="noStrike">
              <a:latin typeface="Arial"/>
            </a:endParaRPr>
          </a:p>
        </p:txBody>
      </p:sp>
      <p:sp>
        <p:nvSpPr>
          <p:cNvPr id="424" name="CustomShape 7"/>
          <p:cNvSpPr/>
          <p:nvPr/>
        </p:nvSpPr>
        <p:spPr>
          <a:xfrm>
            <a:off x="311040" y="186480"/>
            <a:ext cx="9542880" cy="2014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 algn="ctr">
              <a:lnSpc>
                <a:spcPts val="5289"/>
              </a:lnSpc>
            </a:pPr>
            <a:r>
              <a:rPr b="1" lang="en-US" sz="3200" spc="66" strike="noStrike">
                <a:solidFill>
                  <a:srgbClr val="67d4d8"/>
                </a:solidFill>
                <a:latin typeface="Poppins Bold"/>
                <a:ea typeface="Poppins Bold"/>
              </a:rPr>
              <a:t>AI FOR EVERYONE: </a:t>
            </a:r>
            <a:endParaRPr b="0" lang="en-US" sz="3200" spc="-1" strike="noStrike">
              <a:latin typeface="Arial"/>
            </a:endParaRPr>
          </a:p>
          <a:p>
            <a:pPr algn="ctr">
              <a:lnSpc>
                <a:spcPts val="5289"/>
              </a:lnSpc>
            </a:pPr>
            <a:r>
              <a:rPr b="1" lang="en-US" sz="3200" spc="66" strike="noStrike">
                <a:solidFill>
                  <a:srgbClr val="67d4d8"/>
                </a:solidFill>
                <a:latin typeface="Poppins Bold"/>
                <a:ea typeface="Poppins Bold"/>
              </a:rPr>
              <a:t>EXPLORING THE POWER AND IMPACT OF ARTIFICIAL INTELLIGENCE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CustomShape 1"/>
          <p:cNvSpPr/>
          <p:nvPr/>
        </p:nvSpPr>
        <p:spPr>
          <a:xfrm>
            <a:off x="504000" y="226080"/>
            <a:ext cx="9071280" cy="945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Possible AI Topics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26" name="CustomShape 2"/>
          <p:cNvSpPr/>
          <p:nvPr/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56000"/>
          </a:bodyPr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ChatGPT and its siblings</a:t>
            </a:r>
            <a:endParaRPr b="0" lang="en-US" sz="32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Other important forms of AI</a:t>
            </a:r>
            <a:endParaRPr b="0" lang="en-US" sz="32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How AI software “thinks”</a:t>
            </a:r>
            <a:endParaRPr b="0" lang="en-US" sz="32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History of AI development</a:t>
            </a:r>
            <a:endParaRPr b="0" lang="en-US" sz="32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Social and economic challenges of AI</a:t>
            </a:r>
            <a:endParaRPr b="0" lang="en-US" sz="32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Deep questions about the nature of intelligence</a:t>
            </a:r>
            <a:endParaRPr b="0" lang="en-US" sz="32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Technical discussion of current AI research</a:t>
            </a:r>
            <a:endParaRPr b="0" lang="en-US" sz="3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CustomShape 1"/>
          <p:cNvSpPr/>
          <p:nvPr/>
        </p:nvSpPr>
        <p:spPr>
          <a:xfrm>
            <a:off x="504000" y="226080"/>
            <a:ext cx="9071280" cy="945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ChatGPT and “LLM”s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28" name="CustomShape 2"/>
          <p:cNvSpPr/>
          <p:nvPr/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 marL="432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ChatGPT is one of a family of Large Language Models</a:t>
            </a:r>
            <a:endParaRPr b="0" lang="en-US" sz="28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Many LLMs available</a:t>
            </a:r>
            <a:endParaRPr b="0" lang="en-US" sz="28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DejaVu Sans"/>
              </a:rPr>
              <a:t>ChatGPT (OpenAI), Claude (Anthropic), Grok (X), R1 (DeepSeek), Gemini (Google)</a:t>
            </a:r>
            <a:endParaRPr b="0" lang="en-US" sz="22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Access is via simple, freemium websites</a:t>
            </a:r>
            <a:endParaRPr b="0" lang="en-US" sz="28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“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Talk” in text-chat form with what seems like a very knowledgeable human, but is a program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CustomShape 1"/>
          <p:cNvSpPr/>
          <p:nvPr/>
        </p:nvSpPr>
        <p:spPr>
          <a:xfrm>
            <a:off x="504000" y="226080"/>
            <a:ext cx="9069480" cy="943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Typical LLM Uses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30" name="CustomShape 2"/>
          <p:cNvSpPr/>
          <p:nvPr/>
        </p:nvSpPr>
        <p:spPr>
          <a:xfrm>
            <a:off x="504000" y="1326600"/>
            <a:ext cx="9069480" cy="3286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 marL="432000" indent="-3214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Comprehensive web search</a:t>
            </a:r>
            <a:endParaRPr b="0" lang="en-US" sz="2600" spc="-1" strike="noStrike">
              <a:latin typeface="Arial"/>
            </a:endParaRPr>
          </a:p>
          <a:p>
            <a:pPr marL="432000" indent="-3214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Summarizing and analyzing documents </a:t>
            </a:r>
            <a:endParaRPr b="0" lang="en-US" sz="2600" spc="-1" strike="noStrike">
              <a:latin typeface="Arial"/>
            </a:endParaRPr>
          </a:p>
          <a:p>
            <a:pPr marL="432000" indent="-3214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Generating or editing prose </a:t>
            </a:r>
            <a:endParaRPr b="0" lang="en-US" sz="2600" spc="-1" strike="noStrike">
              <a:latin typeface="Arial"/>
            </a:endParaRPr>
          </a:p>
          <a:p>
            <a:pPr marL="432000" indent="-3214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Tutorial discussions </a:t>
            </a:r>
            <a:endParaRPr b="0" lang="en-US" sz="2600" spc="-1" strike="noStrike">
              <a:latin typeface="Arial"/>
            </a:endParaRPr>
          </a:p>
          <a:p>
            <a:pPr marL="432000" indent="-3214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Brainstorming and recommendations</a:t>
            </a:r>
            <a:endParaRPr b="0" lang="en-US" sz="2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134"/>
              </a:spcBef>
            </a:pPr>
            <a:endParaRPr b="0" lang="en-US" sz="2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CustomShape 1"/>
          <p:cNvSpPr/>
          <p:nvPr/>
        </p:nvSpPr>
        <p:spPr>
          <a:xfrm>
            <a:off x="504000" y="226080"/>
            <a:ext cx="9071280" cy="945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LLM Use “How To”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32" name="CustomShape 2"/>
          <p:cNvSpPr/>
          <p:nvPr/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44000"/>
          </a:bodyPr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It’s all about the prompt(s)</a:t>
            </a:r>
            <a:endParaRPr b="0" lang="en-US" sz="32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More than a question.  Can include information, like documents, photos, etc.</a:t>
            </a:r>
            <a:endParaRPr b="0" lang="en-US" sz="26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LLM “knows” info only at the time of training, sometimes years earlier.  Prompt gives current details.</a:t>
            </a:r>
            <a:endParaRPr b="0" lang="en-US" sz="26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Not just one prompt – engage in conversation.  Entire conversation is “input” for each chat</a:t>
            </a:r>
            <a:endParaRPr b="0" lang="en-US" sz="26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Depth of remembered conversation varies by LLM – 1,000 words to 100,000</a:t>
            </a:r>
            <a:endParaRPr b="0" lang="en-US" sz="26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LLM’s “hallucinate”, often very confidently</a:t>
            </a:r>
            <a:endParaRPr b="0" lang="en-US" sz="26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Check critical facts</a:t>
            </a:r>
            <a:endParaRPr b="0" lang="en-US" sz="26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Scan generated material for oddities</a:t>
            </a:r>
            <a:endParaRPr b="0" lang="en-US" sz="2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CustomShape 1"/>
          <p:cNvSpPr/>
          <p:nvPr/>
        </p:nvSpPr>
        <p:spPr>
          <a:xfrm>
            <a:off x="504000" y="226080"/>
            <a:ext cx="9071280" cy="945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Example Uses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34" name="CustomShape 2"/>
          <p:cNvSpPr/>
          <p:nvPr/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84000"/>
          </a:bodyPr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Better web hunt – advice on furniture problem</a:t>
            </a:r>
            <a:endParaRPr b="0" lang="en-US" sz="32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Gives full description, various solutions, etc. (and it worked!)</a:t>
            </a:r>
            <a:endParaRPr b="0" lang="en-US" sz="28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Document summary/analysis – IP agreement</a:t>
            </a:r>
            <a:endParaRPr b="0" lang="en-US" sz="32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Prompt includes entire document</a:t>
            </a:r>
            <a:endParaRPr b="0" lang="en-US" sz="28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Summarizes, points out issues, correctly evaluates</a:t>
            </a:r>
            <a:endParaRPr b="0" lang="en-US" sz="28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(But check for accuracy!)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134"/>
              </a:spcBef>
            </a:pP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CustomShape 1"/>
          <p:cNvSpPr/>
          <p:nvPr/>
        </p:nvSpPr>
        <p:spPr>
          <a:xfrm>
            <a:off x="504000" y="226080"/>
            <a:ext cx="9071280" cy="945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Example Uses, cont..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36" name="CustomShape 2"/>
          <p:cNvSpPr/>
          <p:nvPr/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Editing prose – remove passive voice</a:t>
            </a:r>
            <a:endParaRPr b="0" lang="en-US" sz="32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Understands grammar, style</a:t>
            </a:r>
            <a:endParaRPr b="0" lang="en-US" sz="28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Example revision for PV is correct, succinct</a:t>
            </a:r>
            <a:endParaRPr b="0" lang="en-US" sz="28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Brainstorming – name a cat</a:t>
            </a:r>
            <a:endParaRPr b="0" lang="en-US" sz="32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Sometimes offers silly suggestions with good ones</a:t>
            </a:r>
            <a:endParaRPr b="0" lang="en-US" sz="28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Will often come up with ideas you didn’t think of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CustomShape 1"/>
          <p:cNvSpPr/>
          <p:nvPr/>
        </p:nvSpPr>
        <p:spPr>
          <a:xfrm>
            <a:off x="504000" y="226080"/>
            <a:ext cx="9071280" cy="945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Example Uses, cont..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38" name="CustomShape 2"/>
          <p:cNvSpPr/>
          <p:nvPr/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45000"/>
          </a:bodyPr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Write standard documents – reference letter</a:t>
            </a:r>
            <a:endParaRPr b="0" lang="en-US" sz="32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Prompt should include particular details, and general instructions</a:t>
            </a:r>
            <a:endParaRPr b="0" lang="en-US" sz="28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Can reuse prompt over and over w/ adjustments</a:t>
            </a:r>
            <a:endParaRPr b="0" lang="en-US" sz="28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Good at first drafts, but needs final polish (3</a:t>
            </a:r>
            <a:r>
              <a:rPr b="0" lang="en-US" sz="2800" spc="-1" strike="noStrike" baseline="14000000">
                <a:solidFill>
                  <a:srgbClr val="000000"/>
                </a:solidFill>
                <a:latin typeface="Arial"/>
                <a:ea typeface="DejaVu Sans"/>
              </a:rPr>
              <a:t>rd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 paragraph, for instance)</a:t>
            </a:r>
            <a:endParaRPr b="0" lang="en-US" sz="28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Tutorial Study – hierarchical Bayes’ analysis</a:t>
            </a:r>
            <a:endParaRPr b="0" lang="en-US" sz="32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Gives good “textbook” summaries and explanations</a:t>
            </a:r>
            <a:endParaRPr b="0" lang="en-US" sz="28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Also response intuitively to questions</a:t>
            </a:r>
            <a:endParaRPr b="0" lang="en-US" sz="28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Wide ranging knowledge – like talking with universal graduate TA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CustomShape 1"/>
          <p:cNvSpPr/>
          <p:nvPr/>
        </p:nvSpPr>
        <p:spPr>
          <a:xfrm>
            <a:off x="504000" y="226080"/>
            <a:ext cx="9071280" cy="945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Other AI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40" name="CustomShape 2"/>
          <p:cNvSpPr/>
          <p:nvPr/>
        </p:nvSpPr>
        <p:spPr>
          <a:xfrm>
            <a:off x="504000" y="1320120"/>
            <a:ext cx="9071280" cy="3287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70000"/>
          </a:bodyPr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Same principles of training and numerical patterns, but different designs and purposes.</a:t>
            </a:r>
            <a:endParaRPr b="0" lang="en-US" sz="20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Diffusion Models</a:t>
            </a:r>
            <a:endParaRPr b="0" lang="en-US" sz="20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Generated movies in our intro</a:t>
            </a:r>
            <a:endParaRPr b="0" lang="en-US" sz="20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Reinforcement Learning (RL)</a:t>
            </a:r>
            <a:endParaRPr b="0" lang="en-US" sz="20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Self-instructing.  Requires automatically generable feedback.</a:t>
            </a:r>
            <a:endParaRPr b="0" lang="en-US" sz="20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Alpha Go example</a:t>
            </a:r>
            <a:endParaRPr b="0" lang="en-US" sz="20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Physical AI</a:t>
            </a:r>
            <a:endParaRPr b="0" lang="en-US" sz="20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Convolutional Neural Networks” or CNNs</a:t>
            </a:r>
            <a:endParaRPr b="0" lang="en-US" sz="20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Self-driving cars, robotics, face recognition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CustomShape 1"/>
          <p:cNvSpPr/>
          <p:nvPr/>
        </p:nvSpPr>
        <p:spPr>
          <a:xfrm>
            <a:off x="504000" y="226080"/>
            <a:ext cx="9071280" cy="945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Example Uses – Other AI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42" name="CustomShape 2"/>
          <p:cNvSpPr/>
          <p:nvPr/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51000"/>
          </a:bodyPr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Artistic creativity – funny image</a:t>
            </a:r>
            <a:endParaRPr b="0" lang="en-US" sz="32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“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Diffusion model”, e.g. DALL-E, Sora</a:t>
            </a:r>
            <a:endParaRPr b="0" lang="en-US" sz="28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Photos, short movie clips</a:t>
            </a:r>
            <a:endParaRPr b="0" lang="en-US" sz="28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May need feedback and adjustment, and may hallucinate</a:t>
            </a:r>
            <a:endParaRPr b="0" lang="en-US" sz="28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(Term “hallucination” originates with this type of AI)</a:t>
            </a:r>
            <a:endParaRPr b="0" lang="en-US" sz="28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Generate audio of text </a:t>
            </a:r>
            <a:r>
              <a:rPr b="1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in your own voice</a:t>
            </a:r>
            <a:endParaRPr b="0" lang="en-US" sz="32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Very convincing</a:t>
            </a:r>
            <a:endParaRPr b="0" lang="en-US" sz="28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Note that this means voices are not representative e.g. on phone calls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CustomShape 1"/>
          <p:cNvSpPr/>
          <p:nvPr/>
        </p:nvSpPr>
        <p:spPr>
          <a:xfrm>
            <a:off x="504000" y="226080"/>
            <a:ext cx="9071280" cy="945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Higher “Reasoning” in LLMs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44" name="CustomShape 2"/>
          <p:cNvSpPr/>
          <p:nvPr/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49000"/>
          </a:bodyPr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Intuitively understanding higher math (math tutorial example)</a:t>
            </a:r>
            <a:endParaRPr b="0" lang="en-US" sz="32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Writing and Revising a Story</a:t>
            </a:r>
            <a:endParaRPr b="0" lang="en-US" sz="32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Understands the context of the story</a:t>
            </a:r>
            <a:endParaRPr b="0" lang="en-US" sz="28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Summarizes; changes style</a:t>
            </a:r>
            <a:endParaRPr b="0" lang="en-US" sz="28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Analyzing humorous images</a:t>
            </a:r>
            <a:endParaRPr b="0" lang="en-US" sz="28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“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Gets” the humor</a:t>
            </a:r>
            <a:endParaRPr b="0" lang="en-US" sz="28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Theory of Mind</a:t>
            </a:r>
            <a:endParaRPr b="0" lang="en-US" sz="28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Can empathize and visualize what’s in people’s minds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CustomShape 1"/>
          <p:cNvSpPr/>
          <p:nvPr/>
        </p:nvSpPr>
        <p:spPr>
          <a:xfrm>
            <a:off x="503640" y="182520"/>
            <a:ext cx="9065520" cy="941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An LLM Is </a:t>
            </a:r>
            <a:r>
              <a:rPr b="0" i="1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Not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46" name="CustomShape 2"/>
          <p:cNvSpPr/>
          <p:nvPr/>
        </p:nvSpPr>
        <p:spPr>
          <a:xfrm>
            <a:off x="503640" y="1096920"/>
            <a:ext cx="9065520" cy="3511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62000"/>
          </a:bodyPr>
          <a:p>
            <a:pPr marL="432000" indent="-3189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An improved search engine</a:t>
            </a:r>
            <a:endParaRPr b="0" lang="en-US" sz="3200" spc="-1" strike="noStrike">
              <a:latin typeface="Arial"/>
            </a:endParaRPr>
          </a:p>
          <a:p>
            <a:pPr lvl="1" marL="864000" indent="-3189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Is able to web-search when useful, but…</a:t>
            </a:r>
            <a:endParaRPr b="0" lang="en-US" sz="2600" spc="-1" strike="noStrike">
              <a:latin typeface="Arial"/>
            </a:endParaRPr>
          </a:p>
          <a:p>
            <a:pPr lvl="1" marL="864000" indent="-3189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… </a:t>
            </a: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can work unplugged from the internet</a:t>
            </a:r>
            <a:endParaRPr b="0" lang="en-US" sz="2600" spc="-1" strike="noStrike">
              <a:latin typeface="Arial"/>
            </a:endParaRPr>
          </a:p>
          <a:p>
            <a:pPr marL="432000" indent="-3189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Hand-crafted code</a:t>
            </a:r>
            <a:endParaRPr b="0" lang="en-US" sz="3200" spc="-1" strike="noStrike">
              <a:latin typeface="Arial"/>
            </a:endParaRPr>
          </a:p>
          <a:p>
            <a:pPr lvl="1" marL="864000" indent="-3189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No programming specific to the questions/answers</a:t>
            </a:r>
            <a:endParaRPr b="0" lang="en-US" sz="2600" spc="-1" strike="noStrike">
              <a:latin typeface="Arial"/>
            </a:endParaRPr>
          </a:p>
          <a:p>
            <a:pPr lvl="1" marL="864000" indent="-3189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Could be written in one page of code – </a:t>
            </a:r>
            <a:r>
              <a:rPr b="1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12 equations</a:t>
            </a:r>
            <a:endParaRPr b="0" lang="en-US" sz="2600" spc="-1" strike="noStrike">
              <a:latin typeface="Arial"/>
            </a:endParaRPr>
          </a:p>
          <a:p>
            <a:pPr marL="432000" indent="-3189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The whole modern AI story</a:t>
            </a:r>
            <a:endParaRPr b="0" lang="en-US" sz="3200" spc="-1" strike="noStrike">
              <a:latin typeface="Arial"/>
            </a:endParaRPr>
          </a:p>
          <a:p>
            <a:pPr lvl="1" marL="864000" indent="-3189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Important other areas are making major advances too, e.g. “reinforcement learning”, computer vision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CustomShape 1"/>
          <p:cNvSpPr/>
          <p:nvPr/>
        </p:nvSpPr>
        <p:spPr>
          <a:xfrm>
            <a:off x="503640" y="225720"/>
            <a:ext cx="9065520" cy="941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An LLM </a:t>
            </a:r>
            <a:r>
              <a:rPr b="0" i="1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Is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48" name="CustomShape 2"/>
          <p:cNvSpPr/>
          <p:nvPr/>
        </p:nvSpPr>
        <p:spPr>
          <a:xfrm>
            <a:off x="503640" y="1326240"/>
            <a:ext cx="9065520" cy="3282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27000"/>
          </a:bodyPr>
          <a:p>
            <a:pPr marL="432000" indent="-3189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A sophisticated mathematical engine</a:t>
            </a:r>
            <a:endParaRPr b="0" lang="en-US" sz="3200" spc="-1" strike="noStrike">
              <a:latin typeface="Arial"/>
            </a:endParaRPr>
          </a:p>
          <a:p>
            <a:pPr lvl="1" marL="864000" indent="-3189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12 equations, but on “matrices” – huge grids of numbers</a:t>
            </a:r>
            <a:endParaRPr b="0" lang="en-US" sz="3200" spc="-1" strike="noStrike">
              <a:latin typeface="Arial"/>
            </a:endParaRPr>
          </a:p>
          <a:p>
            <a:pPr lvl="1" marL="864000" indent="-3189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From 10 billion to over 1 trillion numbers</a:t>
            </a:r>
            <a:endParaRPr b="0" lang="en-US" sz="3200" spc="-1" strike="noStrike">
              <a:latin typeface="Arial"/>
            </a:endParaRPr>
          </a:p>
          <a:p>
            <a:pPr lvl="1" marL="864000" indent="-3189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The “intelligence” is in those numbers (aka weights or parameters)</a:t>
            </a:r>
            <a:endParaRPr b="0" lang="en-US" sz="3200" spc="-1" strike="noStrike">
              <a:latin typeface="Arial"/>
            </a:endParaRPr>
          </a:p>
          <a:p>
            <a:pPr marL="432000" indent="-3189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Self-organizing!</a:t>
            </a:r>
            <a:endParaRPr b="0" lang="en-US" sz="3200" spc="-1" strike="noStrike">
              <a:latin typeface="Arial"/>
            </a:endParaRPr>
          </a:p>
          <a:p>
            <a:pPr lvl="1" marL="864000" indent="-3189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The weights are “trained” by incremental adjustment </a:t>
            </a:r>
            <a:endParaRPr b="0" lang="en-US" sz="3200" spc="-1" strike="noStrike">
              <a:latin typeface="Arial"/>
            </a:endParaRPr>
          </a:p>
          <a:p>
            <a:pPr lvl="4" marL="1080000" indent="-2145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First, to match known texts</a:t>
            </a:r>
            <a:endParaRPr b="0" lang="en-US" sz="3200" spc="-1" strike="noStrike">
              <a:latin typeface="Arial"/>
            </a:endParaRPr>
          </a:p>
          <a:p>
            <a:pPr lvl="4" marL="1080000" indent="-2145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Then to adjust to human feedback given by RLHF</a:t>
            </a:r>
            <a:endParaRPr b="0" lang="en-US" sz="3200" spc="-1" strike="noStrike">
              <a:latin typeface="Arial"/>
            </a:endParaRPr>
          </a:p>
          <a:p>
            <a:pPr marL="432000" indent="-3189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Humans design the training process and the equations, but not the weights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CustomShape 1"/>
          <p:cNvSpPr/>
          <p:nvPr/>
        </p:nvSpPr>
        <p:spPr>
          <a:xfrm>
            <a:off x="504000" y="82080"/>
            <a:ext cx="9066960" cy="941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Word/Idea “Embedding”</a:t>
            </a:r>
            <a:endParaRPr b="0" lang="en-US" sz="4400" spc="-1" strike="noStrike">
              <a:latin typeface="Arial"/>
            </a:endParaRPr>
          </a:p>
        </p:txBody>
      </p:sp>
      <p:pic>
        <p:nvPicPr>
          <p:cNvPr id="450" name="" descr=""/>
          <p:cNvPicPr/>
          <p:nvPr/>
        </p:nvPicPr>
        <p:blipFill>
          <a:blip r:embed="rId1"/>
          <a:stretch/>
        </p:blipFill>
        <p:spPr>
          <a:xfrm>
            <a:off x="91440" y="909000"/>
            <a:ext cx="9872640" cy="2839320"/>
          </a:xfrm>
          <a:prstGeom prst="rect">
            <a:avLst/>
          </a:prstGeom>
          <a:ln>
            <a:noFill/>
          </a:ln>
        </p:spPr>
      </p:pic>
      <p:sp>
        <p:nvSpPr>
          <p:cNvPr id="451" name="CustomShape 2"/>
          <p:cNvSpPr/>
          <p:nvPr/>
        </p:nvSpPr>
        <p:spPr>
          <a:xfrm>
            <a:off x="526320" y="3987360"/>
            <a:ext cx="9068760" cy="1929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 marL="216000" indent="-2131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This is how an LLM represents words, phrases and ideas</a:t>
            </a:r>
            <a:endParaRPr b="0" lang="en-US" sz="2600" spc="-1" strike="noStrike">
              <a:latin typeface="Arial"/>
            </a:endParaRPr>
          </a:p>
          <a:p>
            <a:pPr marL="216000" indent="-2131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Each word has a number sequence – an “embedding”</a:t>
            </a:r>
            <a:endParaRPr b="0" lang="en-US" sz="2600" spc="-1" strike="noStrike">
              <a:latin typeface="Arial"/>
            </a:endParaRPr>
          </a:p>
          <a:p>
            <a:pPr marL="216000" indent="-2131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But, with 12,800 numbers per word – many conceptual dimensions</a:t>
            </a:r>
            <a:endParaRPr b="0" lang="en-US" sz="2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CustomShape 1"/>
          <p:cNvSpPr/>
          <p:nvPr/>
        </p:nvSpPr>
        <p:spPr>
          <a:xfrm>
            <a:off x="504000" y="226080"/>
            <a:ext cx="9066960" cy="941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How An LLM “Thinks”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53" name="CustomShape 2"/>
          <p:cNvSpPr/>
          <p:nvPr/>
        </p:nvSpPr>
        <p:spPr>
          <a:xfrm>
            <a:off x="504000" y="1326600"/>
            <a:ext cx="9066960" cy="3283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57000"/>
          </a:bodyPr>
          <a:p>
            <a:pPr marL="432000" indent="-3193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Starts with word embeddings representing words in your prompt and the current conversation.</a:t>
            </a:r>
            <a:endParaRPr b="0" lang="en-US" sz="3200" spc="-1" strike="noStrike">
              <a:latin typeface="Arial"/>
            </a:endParaRPr>
          </a:p>
          <a:p>
            <a:pPr marL="432000" indent="-3193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Combines words into higher 12,800-number patterns representing phrases, then sentences, etc.</a:t>
            </a:r>
            <a:endParaRPr b="0" lang="en-US" sz="3200" spc="-1" strike="noStrike">
              <a:latin typeface="Arial"/>
            </a:endParaRPr>
          </a:p>
          <a:p>
            <a:pPr marL="432000" indent="-3193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Predicts next “thought” as a number pattern and chooses closest next word.</a:t>
            </a:r>
            <a:endParaRPr b="0" lang="en-US" sz="3200" spc="-1" strike="noStrike">
              <a:latin typeface="Arial"/>
            </a:endParaRPr>
          </a:p>
          <a:p>
            <a:pPr marL="432000" indent="-3193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Repeat, word by word...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CustomShape 1"/>
          <p:cNvSpPr/>
          <p:nvPr/>
        </p:nvSpPr>
        <p:spPr>
          <a:xfrm>
            <a:off x="504000" y="226080"/>
            <a:ext cx="9066960" cy="941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The Weights </a:t>
            </a:r>
            <a:r>
              <a:rPr b="0" i="1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are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 the “Intelligence”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55" name="CustomShape 2"/>
          <p:cNvSpPr/>
          <p:nvPr/>
        </p:nvSpPr>
        <p:spPr>
          <a:xfrm>
            <a:off x="504000" y="1326600"/>
            <a:ext cx="9066960" cy="3283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 marL="432000" indent="-3193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All “reasoning” is by word/concept embeddings.</a:t>
            </a:r>
            <a:endParaRPr b="0" lang="en-US" sz="2800" spc="-1" strike="noStrike">
              <a:latin typeface="Arial"/>
            </a:endParaRPr>
          </a:p>
          <a:p>
            <a:pPr marL="432000" indent="-3193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And we (mostly) </a:t>
            </a:r>
            <a:r>
              <a:rPr b="0" i="1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don’t know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 what each weight does.   </a:t>
            </a:r>
            <a:endParaRPr b="0" lang="en-US" sz="2800" spc="-1" strike="noStrike">
              <a:latin typeface="Arial"/>
            </a:endParaRPr>
          </a:p>
          <a:p>
            <a:pPr marL="432000" indent="-3193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Could learn to converse in a language none of its programmers understand.</a:t>
            </a:r>
            <a:endParaRPr b="0" lang="en-US" sz="2800" spc="-1" strike="noStrike">
              <a:latin typeface="Arial"/>
            </a:endParaRPr>
          </a:p>
          <a:p>
            <a:pPr marL="432000" indent="-3193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Microsoft YaHei"/>
              </a:rPr>
              <a:t>Are world-models, theory of mind, etc. spontaneously emerging from the training? 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CustomShape 1"/>
          <p:cNvSpPr/>
          <p:nvPr/>
        </p:nvSpPr>
        <p:spPr>
          <a:xfrm>
            <a:off x="504000" y="226080"/>
            <a:ext cx="9066960" cy="941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Is an LLM Intelligent?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57" name="CustomShape 2"/>
          <p:cNvSpPr/>
          <p:nvPr/>
        </p:nvSpPr>
        <p:spPr>
          <a:xfrm>
            <a:off x="457200" y="1254600"/>
            <a:ext cx="9066960" cy="4044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51000"/>
          </a:bodyPr>
          <a:p>
            <a:pPr marL="432000" indent="-3193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“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Yes” arguments</a:t>
            </a:r>
            <a:endParaRPr b="0" lang="en-US" sz="3200" spc="-1" strike="noStrike">
              <a:latin typeface="Arial"/>
            </a:endParaRPr>
          </a:p>
          <a:p>
            <a:pPr lvl="1" marL="864000" indent="-3193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Microsoft YaHei"/>
              </a:rPr>
              <a:t>Vast possibilities in 1 trillion weights.  Printed out they’d be 4 million large books.</a:t>
            </a:r>
            <a:endParaRPr b="0" lang="en-US" sz="2800" spc="-1" strike="noStrike">
              <a:latin typeface="Arial"/>
            </a:endParaRPr>
          </a:p>
          <a:p>
            <a:pPr lvl="1" marL="864000" indent="-3193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Microsoft YaHei"/>
              </a:rPr>
              <a:t>Behavior suggests world-models, theory of mind, etc.</a:t>
            </a:r>
            <a:endParaRPr b="0" lang="en-US" sz="2800" spc="-1" strike="noStrike">
              <a:latin typeface="Arial"/>
            </a:endParaRPr>
          </a:p>
          <a:p>
            <a:pPr lvl="1" marL="864000" indent="-3193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Microsoft YaHei"/>
              </a:rPr>
              <a:t>(But, we really don’t know since we’re not sure how the weights work in detail)</a:t>
            </a:r>
            <a:endParaRPr b="0" lang="en-US" sz="2800" spc="-1" strike="noStrike">
              <a:latin typeface="Arial"/>
            </a:endParaRPr>
          </a:p>
          <a:p>
            <a:pPr marL="432000" indent="-3193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Microsoft YaHei"/>
              </a:rPr>
              <a:t>“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Microsoft YaHei"/>
              </a:rPr>
              <a:t>No” arguments</a:t>
            </a:r>
            <a:endParaRPr b="0" lang="en-US" sz="3200" spc="-1" strike="noStrike">
              <a:latin typeface="Arial"/>
            </a:endParaRPr>
          </a:p>
          <a:p>
            <a:pPr lvl="1" marL="864000" indent="-3193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Microsoft YaHei"/>
              </a:rPr>
              <a:t>Just mindless numbers and 12 equations</a:t>
            </a:r>
            <a:endParaRPr b="0" lang="en-US" sz="2600" spc="-1" strike="noStrike">
              <a:latin typeface="Arial"/>
            </a:endParaRPr>
          </a:p>
          <a:p>
            <a:pPr lvl="1" marL="864000" indent="-3193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Microsoft YaHei"/>
              </a:rPr>
              <a:t>Just predicting the next word.</a:t>
            </a:r>
            <a:endParaRPr b="0" lang="en-US" sz="2600" spc="-1" strike="noStrike">
              <a:latin typeface="Arial"/>
            </a:endParaRPr>
          </a:p>
          <a:p>
            <a:pPr lvl="1" marL="864000" indent="-3193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Microsoft YaHei"/>
              </a:rPr>
              <a:t>(But, it’s improving </a:t>
            </a:r>
            <a:r>
              <a:rPr b="0" i="1" lang="en-US" sz="2600" spc="-1" strike="noStrike">
                <a:solidFill>
                  <a:srgbClr val="000000"/>
                </a:solidFill>
                <a:latin typeface="Arial"/>
                <a:ea typeface="Microsoft YaHei"/>
              </a:rPr>
              <a:t>fast</a:t>
            </a: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Microsoft YaHei"/>
              </a:rPr>
              <a:t>, a human brain is just “mindless” neurons and synapses, and </a:t>
            </a:r>
            <a:r>
              <a:rPr b="0" i="1" lang="en-US" sz="2600" spc="-1" strike="noStrike">
                <a:solidFill>
                  <a:srgbClr val="000000"/>
                </a:solidFill>
                <a:latin typeface="Arial"/>
                <a:ea typeface="Microsoft YaHei"/>
              </a:rPr>
              <a:t>how</a:t>
            </a: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Microsoft YaHei"/>
              </a:rPr>
              <a:t> is it picking that next word so intelligently?)</a:t>
            </a:r>
            <a:endParaRPr b="0" lang="en-US" sz="2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CustomShape 1"/>
          <p:cNvSpPr/>
          <p:nvPr/>
        </p:nvSpPr>
        <p:spPr>
          <a:xfrm>
            <a:off x="504000" y="226080"/>
            <a:ext cx="9069840" cy="943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AI History 1950s - 1960s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59" name="CustomShape 2"/>
          <p:cNvSpPr/>
          <p:nvPr/>
        </p:nvSpPr>
        <p:spPr>
          <a:xfrm>
            <a:off x="504000" y="1343520"/>
            <a:ext cx="5803200" cy="3286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11000"/>
          </a:bodyPr>
          <a:p>
            <a:pPr>
              <a:lnSpc>
                <a:spcPct val="100000"/>
              </a:lnSpc>
              <a:spcBef>
                <a:spcPts val="1417"/>
              </a:spcBef>
            </a:pPr>
            <a:endParaRPr b="0" lang="en-US" sz="1800" spc="-1" strike="noStrike">
              <a:latin typeface="Arial"/>
            </a:endParaRPr>
          </a:p>
          <a:p>
            <a:pPr marL="432000" indent="-3214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DejaVu Sans"/>
              </a:rPr>
              <a:t>(1956) “Artificial Intelligence” first used as a term</a:t>
            </a:r>
            <a:endParaRPr b="0" lang="en-US" sz="3600" spc="-1" strike="noStrike">
              <a:latin typeface="Arial"/>
            </a:endParaRPr>
          </a:p>
          <a:p>
            <a:pPr marL="432000" indent="-3214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DejaVu Sans"/>
              </a:rPr>
              <a:t>(</a:t>
            </a: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Microsoft YaHei"/>
              </a:rPr>
              <a:t>1956) First good “theorem prover” – </a:t>
            </a:r>
            <a:r>
              <a:rPr b="1" lang="en-US" sz="3600" spc="-1" strike="noStrike">
                <a:solidFill>
                  <a:srgbClr val="000000"/>
                </a:solidFill>
                <a:latin typeface="Arial"/>
                <a:ea typeface="Microsoft YaHei"/>
              </a:rPr>
              <a:t>symbolic AI</a:t>
            </a:r>
            <a:endParaRPr b="0" lang="en-US" sz="3600" spc="-1" strike="noStrike">
              <a:latin typeface="Arial"/>
            </a:endParaRPr>
          </a:p>
          <a:p>
            <a:pPr marL="432000" indent="-3214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DejaVu Sans"/>
              </a:rPr>
              <a:t>(1965) ELIZA basic “chatbot” in 200 lines of code</a:t>
            </a:r>
            <a:endParaRPr b="0" lang="en-US" sz="3600" spc="-1" strike="noStrike">
              <a:latin typeface="Arial"/>
            </a:endParaRPr>
          </a:p>
          <a:p>
            <a:pPr marL="432000" indent="-3214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DejaVu Sans"/>
              </a:rPr>
              <a:t>(1960s) Hopfield, Minsky and others do early work in </a:t>
            </a:r>
            <a:r>
              <a:rPr b="1" lang="en-US" sz="3600" spc="-1" strike="noStrike">
                <a:solidFill>
                  <a:srgbClr val="000000"/>
                </a:solidFill>
                <a:latin typeface="Arial"/>
                <a:ea typeface="DejaVu Sans"/>
              </a:rPr>
              <a:t>“neural networks”</a:t>
            </a:r>
            <a:endParaRPr b="0" lang="en-US" sz="3600" spc="-1" strike="noStrike">
              <a:latin typeface="Arial"/>
            </a:endParaRPr>
          </a:p>
          <a:p>
            <a:pPr marL="432000" indent="-3214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DejaVu Sans"/>
              </a:rPr>
              <a:t>(1967) Minsky: “Within a generation … the problem of creating artificial intelligence will substantially be solved.”</a:t>
            </a:r>
            <a:endParaRPr b="0" lang="en-US" sz="3600" spc="-1" strike="noStrike">
              <a:latin typeface="Arial"/>
            </a:endParaRPr>
          </a:p>
          <a:p>
            <a:pPr marL="432000" indent="-3214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DejaVu Sans"/>
              </a:rPr>
              <a:t>(1969) Minsky and Papert publish “Perceptrons”</a:t>
            </a:r>
            <a:endParaRPr b="0" lang="en-US" sz="3600" spc="-1" strike="noStrike">
              <a:latin typeface="Arial"/>
            </a:endParaRPr>
          </a:p>
          <a:p>
            <a:pPr lvl="1" marL="864000" indent="-3214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DejaVu Sans"/>
              </a:rPr>
              <a:t>Proves one-layer (all they knew how to train) neural networks very limited and  triggers first </a:t>
            </a:r>
            <a:r>
              <a:rPr b="1" lang="en-US" sz="3600" spc="-1" strike="noStrike">
                <a:solidFill>
                  <a:srgbClr val="000000"/>
                </a:solidFill>
                <a:latin typeface="Arial"/>
                <a:ea typeface="DejaVu Sans"/>
              </a:rPr>
              <a:t>“AI winter”</a:t>
            </a:r>
            <a:endParaRPr b="0" lang="en-US" sz="3600" spc="-1" strike="noStrike">
              <a:latin typeface="Arial"/>
            </a:endParaRPr>
          </a:p>
        </p:txBody>
      </p:sp>
      <p:pic>
        <p:nvPicPr>
          <p:cNvPr id="460" name="" descr=""/>
          <p:cNvPicPr/>
          <p:nvPr/>
        </p:nvPicPr>
        <p:blipFill>
          <a:blip r:embed="rId1"/>
          <a:stretch/>
        </p:blipFill>
        <p:spPr>
          <a:xfrm>
            <a:off x="6675480" y="1463040"/>
            <a:ext cx="2792520" cy="19893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CustomShape 1"/>
          <p:cNvSpPr/>
          <p:nvPr/>
        </p:nvSpPr>
        <p:spPr>
          <a:xfrm>
            <a:off x="504000" y="226080"/>
            <a:ext cx="9069840" cy="943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AI History 1970s-1990s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62" name="CustomShape 2"/>
          <p:cNvSpPr/>
          <p:nvPr/>
        </p:nvSpPr>
        <p:spPr>
          <a:xfrm>
            <a:off x="504000" y="1326600"/>
            <a:ext cx="9069840" cy="3286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30000"/>
          </a:bodyPr>
          <a:p>
            <a:pPr marL="432000" indent="-3214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(1970) Seppo Linnainmaa quietly publishes “backpropagation” algorithm, solving the multilayer training problem.  </a:t>
            </a:r>
            <a:r>
              <a:rPr b="0" i="1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No one notices.</a:t>
            </a:r>
            <a:endParaRPr b="0" lang="en-US" sz="3200" spc="-1" strike="noStrike">
              <a:latin typeface="Arial"/>
            </a:endParaRPr>
          </a:p>
          <a:p>
            <a:pPr marL="432000" indent="-3214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(1970s and 80s): Direct coding of logic in “expert systems”</a:t>
            </a:r>
            <a:endParaRPr b="0" lang="en-US" sz="3200" spc="-1" strike="noStrike">
              <a:latin typeface="Arial"/>
            </a:endParaRPr>
          </a:p>
          <a:p>
            <a:pPr lvl="1" marL="864000" indent="-3214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Turns out to be limited and fragile</a:t>
            </a:r>
            <a:endParaRPr b="0" lang="en-US" sz="2800" spc="-1" strike="noStrike">
              <a:latin typeface="Arial"/>
            </a:endParaRPr>
          </a:p>
          <a:p>
            <a:pPr lvl="1" marL="864000" indent="-3214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Vaunted “5</a:t>
            </a:r>
            <a:r>
              <a:rPr b="0" lang="en-US" sz="2800" spc="-1" strike="noStrike" baseline="14000000">
                <a:solidFill>
                  <a:srgbClr val="000000"/>
                </a:solidFill>
                <a:latin typeface="Arial"/>
                <a:ea typeface="DejaVu Sans"/>
              </a:rPr>
              <a:t>th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 generation” computing fizzles</a:t>
            </a:r>
            <a:endParaRPr b="0" lang="en-US" sz="2800" spc="-1" strike="noStrike">
              <a:latin typeface="Arial"/>
            </a:endParaRPr>
          </a:p>
          <a:p>
            <a:pPr marL="432000" indent="-3214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(1986) Backpropagation algorithm (re)discovered. </a:t>
            </a:r>
            <a:endParaRPr b="0" lang="en-US" sz="3200" spc="-1" strike="noStrike">
              <a:latin typeface="Arial"/>
            </a:endParaRPr>
          </a:p>
          <a:p>
            <a:pPr lvl="1" marL="864000" indent="-3214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Neural nets are back.</a:t>
            </a:r>
            <a:endParaRPr b="0" lang="en-US" sz="2800" spc="-1" strike="noStrike">
              <a:latin typeface="Arial"/>
            </a:endParaRPr>
          </a:p>
          <a:p>
            <a:pPr lvl="1" marL="864000" indent="-3214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But training networks &gt; 3 layers proves very hard.  (Modern AI takes hundreds.)</a:t>
            </a:r>
            <a:endParaRPr b="0" lang="en-US" sz="2800" spc="-1" strike="noStrike">
              <a:latin typeface="Arial"/>
            </a:endParaRPr>
          </a:p>
          <a:p>
            <a:pPr marL="432000" indent="-3214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After brief burst of progress, a </a:t>
            </a:r>
            <a:r>
              <a:rPr b="1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second “AI Winter”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CustomShape 1"/>
          <p:cNvSpPr/>
          <p:nvPr/>
        </p:nvSpPr>
        <p:spPr>
          <a:xfrm>
            <a:off x="504000" y="226080"/>
            <a:ext cx="9069840" cy="943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AI History 2012-2024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64" name="CustomShape 2"/>
          <p:cNvSpPr/>
          <p:nvPr/>
        </p:nvSpPr>
        <p:spPr>
          <a:xfrm>
            <a:off x="504000" y="1326600"/>
            <a:ext cx="9069840" cy="3286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12000"/>
          </a:bodyPr>
          <a:p>
            <a:pPr marL="432000" indent="-3214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Four important advances lay ground for new neural network growth</a:t>
            </a:r>
            <a:endParaRPr b="0" lang="en-US" sz="4400" spc="-1" strike="noStrike">
              <a:latin typeface="Arial"/>
            </a:endParaRPr>
          </a:p>
          <a:p>
            <a:pPr lvl="1" marL="864000" indent="-3214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more available training data via internet</a:t>
            </a:r>
            <a:endParaRPr b="0" lang="en-US" sz="4400" spc="-1" strike="noStrike">
              <a:latin typeface="Arial"/>
            </a:endParaRPr>
          </a:p>
          <a:p>
            <a:pPr lvl="1" marL="864000" indent="-3214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computing power via GPUs</a:t>
            </a:r>
            <a:endParaRPr b="0" lang="en-US" sz="4400" spc="-1" strike="noStrike">
              <a:latin typeface="Arial"/>
            </a:endParaRPr>
          </a:p>
          <a:p>
            <a:pPr lvl="1" marL="864000" indent="-3214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better neural network design:  “activation functions” and architectures (neural net =&gt; deep learning)</a:t>
            </a:r>
            <a:endParaRPr b="0" lang="en-US" sz="4400" spc="-1" strike="noStrike">
              <a:latin typeface="Arial"/>
            </a:endParaRPr>
          </a:p>
          <a:p>
            <a:pPr lvl="1" marL="864000" indent="-3214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vibrant and very intensive research community</a:t>
            </a:r>
            <a:endParaRPr b="0" lang="en-US" sz="4400" spc="-1" strike="noStrike">
              <a:latin typeface="Arial"/>
            </a:endParaRPr>
          </a:p>
          <a:p>
            <a:pPr marL="432000" indent="-3214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(2012) Neural networks, now “deep learning networks” are back, again!</a:t>
            </a:r>
            <a:endParaRPr b="0" lang="en-US" sz="4400" spc="-1" strike="noStrike">
              <a:latin typeface="Arial"/>
            </a:endParaRPr>
          </a:p>
          <a:p>
            <a:pPr marL="432000" indent="-3214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(2017) “Attention is all you Need” paper describes Transformers</a:t>
            </a:r>
            <a:endParaRPr b="0" lang="en-US" sz="4400" spc="-1" strike="noStrike">
              <a:latin typeface="Arial"/>
            </a:endParaRPr>
          </a:p>
          <a:p>
            <a:pPr marL="432000" indent="-3214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(2020-2023) Steady LLM improvement arrives at GPT-4</a:t>
            </a:r>
            <a:endParaRPr b="0" lang="en-US" sz="4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CustomShape 1"/>
          <p:cNvSpPr/>
          <p:nvPr/>
        </p:nvSpPr>
        <p:spPr>
          <a:xfrm>
            <a:off x="504000" y="226080"/>
            <a:ext cx="9070200" cy="944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6" name="CustomShape 2"/>
          <p:cNvSpPr/>
          <p:nvPr/>
        </p:nvSpPr>
        <p:spPr>
          <a:xfrm>
            <a:off x="1097280" y="1097280"/>
            <a:ext cx="9070200" cy="3286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7" name="CustomShape 3"/>
          <p:cNvSpPr/>
          <p:nvPr/>
        </p:nvSpPr>
        <p:spPr>
          <a:xfrm>
            <a:off x="504000" y="226080"/>
            <a:ext cx="9071280" cy="945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AI History – Big Ideas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68" name="CustomShape 4"/>
          <p:cNvSpPr/>
          <p:nvPr/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47000"/>
          </a:bodyPr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Early investigation of major ideas</a:t>
            </a:r>
            <a:endParaRPr b="0" lang="en-US" sz="32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Neural networks and “chatbots” since 1960s</a:t>
            </a:r>
            <a:endParaRPr b="0" lang="en-US" sz="28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Alternating optimism and AI winters</a:t>
            </a:r>
            <a:endParaRPr b="0" lang="en-US" sz="32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Two major plateaus in progress</a:t>
            </a:r>
            <a:endParaRPr b="0" lang="en-US" sz="32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Symbolic logic vs neural networks</a:t>
            </a:r>
            <a:endParaRPr b="0" lang="en-US" sz="32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The “bitter” (to some researchers) lesson – can’t program AI directly</a:t>
            </a:r>
            <a:endParaRPr b="0" lang="en-US" sz="28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What’s different this time?</a:t>
            </a:r>
            <a:endParaRPr b="0" lang="en-US" sz="28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GPUs, massive training data, better algorithms, vibrant research community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CustomShape 1"/>
          <p:cNvSpPr/>
          <p:nvPr/>
        </p:nvSpPr>
        <p:spPr>
          <a:xfrm>
            <a:off x="504000" y="226080"/>
            <a:ext cx="9069480" cy="943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Recent AI Events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70" name="CustomShape 2"/>
          <p:cNvSpPr/>
          <p:nvPr/>
        </p:nvSpPr>
        <p:spPr>
          <a:xfrm>
            <a:off x="504000" y="1326600"/>
            <a:ext cx="9069480" cy="3286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25000"/>
          </a:bodyPr>
          <a:p>
            <a:pPr marL="432000" indent="-3214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DejaVu Sans"/>
              </a:rPr>
              <a:t>Nobel Prizes</a:t>
            </a:r>
            <a:endParaRPr b="0" lang="en-US" sz="4000" spc="-1" strike="noStrike">
              <a:latin typeface="Arial"/>
            </a:endParaRPr>
          </a:p>
          <a:p>
            <a:pPr lvl="1" marL="864000" indent="-3214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DejaVu Sans"/>
              </a:rPr>
              <a:t>Physics to John Hopfield and Geoffrey Hinton</a:t>
            </a:r>
            <a:endParaRPr b="0" lang="en-US" sz="4000" spc="-1" strike="noStrike">
              <a:latin typeface="Arial"/>
            </a:endParaRPr>
          </a:p>
          <a:p>
            <a:pPr lvl="1" marL="864000" indent="-3214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DejaVu Sans"/>
              </a:rPr>
              <a:t>Chemistry to the developers of Alpha Fold</a:t>
            </a:r>
            <a:endParaRPr b="0" lang="en-US" sz="4000" spc="-1" strike="noStrike">
              <a:latin typeface="Arial"/>
            </a:endParaRPr>
          </a:p>
          <a:p>
            <a:pPr marL="432000" indent="-3214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DejaVu Sans"/>
              </a:rPr>
              <a:t>Improved LLM Architectures</a:t>
            </a:r>
            <a:endParaRPr b="0" lang="en-US" sz="4000" spc="-1" strike="noStrike">
              <a:latin typeface="Arial"/>
            </a:endParaRPr>
          </a:p>
          <a:p>
            <a:pPr lvl="1" marL="864000" indent="-3214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DejaVu Sans"/>
              </a:rPr>
              <a:t>MoE – “Mixture of Experts”</a:t>
            </a:r>
            <a:endParaRPr b="0" lang="en-US" sz="4000" spc="-1" strike="noStrike">
              <a:latin typeface="Arial"/>
            </a:endParaRPr>
          </a:p>
          <a:p>
            <a:pPr lvl="5" marL="1296000" indent="-215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DejaVu Sans"/>
              </a:rPr>
              <a:t>DeepSeek example</a:t>
            </a:r>
            <a:endParaRPr b="0" lang="en-US" sz="4000" spc="-1" strike="noStrike">
              <a:latin typeface="Arial"/>
            </a:endParaRPr>
          </a:p>
          <a:p>
            <a:pPr lvl="1" marL="864000" indent="-3214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DejaVu Sans"/>
              </a:rPr>
              <a:t>CoT – “Chain of Thought” – LLMs that reason</a:t>
            </a:r>
            <a:endParaRPr b="0" lang="en-US" sz="4000" spc="-1" strike="noStrike">
              <a:latin typeface="Arial"/>
            </a:endParaRPr>
          </a:p>
          <a:p>
            <a:pPr marL="432000" indent="-3214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DejaVu Sans"/>
              </a:rPr>
              <a:t>Improvements in diffusion models</a:t>
            </a:r>
            <a:endParaRPr b="0" lang="en-US" sz="4000" spc="-1" strike="noStrike">
              <a:latin typeface="Arial"/>
            </a:endParaRPr>
          </a:p>
          <a:p>
            <a:pPr lvl="1" marL="864000" indent="-3214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DejaVu Sans"/>
              </a:rPr>
              <a:t>Sora movie generation</a:t>
            </a:r>
            <a:endParaRPr b="0" lang="en-US" sz="4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CustomShape 1"/>
          <p:cNvSpPr/>
          <p:nvPr/>
        </p:nvSpPr>
        <p:spPr>
          <a:xfrm>
            <a:off x="504000" y="226080"/>
            <a:ext cx="9069480" cy="943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AI Events: late 2020s (?)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72" name="CustomShape 2"/>
          <p:cNvSpPr/>
          <p:nvPr/>
        </p:nvSpPr>
        <p:spPr>
          <a:xfrm>
            <a:off x="504000" y="1326600"/>
            <a:ext cx="9069480" cy="3286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35000"/>
          </a:bodyPr>
          <a:p>
            <a:pPr marL="432000" indent="-3214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Ongoing automation of white collar work</a:t>
            </a:r>
            <a:endParaRPr b="0" lang="en-US" sz="3200" spc="-1" strike="noStrike">
              <a:latin typeface="Arial"/>
            </a:endParaRPr>
          </a:p>
          <a:p>
            <a:pPr lvl="1" marL="864000" indent="-3214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Writing, coding, art, music, law, healthcare, customer service, language translation, entertainment, etc.</a:t>
            </a:r>
            <a:endParaRPr b="0" lang="en-US" sz="2800" spc="-1" strike="noStrike">
              <a:latin typeface="Arial"/>
            </a:endParaRPr>
          </a:p>
          <a:p>
            <a:pPr lvl="1" marL="864000" indent="-3214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My own experience: It's like a competent, widely read, and blindingly fast junior engineer.</a:t>
            </a:r>
            <a:endParaRPr b="0" lang="en-US" sz="2800" spc="-1" strike="noStrike">
              <a:latin typeface="Arial"/>
            </a:endParaRPr>
          </a:p>
          <a:p>
            <a:pPr lvl="1" marL="864000" indent="-3214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May double or triple productivity of experienced professionals.</a:t>
            </a:r>
            <a:endParaRPr b="0" lang="en-US" sz="2800" spc="-1" strike="noStrike">
              <a:latin typeface="Arial"/>
            </a:endParaRPr>
          </a:p>
          <a:p>
            <a:pPr marL="432000" indent="-3214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Physical AI</a:t>
            </a:r>
            <a:endParaRPr b="0" lang="en-US" sz="3200" spc="-1" strike="noStrike">
              <a:latin typeface="Arial"/>
            </a:endParaRPr>
          </a:p>
          <a:p>
            <a:pPr lvl="1" marL="864000" indent="-3214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AI with vision, movement, hearing</a:t>
            </a:r>
            <a:endParaRPr b="0" lang="en-US" sz="2800" spc="-1" strike="noStrike">
              <a:latin typeface="Arial"/>
            </a:endParaRPr>
          </a:p>
          <a:p>
            <a:pPr lvl="1" marL="864000" indent="-3214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Robotics, self-driving cars, manufacturing, construction, etc.</a:t>
            </a:r>
            <a:endParaRPr b="0" lang="en-US" sz="2800" spc="-1" strike="noStrike">
              <a:latin typeface="Arial"/>
            </a:endParaRPr>
          </a:p>
          <a:p>
            <a:pPr marL="432000" indent="-3214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Scientific advances using AI, especially RL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CustomShape 1"/>
          <p:cNvSpPr/>
          <p:nvPr/>
        </p:nvSpPr>
        <p:spPr>
          <a:xfrm>
            <a:off x="504000" y="226080"/>
            <a:ext cx="9069840" cy="943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Near Term Issues to Consider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74" name="CustomShape 2"/>
          <p:cNvSpPr/>
          <p:nvPr/>
        </p:nvSpPr>
        <p:spPr>
          <a:xfrm>
            <a:off x="504000" y="1326600"/>
            <a:ext cx="9069840" cy="3286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44000"/>
          </a:bodyPr>
          <a:p>
            <a:pPr marL="432000" indent="-3214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Legal questions of copyright and liability</a:t>
            </a:r>
            <a:endParaRPr b="0" lang="en-US" sz="3200" spc="-1" strike="noStrike">
              <a:latin typeface="Arial"/>
            </a:endParaRPr>
          </a:p>
          <a:p>
            <a:pPr marL="432000" indent="-3214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“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Alignment” of AI with human values</a:t>
            </a:r>
            <a:endParaRPr b="0" lang="en-US" sz="3200" spc="-1" strike="noStrike">
              <a:latin typeface="Arial"/>
            </a:endParaRPr>
          </a:p>
          <a:p>
            <a:pPr marL="432000" indent="-3214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AI enables experienced professionals but replaces beginners creating “apprentice gap”</a:t>
            </a:r>
            <a:endParaRPr b="0" lang="en-US" sz="3200" spc="-1" strike="noStrike">
              <a:latin typeface="Arial"/>
            </a:endParaRPr>
          </a:p>
          <a:p>
            <a:pPr marL="432000" indent="-3214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Technological unemployment</a:t>
            </a:r>
            <a:endParaRPr b="0" lang="en-US" sz="3200" spc="-1" strike="noStrike">
              <a:latin typeface="Arial"/>
            </a:endParaRPr>
          </a:p>
          <a:p>
            <a:pPr lvl="1" marL="864000" indent="-3214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Not like going from farm to factory to simple white-collar work</a:t>
            </a:r>
            <a:endParaRPr b="0" lang="en-US" sz="2800" spc="-1" strike="noStrike">
              <a:latin typeface="Arial"/>
            </a:endParaRPr>
          </a:p>
          <a:p>
            <a:pPr lvl="1" marL="864000" indent="-3214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UBI might provide subsistence, but doesn’t provide purpose</a:t>
            </a:r>
            <a:endParaRPr b="0" lang="en-US" sz="2800" spc="-1" strike="noStrike">
              <a:latin typeface="Arial"/>
            </a:endParaRPr>
          </a:p>
          <a:p>
            <a:pPr marL="432000" indent="-3214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Which nation will lead? – Manhattan project of the 2020s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CustomShape 1"/>
          <p:cNvSpPr/>
          <p:nvPr/>
        </p:nvSpPr>
        <p:spPr>
          <a:xfrm>
            <a:off x="504000" y="226080"/>
            <a:ext cx="9070200" cy="944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AI Future – Where is it heading?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76" name="CustomShape 2"/>
          <p:cNvSpPr/>
          <p:nvPr/>
        </p:nvSpPr>
        <p:spPr>
          <a:xfrm>
            <a:off x="504000" y="1323720"/>
            <a:ext cx="9070200" cy="3286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46000"/>
          </a:bodyPr>
          <a:p>
            <a:pPr marL="432000" indent="-3218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“… 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heavier than air flying machines are impossible”</a:t>
            </a:r>
            <a:endParaRPr b="0" lang="en-US" sz="3200" spc="-1" strike="noStrike">
              <a:latin typeface="Arial"/>
            </a:endParaRPr>
          </a:p>
          <a:p>
            <a:pPr lvl="1" marL="864000" indent="-3218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Lord Kelvin, 1895</a:t>
            </a:r>
            <a:endParaRPr b="0" lang="en-US" sz="2800" spc="-1" strike="noStrike">
              <a:latin typeface="Arial"/>
            </a:endParaRPr>
          </a:p>
          <a:p>
            <a:pPr marL="432000" indent="-3218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Alchemistic Empiricism</a:t>
            </a:r>
            <a:endParaRPr b="0" lang="en-US" sz="3200" spc="-1" strike="noStrike">
              <a:latin typeface="Arial"/>
            </a:endParaRPr>
          </a:p>
          <a:p>
            <a:pPr lvl="1" marL="864000" indent="-3218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Analogy of Chemistry in 1825</a:t>
            </a:r>
            <a:endParaRPr b="0" lang="en-US" sz="3200" spc="-1" strike="noStrike">
              <a:latin typeface="Arial"/>
            </a:endParaRPr>
          </a:p>
          <a:p>
            <a:pPr lvl="1" marL="864000" indent="-3218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Results in fits and starts as we try things out by guess-and-by-golly</a:t>
            </a:r>
            <a:endParaRPr b="0" lang="en-US" sz="2800" spc="-1" strike="noStrike">
              <a:latin typeface="Arial"/>
            </a:endParaRPr>
          </a:p>
          <a:p>
            <a:pPr marL="432000" indent="-3218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Start with Nature, End with Design</a:t>
            </a:r>
            <a:endParaRPr b="0" lang="en-US" sz="3200" spc="-1" strike="noStrike">
              <a:latin typeface="Arial"/>
            </a:endParaRPr>
          </a:p>
          <a:p>
            <a:pPr lvl="1" marL="864000" indent="-3218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Planes vs birds</a:t>
            </a:r>
            <a:endParaRPr b="0" lang="en-US" sz="2800" spc="-1" strike="noStrike">
              <a:latin typeface="Arial"/>
            </a:endParaRPr>
          </a:p>
          <a:p>
            <a:pPr lvl="1" marL="864000" indent="-3218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Deep Learning vs brains : Geoff Hinton’s warning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CustomShape 1"/>
          <p:cNvSpPr/>
          <p:nvPr/>
        </p:nvSpPr>
        <p:spPr>
          <a:xfrm>
            <a:off x="504000" y="226080"/>
            <a:ext cx="9066960" cy="941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AI Events: 2030s (??)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78" name="CustomShape 2"/>
          <p:cNvSpPr/>
          <p:nvPr/>
        </p:nvSpPr>
        <p:spPr>
          <a:xfrm>
            <a:off x="504000" y="1326600"/>
            <a:ext cx="9066960" cy="3283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70000"/>
          </a:bodyPr>
          <a:p>
            <a:pPr marL="432000" indent="-3193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Option A: AI progress will “plateau”</a:t>
            </a:r>
            <a:endParaRPr b="0" lang="en-US" sz="2400" spc="-1" strike="noStrike">
              <a:latin typeface="Arial"/>
            </a:endParaRPr>
          </a:p>
          <a:p>
            <a:pPr lvl="1" marL="864000" indent="-3193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We are reaching limits on compute and on data</a:t>
            </a:r>
            <a:endParaRPr b="0" lang="en-US" sz="2400" spc="-1" strike="noStrike">
              <a:latin typeface="Arial"/>
            </a:endParaRPr>
          </a:p>
          <a:p>
            <a:pPr lvl="1" marL="864000" indent="-3193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It’s plateaued before</a:t>
            </a:r>
            <a:endParaRPr b="0" lang="en-US" sz="2400" spc="-1" strike="noStrike">
              <a:latin typeface="Arial"/>
            </a:endParaRPr>
          </a:p>
          <a:p>
            <a:pPr marL="432000" indent="-3193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Option B: Continued progress reaching “AGI” or “superintelligence”</a:t>
            </a:r>
            <a:endParaRPr b="0" lang="en-US" sz="2400" spc="-1" strike="noStrike">
              <a:latin typeface="Arial"/>
            </a:endParaRPr>
          </a:p>
          <a:p>
            <a:pPr lvl="1" marL="864000" indent="-3193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Unprecedented research community and infrastructure</a:t>
            </a:r>
            <a:endParaRPr b="0" lang="en-US" sz="2400" spc="-1" strike="noStrike">
              <a:latin typeface="Arial"/>
            </a:endParaRPr>
          </a:p>
          <a:p>
            <a:pPr lvl="1" marL="864000" indent="-3193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Continued improvement in design and training procedures</a:t>
            </a:r>
            <a:endParaRPr b="0" lang="en-US" sz="2400" spc="-1" strike="noStrike">
              <a:latin typeface="Arial"/>
            </a:endParaRPr>
          </a:p>
          <a:p>
            <a:pPr lvl="1" marL="864000" indent="-3193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Hardware is rapidly improving</a:t>
            </a:r>
            <a:endParaRPr b="0" lang="en-US" sz="2400" spc="-1" strike="noStrike">
              <a:latin typeface="Arial"/>
            </a:endParaRPr>
          </a:p>
          <a:p>
            <a:pPr marL="432000" indent="-3193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5 years ago, many experts thought “A”.  Now many think “B”.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CustomShape 1"/>
          <p:cNvSpPr/>
          <p:nvPr/>
        </p:nvSpPr>
        <p:spPr>
          <a:xfrm>
            <a:off x="504000" y="226080"/>
            <a:ext cx="9066960" cy="941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Long Term Questions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80" name="CustomShape 2"/>
          <p:cNvSpPr/>
          <p:nvPr/>
        </p:nvSpPr>
        <p:spPr>
          <a:xfrm>
            <a:off x="457200" y="1326600"/>
            <a:ext cx="9066960" cy="3880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 marL="432000" indent="-3193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What can AI teach us about the nature of thought and intelligence? </a:t>
            </a:r>
            <a:endParaRPr b="0" lang="en-US" sz="3200" spc="-1" strike="noStrike">
              <a:latin typeface="Arial"/>
            </a:endParaRPr>
          </a:p>
          <a:p>
            <a:pPr marL="432000" indent="-3193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What if it becomes more intelligent than us?</a:t>
            </a:r>
            <a:endParaRPr b="0" lang="en-US" sz="3200" spc="-1" strike="noStrike">
              <a:latin typeface="Arial"/>
            </a:endParaRPr>
          </a:p>
          <a:p>
            <a:pPr marL="432000" indent="-3193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Hard Problem of Consciousness</a:t>
            </a:r>
            <a:endParaRPr b="0" lang="en-US" sz="3200" spc="-1" strike="noStrike">
              <a:latin typeface="Arial"/>
            </a:endParaRPr>
          </a:p>
          <a:p>
            <a:pPr marL="432000" indent="-3193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“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Who is my neighbor?”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CustomShape 1"/>
          <p:cNvSpPr/>
          <p:nvPr/>
        </p:nvSpPr>
        <p:spPr>
          <a:xfrm>
            <a:off x="504000" y="226080"/>
            <a:ext cx="9069840" cy="943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Advice to Students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82" name="CustomShape 2"/>
          <p:cNvSpPr/>
          <p:nvPr/>
        </p:nvSpPr>
        <p:spPr>
          <a:xfrm>
            <a:off x="504000" y="1326600"/>
            <a:ext cx="9069840" cy="3286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60000"/>
          </a:bodyPr>
          <a:p>
            <a:pPr marL="432000" indent="-3214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Learn to create without AI first</a:t>
            </a:r>
            <a:endParaRPr b="0" lang="en-US" sz="3200" spc="-1" strike="noStrike">
              <a:latin typeface="Arial"/>
            </a:endParaRPr>
          </a:p>
          <a:p>
            <a:pPr lvl="1" marL="864000" indent="-3214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Can’t be “in charge” if you are dependent</a:t>
            </a:r>
            <a:endParaRPr b="0" lang="en-US" sz="2800" spc="-1" strike="noStrike">
              <a:latin typeface="Arial"/>
            </a:endParaRPr>
          </a:p>
          <a:p>
            <a:pPr lvl="1" marL="864000" indent="-3214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Gets you closer to content, like doing your own calculations</a:t>
            </a:r>
            <a:endParaRPr b="0" lang="en-US" sz="2800" spc="-1" strike="noStrike">
              <a:latin typeface="Arial"/>
            </a:endParaRPr>
          </a:p>
          <a:p>
            <a:pPr marL="432000" indent="-3214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Then, create using AI</a:t>
            </a:r>
            <a:endParaRPr b="0" lang="en-US" sz="3200" spc="-1" strike="noStrike">
              <a:latin typeface="Arial"/>
            </a:endParaRPr>
          </a:p>
          <a:p>
            <a:pPr lvl="1" marL="864000" indent="-3214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Leverage AI to create more than you can alone</a:t>
            </a:r>
            <a:endParaRPr b="0" lang="en-US" sz="2800" spc="-1" strike="noStrike">
              <a:latin typeface="Arial"/>
            </a:endParaRPr>
          </a:p>
          <a:p>
            <a:pPr lvl="1" marL="864000" indent="-3214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Use AI as “cointelligence” partner from whom you can learn as well</a:t>
            </a:r>
            <a:endParaRPr b="0" lang="en-US" sz="2800" spc="-1" strike="noStrike">
              <a:latin typeface="Arial"/>
            </a:endParaRPr>
          </a:p>
          <a:p>
            <a:pPr lvl="1" marL="864000" indent="-3214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This is the workflow of the future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CustomShape 1"/>
          <p:cNvSpPr/>
          <p:nvPr/>
        </p:nvSpPr>
        <p:spPr>
          <a:xfrm>
            <a:off x="504000" y="226080"/>
            <a:ext cx="9070200" cy="944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Future Predictions – Dystopian SF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84" name="CustomShape 2"/>
          <p:cNvSpPr/>
          <p:nvPr/>
        </p:nvSpPr>
        <p:spPr>
          <a:xfrm>
            <a:off x="504000" y="1326600"/>
            <a:ext cx="9070200" cy="3286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64000"/>
          </a:bodyPr>
          <a:p>
            <a:pPr marL="432000" indent="-3218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Premise: Technology is a power unto itself</a:t>
            </a:r>
            <a:endParaRPr b="0" lang="en-US" sz="3200" spc="-1" strike="noStrike">
              <a:latin typeface="Arial"/>
            </a:endParaRPr>
          </a:p>
          <a:p>
            <a:pPr marL="432000" indent="-3218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(1984) Blade Runner</a:t>
            </a:r>
            <a:endParaRPr b="0" lang="en-US" sz="3200" spc="-1" strike="noStrike">
              <a:latin typeface="Arial"/>
            </a:endParaRPr>
          </a:p>
          <a:p>
            <a:pPr lvl="1" marL="864000" indent="-3218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LA is stygian hellscape in 2020s</a:t>
            </a:r>
            <a:endParaRPr b="0" lang="en-US" sz="2800" spc="-1" strike="noStrike">
              <a:latin typeface="Arial"/>
            </a:endParaRPr>
          </a:p>
          <a:p>
            <a:pPr marL="432000" indent="-3218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(1984) Terminator</a:t>
            </a:r>
            <a:endParaRPr b="0" lang="en-US" sz="3200" spc="-1" strike="noStrike">
              <a:latin typeface="Arial"/>
            </a:endParaRPr>
          </a:p>
          <a:p>
            <a:pPr lvl="1" marL="864000" indent="-3218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LA is nuclear-blasted wreck with robots killing humans in 2020s</a:t>
            </a:r>
            <a:endParaRPr b="0" lang="en-US" sz="2800" spc="-1" strike="noStrike">
              <a:latin typeface="Arial"/>
            </a:endParaRPr>
          </a:p>
          <a:p>
            <a:pPr marL="432000" indent="-3218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(1970) Colossus</a:t>
            </a:r>
            <a:endParaRPr b="0" lang="en-US" sz="3200" spc="-1" strike="noStrike">
              <a:latin typeface="Arial"/>
            </a:endParaRPr>
          </a:p>
          <a:p>
            <a:pPr lvl="1" marL="864000" indent="-3218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AI computer becomes world dictator in late 1970s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CustomShape 1"/>
          <p:cNvSpPr/>
          <p:nvPr/>
        </p:nvSpPr>
        <p:spPr>
          <a:xfrm>
            <a:off x="504000" y="74160"/>
            <a:ext cx="9070200" cy="1248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Future Predictions – CS Perspective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86" name="CustomShape 2"/>
          <p:cNvSpPr/>
          <p:nvPr/>
        </p:nvSpPr>
        <p:spPr>
          <a:xfrm>
            <a:off x="504000" y="1326600"/>
            <a:ext cx="9070200" cy="3286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 marL="432000" indent="-3218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Premise: Technology is Mind’s creativity unfolding.</a:t>
            </a:r>
            <a:endParaRPr b="0" lang="en-US" sz="3200" spc="-1" strike="noStrike">
              <a:latin typeface="Arial"/>
            </a:endParaRPr>
          </a:p>
          <a:p>
            <a:pPr marL="432000" indent="-3218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“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The mariner will have dominion over the atmosphere and the great deep .. the astronomer will no longer look up to the stars, – he will look out from them..”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Science and Health p125: 25-29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7" name="" descr=""/>
          <p:cNvPicPr/>
          <p:nvPr/>
        </p:nvPicPr>
        <p:blipFill>
          <a:blip r:embed="rId1"/>
          <a:stretch/>
        </p:blipFill>
        <p:spPr>
          <a:xfrm>
            <a:off x="274320" y="1005840"/>
            <a:ext cx="5301360" cy="3289680"/>
          </a:xfrm>
          <a:prstGeom prst="rect">
            <a:avLst/>
          </a:prstGeom>
          <a:ln>
            <a:noFill/>
          </a:ln>
        </p:spPr>
      </p:pic>
      <p:pic>
        <p:nvPicPr>
          <p:cNvPr id="488" name="" descr=""/>
          <p:cNvPicPr/>
          <p:nvPr/>
        </p:nvPicPr>
        <p:blipFill>
          <a:blip r:embed="rId2"/>
          <a:stretch/>
        </p:blipFill>
        <p:spPr>
          <a:xfrm>
            <a:off x="4297680" y="2651760"/>
            <a:ext cx="4386960" cy="2923200"/>
          </a:xfrm>
          <a:prstGeom prst="rect">
            <a:avLst/>
          </a:prstGeom>
          <a:ln>
            <a:noFill/>
          </a:ln>
        </p:spPr>
      </p:pic>
      <p:pic>
        <p:nvPicPr>
          <p:cNvPr id="489" name="" descr=""/>
          <p:cNvPicPr/>
          <p:nvPr/>
        </p:nvPicPr>
        <p:blipFill>
          <a:blip r:embed="rId3"/>
          <a:stretch/>
        </p:blipFill>
        <p:spPr>
          <a:xfrm>
            <a:off x="6126840" y="518400"/>
            <a:ext cx="3472920" cy="23144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CustomShape 1"/>
          <p:cNvSpPr/>
          <p:nvPr/>
        </p:nvSpPr>
        <p:spPr>
          <a:xfrm>
            <a:off x="504000" y="226080"/>
            <a:ext cx="9069480" cy="943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Christian Science Perspective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91" name="CustomShape 2"/>
          <p:cNvSpPr/>
          <p:nvPr/>
        </p:nvSpPr>
        <p:spPr>
          <a:xfrm>
            <a:off x="504000" y="1326600"/>
            <a:ext cx="9069480" cy="3285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 marL="432000" indent="-3211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i="1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“</a:t>
            </a:r>
            <a:r>
              <a:rPr b="0" i="1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There is no life, truth, intelligence, nor substance in matter. All is infinite Mind and its infinite manifestation…” S&amp;H p 468</a:t>
            </a:r>
            <a:endParaRPr b="0" lang="en-US" sz="3200" spc="-1" strike="noStrike">
              <a:latin typeface="Arial"/>
            </a:endParaRPr>
          </a:p>
          <a:p>
            <a:pPr marL="432000" indent="-3211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i="1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“</a:t>
            </a:r>
            <a:r>
              <a:rPr b="0" i="1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Intelligence is omniscience, omnipresence, and omnipotence.  It is the primal and eternal quality of infinite Mind...”  S&amp;H p 469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CustomShape 1"/>
          <p:cNvSpPr/>
          <p:nvPr/>
        </p:nvSpPr>
        <p:spPr>
          <a:xfrm>
            <a:off x="504000" y="226080"/>
            <a:ext cx="9070200" cy="944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Current Research – Optimization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93" name="CustomShape 2"/>
          <p:cNvSpPr/>
          <p:nvPr/>
        </p:nvSpPr>
        <p:spPr>
          <a:xfrm>
            <a:off x="504000" y="1326600"/>
            <a:ext cx="9070200" cy="3286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32000"/>
          </a:bodyPr>
          <a:p>
            <a:pPr marL="432000" indent="-3222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Make using AI less expensive after training</a:t>
            </a:r>
            <a:endParaRPr b="0" lang="en-US" sz="3200" spc="-1" strike="noStrike">
              <a:latin typeface="Arial"/>
            </a:endParaRPr>
          </a:p>
          <a:p>
            <a:pPr lvl="1" marL="864000" indent="-322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Reduce power consumption</a:t>
            </a:r>
            <a:endParaRPr b="0" lang="en-US" sz="2800" spc="-1" strike="noStrike">
              <a:latin typeface="Arial"/>
            </a:endParaRPr>
          </a:p>
          <a:p>
            <a:pPr lvl="1" marL="864000" indent="-322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Allow LLMs to run on edge devices like phones</a:t>
            </a:r>
            <a:endParaRPr b="0" lang="en-US" sz="2800" spc="-1" strike="noStrike">
              <a:latin typeface="Arial"/>
            </a:endParaRPr>
          </a:p>
          <a:p>
            <a:pPr marL="432000" indent="-3222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Not all weights are equally valuable; groups of weights can be compressed</a:t>
            </a:r>
            <a:endParaRPr b="0" lang="en-US" sz="3200" spc="-1" strike="noStrike">
              <a:latin typeface="Arial"/>
            </a:endParaRPr>
          </a:p>
          <a:p>
            <a:pPr marL="432000" indent="-3222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Precision of the weights can be looser, even down to one bit</a:t>
            </a:r>
            <a:endParaRPr b="0" lang="en-US" sz="3200" spc="-1" strike="noStrike">
              <a:latin typeface="Arial"/>
            </a:endParaRPr>
          </a:p>
          <a:p>
            <a:pPr marL="432000" indent="-3222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“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Speculative Decoding”</a:t>
            </a:r>
            <a:endParaRPr b="0" lang="en-US" sz="3200" spc="-1" strike="noStrike">
              <a:latin typeface="Arial"/>
            </a:endParaRPr>
          </a:p>
          <a:p>
            <a:pPr lvl="1" marL="864000" indent="-322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Small “draft” LLM model does initial cut, confirmed by stronger model</a:t>
            </a:r>
            <a:endParaRPr b="0" lang="en-US" sz="2800" spc="-1" strike="noStrike">
              <a:latin typeface="Arial"/>
            </a:endParaRPr>
          </a:p>
          <a:p>
            <a:pPr marL="432000" indent="-3222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Knowledge Distillation (KD)</a:t>
            </a:r>
            <a:endParaRPr b="0" lang="en-US" sz="3200" spc="-1" strike="noStrike">
              <a:latin typeface="Arial"/>
            </a:endParaRPr>
          </a:p>
          <a:p>
            <a:pPr lvl="1" marL="864000" indent="-322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Train small LLM from “smart” larger one that offers nuance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CustomShape 1"/>
          <p:cNvSpPr/>
          <p:nvPr/>
        </p:nvSpPr>
        <p:spPr>
          <a:xfrm>
            <a:off x="504000" y="226080"/>
            <a:ext cx="9070200" cy="944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Current Research – Intelligence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95" name="CustomShape 2"/>
          <p:cNvSpPr/>
          <p:nvPr/>
        </p:nvSpPr>
        <p:spPr>
          <a:xfrm>
            <a:off x="504000" y="1326600"/>
            <a:ext cx="9070200" cy="3286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56000"/>
          </a:bodyPr>
          <a:p>
            <a:pPr marL="432000" indent="-3222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Longer context windows</a:t>
            </a:r>
            <a:endParaRPr b="0" lang="en-US" sz="3200" spc="-1" strike="noStrike">
              <a:latin typeface="Arial"/>
            </a:endParaRPr>
          </a:p>
          <a:p>
            <a:pPr lvl="1" marL="864000" indent="-322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Squared complexity – requires creative selectivity in pairwise comparisons</a:t>
            </a:r>
            <a:endParaRPr b="0" lang="en-US" sz="2800" spc="-1" strike="noStrike">
              <a:latin typeface="Arial"/>
            </a:endParaRPr>
          </a:p>
          <a:p>
            <a:pPr lvl="1" marL="864000" indent="-322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Reasoning models</a:t>
            </a:r>
            <a:endParaRPr b="0" lang="en-US" sz="2800" spc="-1" strike="noStrike">
              <a:latin typeface="Arial"/>
            </a:endParaRPr>
          </a:p>
          <a:p>
            <a:pPr lvl="1" marL="864000" indent="-322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Architecture improvements: RoPE, better activation functions</a:t>
            </a:r>
            <a:endParaRPr b="0" lang="en-US" sz="2800" spc="-1" strike="noStrike">
              <a:latin typeface="Arial"/>
            </a:endParaRPr>
          </a:p>
          <a:p>
            <a:pPr lvl="1" marL="864000" indent="-322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Improved generalization</a:t>
            </a:r>
            <a:endParaRPr b="0" lang="en-US" sz="2800" spc="-1" strike="noStrike">
              <a:latin typeface="Arial"/>
            </a:endParaRPr>
          </a:p>
          <a:p>
            <a:pPr lvl="2" marL="1296000" indent="-2862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More data examples</a:t>
            </a:r>
            <a:endParaRPr b="0" lang="en-US" sz="2400" spc="-1" strike="noStrike">
              <a:latin typeface="Arial"/>
            </a:endParaRPr>
          </a:p>
          <a:p>
            <a:pPr lvl="2" marL="1296000" indent="-2862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RL-based training, especially in physical AI, coding, etc.</a:t>
            </a:r>
            <a:endParaRPr b="0" lang="en-US" sz="2400" spc="-1" strike="noStrike">
              <a:latin typeface="Arial"/>
            </a:endParaRPr>
          </a:p>
          <a:p>
            <a:pPr lvl="2" marL="1296000" indent="-2862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Double descent pattern and “grokking”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CustomShape 1"/>
          <p:cNvSpPr/>
          <p:nvPr/>
        </p:nvSpPr>
        <p:spPr>
          <a:xfrm>
            <a:off x="504000" y="226080"/>
            <a:ext cx="9070200" cy="944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Current Research – Explainability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97" name="CustomShape 2"/>
          <p:cNvSpPr/>
          <p:nvPr/>
        </p:nvSpPr>
        <p:spPr>
          <a:xfrm>
            <a:off x="504000" y="1326600"/>
            <a:ext cx="9070200" cy="3286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55000"/>
          </a:bodyPr>
          <a:p>
            <a:pPr marL="432000" indent="-3222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Analyzing embeddings for concept patterns</a:t>
            </a:r>
            <a:endParaRPr b="0" lang="en-US" sz="3200" spc="-1" strike="noStrike">
              <a:latin typeface="Arial"/>
            </a:endParaRPr>
          </a:p>
          <a:p>
            <a:pPr lvl="1" marL="864000" indent="-322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Sparse autoencoders, and “golden gate bridge”</a:t>
            </a:r>
            <a:endParaRPr b="0" lang="en-US" sz="2800" spc="-1" strike="noStrike">
              <a:latin typeface="Arial"/>
            </a:endParaRPr>
          </a:p>
          <a:p>
            <a:pPr marL="432000" indent="-3222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Mechanistic Interpretability (MI)</a:t>
            </a:r>
            <a:endParaRPr b="0" lang="en-US" sz="3200" spc="-1" strike="noStrike">
              <a:latin typeface="Arial"/>
            </a:endParaRPr>
          </a:p>
          <a:p>
            <a:pPr lvl="1" marL="864000" indent="-322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Reverse engineering weight subnets “circuits”</a:t>
            </a:r>
            <a:endParaRPr b="0" lang="en-US" sz="2800" spc="-1" strike="noStrike">
              <a:latin typeface="Arial"/>
            </a:endParaRPr>
          </a:p>
          <a:p>
            <a:pPr marL="432000" indent="-3222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High Math Approaches</a:t>
            </a:r>
            <a:endParaRPr b="0" lang="en-US" sz="3200" spc="-1" strike="noStrike">
              <a:latin typeface="Arial"/>
            </a:endParaRPr>
          </a:p>
          <a:p>
            <a:pPr lvl="1" marL="864000" indent="-322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Mutual Information Theory</a:t>
            </a:r>
            <a:endParaRPr b="0" lang="en-US" sz="2800" spc="-1" strike="noStrike">
              <a:latin typeface="Arial"/>
            </a:endParaRPr>
          </a:p>
          <a:p>
            <a:pPr lvl="1" marL="864000" indent="-322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Sheaf Theory</a:t>
            </a:r>
            <a:endParaRPr b="0" lang="en-US" sz="2800" spc="-1" strike="noStrike">
              <a:latin typeface="Arial"/>
            </a:endParaRPr>
          </a:p>
          <a:p>
            <a:pPr lvl="1" marL="864000" indent="-322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Analysis of high-dimensional optimization surfaces, e.g. singular learning theory (SLT)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8336</TotalTime>
  <Application>LibreOffice/6.3.5.2$Windows_X86_64 LibreOffice_project/dd0751754f11728f69b42ee2af66670068624673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2017-10-20T23:41:18Z</dcterms:created>
  <dc:creator/>
  <dc:description/>
  <dc:language>en-US</dc:language>
  <cp:lastModifiedBy/>
  <cp:lastPrinted>2023-04-17T14:15:08Z</cp:lastPrinted>
  <dcterms:modified xsi:type="dcterms:W3CDTF">2025-10-12T05:36:46Z</dcterms:modified>
  <cp:revision>60</cp:revision>
  <dc:subject/>
  <dc:title/>
</cp:coreProperties>
</file>