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731520" y="2088360"/>
            <a:ext cx="9065160" cy="56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Technology and Philosophy of AI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Dr. Clint Staley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Professor of STEM, UATX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 Professor Emeritus, Cal Poly SLO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43" name="CustomShape 2"/>
          <p:cNvSpPr/>
          <p:nvPr/>
        </p:nvSpPr>
        <p:spPr>
          <a:xfrm>
            <a:off x="4206240" y="2768400"/>
            <a:ext cx="1640880" cy="39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CustomShape 1"/>
          <p:cNvSpPr/>
          <p:nvPr/>
        </p:nvSpPr>
        <p:spPr>
          <a:xfrm>
            <a:off x="503640" y="477720"/>
            <a:ext cx="9065160" cy="94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Large Language Model” (LLM) Demo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45" name="CustomShape 2"/>
          <p:cNvSpPr/>
          <p:nvPr/>
        </p:nvSpPr>
        <p:spPr>
          <a:xfrm>
            <a:off x="503640" y="1326240"/>
            <a:ext cx="9065160" cy="328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8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 (Claude Sonnet)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Multimodal: Analyzing humorous images</a:t>
            </a:r>
            <a:endParaRPr b="0" lang="en-US" sz="28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 LLMs available, steadily improving</a:t>
            </a:r>
            <a:endParaRPr b="0" lang="en-US" sz="28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ChatGPT (OpenAI), Claude (Anthropic), Grok (X), R1 (DeepSeek)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CustomShape 1"/>
          <p:cNvSpPr/>
          <p:nvPr/>
        </p:nvSpPr>
        <p:spPr>
          <a:xfrm>
            <a:off x="504000" y="226080"/>
            <a:ext cx="906912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Typical LLM Uses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7" name="CustomShape 2"/>
          <p:cNvSpPr/>
          <p:nvPr/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Comprehensive web search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Summarizing and analyzing documents (Emancipation Proclamation example)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Generating or editing prose 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Tutorial discussions 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Brainstorming and recommendations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/>
          <p:cNvSpPr/>
          <p:nvPr/>
        </p:nvSpPr>
        <p:spPr>
          <a:xfrm>
            <a:off x="504000" y="226080"/>
            <a:ext cx="907092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LLM Use “How To”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9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It’s all about the prompt(s)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More than a question.  Can include information, like documents, photos, etc.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LLM “knows” info only at the time of training, sometimes years earlier.  Prompt gives current details.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Not just one prompt – engage in conversation.  Entire conversation is “input” for each chat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Depth of remembered conversation varies by LLM – 1,000 words to 100,000</a:t>
            </a:r>
            <a:endParaRPr b="0" lang="en-US" sz="26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LLM’s “hallucinate”, often very confidently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Check critical facts</a:t>
            </a:r>
            <a:endParaRPr b="0" lang="en-US" sz="26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Scan generated material for oddities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504000" y="226080"/>
            <a:ext cx="907092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4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Better web hunt – advice on furniture problem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Gives full description, various solutions, etc. (and it worked!)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Document summary/analysis – IP agreement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Prompt includes entire document</a:t>
            </a:r>
            <a:endParaRPr b="0" lang="en-US" sz="28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Summarizes, points out issues, correctly evaluates</a:t>
            </a:r>
            <a:endParaRPr b="0" lang="en-US" sz="28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(But check for accuracy!)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CustomShape 1"/>
          <p:cNvSpPr/>
          <p:nvPr/>
        </p:nvSpPr>
        <p:spPr>
          <a:xfrm>
            <a:off x="504000" y="226080"/>
            <a:ext cx="907092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Uses, cont..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Editing prose – remove passive voice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grammar, style</a:t>
            </a:r>
            <a:endParaRPr b="0" lang="en-US" sz="28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Example revision for PV is correct, succinct</a:t>
            </a:r>
            <a:endParaRPr b="0" lang="en-US" sz="28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Brainstorming – name a cat</a:t>
            </a:r>
            <a:endParaRPr b="0" lang="en-US" sz="32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Sometimes offers silly suggestions with good ones</a:t>
            </a:r>
            <a:endParaRPr b="0" lang="en-US" sz="2800" spc="-1" strike="noStrike">
              <a:latin typeface="Arial"/>
            </a:endParaRPr>
          </a:p>
          <a:p>
            <a:pPr lvl="1" marL="864000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Will often come up with ideas you didn’t think of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Uses, cont..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5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standard documents – reference letter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Prompt should include particular details, and general instructions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 reuse prompt over and over w/ adjustments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Good at first drafts, but needs final polish (3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rd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paragraph, for instance)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Tutorial Study – hierarchical Bayes’ analysis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Gives good “textbook” summaries and explanations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Also response intuitively to questions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Wide ranging knowledge – like talking with universal graduate TA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 – Other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7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Artistic creativity – funny image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model”, e.g. DALL-E, Sora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Photos, short movie clips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need feedback and adjustment, and may hallucinate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(Term “hallucination” originates with this type of AI)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Generate audio of text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 your own voice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Very convincing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Note that this means voices are not representative e.g. on phone calls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ustomShape 1"/>
          <p:cNvSpPr/>
          <p:nvPr/>
        </p:nvSpPr>
        <p:spPr>
          <a:xfrm>
            <a:off x="503640" y="182520"/>
            <a:ext cx="9065160" cy="94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9" name="CustomShape 2"/>
          <p:cNvSpPr/>
          <p:nvPr/>
        </p:nvSpPr>
        <p:spPr>
          <a:xfrm>
            <a:off x="503640" y="1096920"/>
            <a:ext cx="9065160" cy="351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2000"/>
          </a:bodyPr>
          <a:p>
            <a:pPr marL="432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Is able to web-search when useful, but…</a:t>
            </a:r>
            <a:endParaRPr b="0" lang="en-US" sz="26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…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6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 programming specific to the questions/answers</a:t>
            </a:r>
            <a:endParaRPr b="0" lang="en-US" sz="26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</a:t>
            </a:r>
            <a:endParaRPr b="0" lang="en-US" sz="26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learning”, computer vision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1"/>
          <p:cNvSpPr/>
          <p:nvPr/>
        </p:nvSpPr>
        <p:spPr>
          <a:xfrm>
            <a:off x="503640" y="225720"/>
            <a:ext cx="9065160" cy="94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1" name="CustomShape 2"/>
          <p:cNvSpPr/>
          <p:nvPr/>
        </p:nvSpPr>
        <p:spPr>
          <a:xfrm>
            <a:off x="503640" y="1326240"/>
            <a:ext cx="9065160" cy="328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From 10 billion to over 1 trillion numbers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</a:t>
            </a:r>
            <a:endParaRPr b="0" lang="en-US" sz="3200" spc="-1" strike="noStrike">
              <a:latin typeface="Arial"/>
            </a:endParaRPr>
          </a:p>
          <a:p>
            <a:pPr lvl="4" marL="1080000" indent="-214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First, to match known texts</a:t>
            </a:r>
            <a:endParaRPr b="0" lang="en-US" sz="3200" spc="-1" strike="noStrike">
              <a:latin typeface="Arial"/>
            </a:endParaRPr>
          </a:p>
          <a:p>
            <a:pPr lvl="4" marL="1080000" indent="-214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 to adjust to human feedback given by RLHF</a:t>
            </a:r>
            <a:endParaRPr b="0" lang="en-US" sz="3200" spc="-1" strike="noStrike">
              <a:latin typeface="Arial"/>
            </a:endParaRPr>
          </a:p>
          <a:p>
            <a:pPr marL="432000" indent="-31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504000" y="82080"/>
            <a:ext cx="906660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2280" cy="2838960"/>
          </a:xfrm>
          <a:prstGeom prst="rect">
            <a:avLst/>
          </a:prstGeom>
          <a:ln>
            <a:noFill/>
          </a:ln>
        </p:spPr>
      </p:pic>
      <p:sp>
        <p:nvSpPr>
          <p:cNvPr id="364" name="CustomShape 2"/>
          <p:cNvSpPr/>
          <p:nvPr/>
        </p:nvSpPr>
        <p:spPr>
          <a:xfrm>
            <a:off x="526320" y="3987360"/>
            <a:ext cx="9068400" cy="192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27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Each word has a number sequence – an “embedding”</a:t>
            </a:r>
            <a:endParaRPr b="0" lang="en-US" sz="2600" spc="-1" strike="noStrike"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1"/>
          <p:cNvSpPr/>
          <p:nvPr/>
        </p:nvSpPr>
        <p:spPr>
          <a:xfrm>
            <a:off x="504000" y="226080"/>
            <a:ext cx="906660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6" name="CustomShape 2"/>
          <p:cNvSpPr/>
          <p:nvPr/>
        </p:nvSpPr>
        <p:spPr>
          <a:xfrm>
            <a:off x="504000" y="1326600"/>
            <a:ext cx="9066600" cy="328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 and the current conversation.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higher 12,800-number patterns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 number pattern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CustomShape 1"/>
          <p:cNvSpPr/>
          <p:nvPr/>
        </p:nvSpPr>
        <p:spPr>
          <a:xfrm>
            <a:off x="504000" y="226080"/>
            <a:ext cx="906660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8" name="CustomShape 2"/>
          <p:cNvSpPr/>
          <p:nvPr/>
        </p:nvSpPr>
        <p:spPr>
          <a:xfrm>
            <a:off x="504000" y="1326600"/>
            <a:ext cx="9066600" cy="328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(mostly)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CustomShape 1"/>
          <p:cNvSpPr/>
          <p:nvPr/>
        </p:nvSpPr>
        <p:spPr>
          <a:xfrm>
            <a:off x="504000" y="226080"/>
            <a:ext cx="906660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an LLM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0" name="CustomShape 2"/>
          <p:cNvSpPr/>
          <p:nvPr/>
        </p:nvSpPr>
        <p:spPr>
          <a:xfrm>
            <a:off x="457200" y="1254600"/>
            <a:ext cx="9066600" cy="404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detail)</a:t>
            </a:r>
            <a:endParaRPr b="0" lang="en-US" sz="2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2" name="CustomShape 2"/>
          <p:cNvSpPr/>
          <p:nvPr/>
        </p:nvSpPr>
        <p:spPr>
          <a:xfrm>
            <a:off x="504000" y="1326600"/>
            <a:ext cx="9069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Same principles of training and numerical patterns, but different designs and purposes.</a:t>
            </a:r>
            <a:endParaRPr b="0" lang="en-US" sz="20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Models (saw earlier)</a:t>
            </a:r>
            <a:endParaRPr b="0" lang="en-US" sz="20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Reinforcement Learning (RL)</a:t>
            </a:r>
            <a:endParaRPr b="0" lang="en-US" sz="2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Self-instructing.  Requires automatically generable feedback.</a:t>
            </a:r>
            <a:endParaRPr b="0" lang="en-US" sz="2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Alpha Go example</a:t>
            </a:r>
            <a:endParaRPr b="0" lang="en-US" sz="20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and Physical AI</a:t>
            </a:r>
            <a:endParaRPr b="0" lang="en-US" sz="2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CNNs and Vision Transformers</a:t>
            </a:r>
            <a:endParaRPr b="0" lang="en-US" sz="20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Graph Neural Networks</a:t>
            </a:r>
            <a:endParaRPr b="0" lang="en-US" sz="2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Analyze connection patterns, e.g. chemical compounds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1950s - 1960s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4" name="CustomShape 2"/>
          <p:cNvSpPr/>
          <p:nvPr/>
        </p:nvSpPr>
        <p:spPr>
          <a:xfrm>
            <a:off x="504000" y="1343520"/>
            <a:ext cx="580284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1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(1956) “Artificial Intelligence” first used as a term</a:t>
            </a:r>
            <a:endParaRPr b="0" lang="en-US" sz="3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1956) First good “theorem prover” –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symbolic AI</a:t>
            </a:r>
            <a:endParaRPr b="0" lang="en-US" sz="3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(1965) ELIZA basic “chatbot” in 200 lines of code</a:t>
            </a:r>
            <a:endParaRPr b="0" lang="en-US" sz="3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(1960s) Hopfield, Minsky and others do early work in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“neural networks”</a:t>
            </a:r>
            <a:endParaRPr b="0" lang="en-US" sz="3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(1967) Minsky: “Within a generation … the problem of creating artificial intelligence will substantially be solved.”</a:t>
            </a:r>
            <a:endParaRPr b="0" lang="en-US" sz="3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(1969) Minsky and Papert publish “Perceptrons”</a:t>
            </a:r>
            <a:endParaRPr b="0" lang="en-US" sz="36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Proves one-layer (all they knew how to train) neural networks very limited and  triggers first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“AI winter”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75" name="" descr=""/>
          <p:cNvPicPr/>
          <p:nvPr/>
        </p:nvPicPr>
        <p:blipFill>
          <a:blip r:embed="rId1"/>
          <a:stretch/>
        </p:blipFill>
        <p:spPr>
          <a:xfrm>
            <a:off x="6675480" y="1463040"/>
            <a:ext cx="2792160" cy="1989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1970s-1990s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7" name="CustomShape 2"/>
          <p:cNvSpPr/>
          <p:nvPr/>
        </p:nvSpPr>
        <p:spPr>
          <a:xfrm>
            <a:off x="504000" y="1326600"/>
            <a:ext cx="9069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0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Seppo Linnainmaa quietly publishes “backpropagation” algorithm, solving the multilayer training problem. 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 one notices.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(1970s and 80s): Direct coding of logic in “expert systems”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Turns out to be limited and fragile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Vaunted “5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th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generation” computing fizzles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(1986) Backpropagation algorithm (re)discovered. 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nets are back.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training networks &gt; 3 layers proves very hard.  (Modern AI takes hundreds.)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After brief burst of progress, a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second “AI Winter”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2012-2024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9" name="CustomShape 2"/>
          <p:cNvSpPr/>
          <p:nvPr/>
        </p:nvSpPr>
        <p:spPr>
          <a:xfrm>
            <a:off x="504000" y="1326600"/>
            <a:ext cx="9069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2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Four important advances lay ground for new neural network growth</a:t>
            </a:r>
            <a:endParaRPr b="0" lang="en-US" sz="4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more available training data via internet</a:t>
            </a:r>
            <a:endParaRPr b="0" lang="en-US" sz="4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computing power via GPUs</a:t>
            </a:r>
            <a:endParaRPr b="0" lang="en-US" sz="4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better neural network design:  “activation functions” and architectures (neural net =&gt; deep learning)</a:t>
            </a:r>
            <a:endParaRPr b="0" lang="en-US" sz="44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vibrant and very intensive research community</a:t>
            </a:r>
            <a:endParaRPr b="0" lang="en-US" sz="44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(2012) Neural networks, now “deep learning networks” are back, again!</a:t>
            </a:r>
            <a:endParaRPr b="0" lang="en-US" sz="44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(2017) “Attention is all you Need” paper describes Transformers</a:t>
            </a:r>
            <a:endParaRPr b="0" lang="en-US" sz="44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(2020-2023) Steady LLM improvement arrives at GPT-4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– Taking Stock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81" name="CustomShape 2"/>
          <p:cNvSpPr/>
          <p:nvPr/>
        </p:nvSpPr>
        <p:spPr>
          <a:xfrm>
            <a:off x="1097280" y="109728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Early investigation of major ideas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networks since 1960s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Alternating optimism and AI winters</a:t>
            </a:r>
            <a:endParaRPr b="0" lang="en-US" sz="32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Symbolic logic vs neural networks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“bitter” (to some researchers) lesson – can’t program AI directly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504000" y="226080"/>
            <a:ext cx="906912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Recent AI Events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3" name="CustomShape 2"/>
          <p:cNvSpPr/>
          <p:nvPr/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2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Nobel Prizes</a:t>
            </a:r>
            <a:endParaRPr b="0" lang="en-US" sz="4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Physics to John Hopfield and Geoffrey Hinton</a:t>
            </a:r>
            <a:endParaRPr b="0" lang="en-US" sz="4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Chemistry to the developers of Alpha Fold</a:t>
            </a:r>
            <a:endParaRPr b="0" lang="en-US" sz="40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Improved LLM Architectures</a:t>
            </a:r>
            <a:endParaRPr b="0" lang="en-US" sz="4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MoE – “Mixture of Experts”</a:t>
            </a:r>
            <a:endParaRPr b="0" lang="en-US" sz="4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CoT – “Chain of Thought” – LLMs that reason</a:t>
            </a:r>
            <a:endParaRPr b="0" lang="en-US" sz="40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DeepSeek</a:t>
            </a:r>
            <a:endParaRPr b="0" lang="en-US" sz="4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Chinese innovators</a:t>
            </a:r>
            <a:endParaRPr b="0" lang="en-US" sz="40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Demonstrates much more efficient use of computation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CustomShape 1"/>
          <p:cNvSpPr/>
          <p:nvPr/>
        </p:nvSpPr>
        <p:spPr>
          <a:xfrm>
            <a:off x="504000" y="226080"/>
            <a:ext cx="906912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late 2020s (?)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5" name="CustomShape 2"/>
          <p:cNvSpPr/>
          <p:nvPr/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4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Ongoing automation of white collar work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Writing, coding, art, music, law, healthcare, customer service, language translation, entertainment, etc.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My own experience: It's like a competent, widely read, and blindingly fast junior engineer.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double or triple productivity of experienced professionals.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AI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with vision, movement, hearing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Robotics, self-driving cars, manufacturing, construction, etc.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Scientific advances using AI, especially RL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Near Term Issues to Consider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7" name="CustomShape 2"/>
          <p:cNvSpPr/>
          <p:nvPr/>
        </p:nvSpPr>
        <p:spPr>
          <a:xfrm>
            <a:off x="504000" y="1326600"/>
            <a:ext cx="9069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Legal questions of copyright and liability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Alignment” of AI with human values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AI enables experienced professionals but replaces beginners creating “apprentice gap”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Technological unemployment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 like going from farm to factory to simple white-collar work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UBI might provide subsistence, but doesn’t provide purpose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Which nation will lead? – Manhattan project of the 2020s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Future – Where is it heading?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504000" y="132372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6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“…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heavier than air flying machines are impossible”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Lord Kelvin, 1895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Alchemistic Empiricism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Analogy of Chemistry in 1825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Results in fits and starts as we try things out by guess-and-by-golly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 with Nature, End with Design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Planes vs birds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Deep Learning vs brains : Geoff Hinton’s warning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504000" y="226080"/>
            <a:ext cx="906660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2030s (??)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1" name="CustomShape 2"/>
          <p:cNvSpPr/>
          <p:nvPr/>
        </p:nvSpPr>
        <p:spPr>
          <a:xfrm>
            <a:off x="504000" y="1326600"/>
            <a:ext cx="9066600" cy="328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AI progress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are 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Continued progress reaching “AGI” or “superintelligence”</a:t>
            </a:r>
            <a:endParaRPr b="0" lang="en-US" sz="24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Continued improvement in design and training procedures</a:t>
            </a:r>
            <a:endParaRPr b="0" lang="en-US" sz="24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many experts thought “A”.  Now many think “B”.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504000" y="226080"/>
            <a:ext cx="906660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Long Term Questions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3" name="CustomShape 2"/>
          <p:cNvSpPr/>
          <p:nvPr/>
        </p:nvSpPr>
        <p:spPr>
          <a:xfrm>
            <a:off x="457200" y="1326600"/>
            <a:ext cx="9066600" cy="38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AI teach us about the nature of thought and intelligence? 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deal with technological unemployment?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1"/>
          <p:cNvSpPr/>
          <p:nvPr/>
        </p:nvSpPr>
        <p:spPr>
          <a:xfrm>
            <a:off x="504000" y="226080"/>
            <a:ext cx="906948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Advice to Students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5" name="CustomShape 2"/>
          <p:cNvSpPr/>
          <p:nvPr/>
        </p:nvSpPr>
        <p:spPr>
          <a:xfrm>
            <a:off x="504000" y="1326600"/>
            <a:ext cx="90694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0000"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 to create without AI first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Can’t be “in charge” if you are dependent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Gets you closer to content, like doing your own calculations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Then, create using AI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Leverage AI to create more than you can alone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AI as “cointelligence” partner from whom you can learn as well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the workflow of the future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Neural Networks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7" name="CustomShape 2"/>
          <p:cNvSpPr/>
          <p:nvPr/>
        </p:nvSpPr>
        <p:spPr>
          <a:xfrm>
            <a:off x="51336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Basic “neuron”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Weights on inputs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“</a:t>
            </a:r>
            <a:r>
              <a:rPr b="0" lang="en-US" sz="2800" spc="-1" strike="noStrike">
                <a:latin typeface="Arial"/>
              </a:rPr>
              <a:t>Activation function”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Banks of these in “layers”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“</a:t>
            </a:r>
            <a:r>
              <a:rPr b="0" lang="en-US" sz="3200" spc="-1" strike="noStrike">
                <a:latin typeface="Arial"/>
              </a:rPr>
              <a:t>Train” by adjusting weights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Many sample input/outputs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5685840" y="1326600"/>
            <a:ext cx="2909160" cy="1472400"/>
          </a:xfrm>
          <a:prstGeom prst="rect">
            <a:avLst/>
          </a:prstGeom>
          <a:ln>
            <a:noFill/>
          </a:ln>
        </p:spPr>
      </p:pic>
      <p:pic>
        <p:nvPicPr>
          <p:cNvPr id="399" name="" descr=""/>
          <p:cNvPicPr/>
          <p:nvPr/>
        </p:nvPicPr>
        <p:blipFill>
          <a:blip r:embed="rId2"/>
          <a:stretch/>
        </p:blipFill>
        <p:spPr>
          <a:xfrm>
            <a:off x="6035040" y="2834640"/>
            <a:ext cx="3017160" cy="2271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Transformer Architecture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1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5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Tokens to embeddings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Positional Embedding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Neural networks for Attention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Neural networks for analysis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Many layers deep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Final output is next token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02" name="" descr=""/>
          <p:cNvPicPr/>
          <p:nvPr/>
        </p:nvPicPr>
        <p:blipFill>
          <a:blip r:embed="rId1"/>
          <a:stretch/>
        </p:blipFill>
        <p:spPr>
          <a:xfrm>
            <a:off x="6766560" y="1554480"/>
            <a:ext cx="2518920" cy="3439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Training Process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4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0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“</a:t>
            </a:r>
            <a:r>
              <a:rPr b="0" lang="en-US" sz="3200" spc="-1" strike="noStrike">
                <a:latin typeface="Arial"/>
              </a:rPr>
              <a:t>Gradient Descent”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Compute “error” in output based on examples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Adjust all weights a bit to reduce that error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Repeat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Two-weight example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Compute “downhill” direction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Adjust weights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405" name="" descr=""/>
          <p:cNvPicPr/>
          <p:nvPr/>
        </p:nvPicPr>
        <p:blipFill>
          <a:blip r:embed="rId1"/>
          <a:stretch/>
        </p:blipFill>
        <p:spPr>
          <a:xfrm>
            <a:off x="5669280" y="2747160"/>
            <a:ext cx="3551760" cy="2190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504000" y="226080"/>
            <a:ext cx="9069840" cy="94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Optimization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7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2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Make using AI less expensive after training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Reduce power consumption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Allow LLMs to run on edge devices like phones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 all weights are equally valuable; groups of weights can be compressed</a:t>
            </a:r>
            <a:endParaRPr b="0" lang="en-US" sz="3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Precision of the weights can be looser, even down to one bit</a:t>
            </a:r>
            <a:endParaRPr b="0" lang="en-US" sz="3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Speculative Decoding”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Small “draft” LLM model does initial cut, confirmed by stronger model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Knowledge Distillation (KD)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 small LLM from “smart” larger one that offers nuance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ustomShape 1"/>
          <p:cNvSpPr/>
          <p:nvPr/>
        </p:nvSpPr>
        <p:spPr>
          <a:xfrm>
            <a:off x="504000" y="226080"/>
            <a:ext cx="9069840" cy="94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Intelligence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9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6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Longer context windows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Squared complexity – requires creative selectivity in pairwise comparisons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Reasoning models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 improvements: RoPE, better activation functions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Improved generalization</a:t>
            </a:r>
            <a:endParaRPr b="0" lang="en-US" sz="2800" spc="-1" strike="noStrike">
              <a:latin typeface="Arial"/>
            </a:endParaRPr>
          </a:p>
          <a:p>
            <a:pPr lvl="2" marL="1296000" indent="-285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More data examples</a:t>
            </a:r>
            <a:endParaRPr b="0" lang="en-US" sz="2400" spc="-1" strike="noStrike">
              <a:latin typeface="Arial"/>
            </a:endParaRPr>
          </a:p>
          <a:p>
            <a:pPr lvl="2" marL="1296000" indent="-285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RL-based training, especially in physical AI, coding, etc.</a:t>
            </a:r>
            <a:endParaRPr b="0" lang="en-US" sz="2400" spc="-1" strike="noStrike">
              <a:latin typeface="Arial"/>
            </a:endParaRPr>
          </a:p>
          <a:p>
            <a:pPr lvl="2" marL="1296000" indent="-285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Double descent pattern and “grokking”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ustomShape 1"/>
          <p:cNvSpPr/>
          <p:nvPr/>
        </p:nvSpPr>
        <p:spPr>
          <a:xfrm>
            <a:off x="504000" y="226080"/>
            <a:ext cx="9069840" cy="94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Explainability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11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5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Analyzing embeddings for concept patterns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Sparse autoencoders, and “golden gate bridge”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Mechanistic Interpretability (MI)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Reverse engineering weight subnets “circuits”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High Math Approaches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Mutual Information Theory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Sheaf Theory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Analysis of high-dimensional optimization surfaces, e.g. singular learning theory (SLT)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7649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2025-11-14T15:20:38Z</dcterms:modified>
  <cp:revision>64</cp:revision>
  <dc:subject/>
  <dc:title/>
</cp:coreProperties>
</file>