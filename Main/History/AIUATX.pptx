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_rels/slideLayout3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731520" y="2088360"/>
            <a:ext cx="9069120" cy="56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A Look at the “Mind” of GPT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53" name="CustomShape 2"/>
          <p:cNvSpPr/>
          <p:nvPr/>
        </p:nvSpPr>
        <p:spPr>
          <a:xfrm>
            <a:off x="4206240" y="2768400"/>
            <a:ext cx="1644840" cy="40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503640" y="477720"/>
            <a:ext cx="906912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Quick GPT Demo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5" name="CustomShape 2"/>
          <p:cNvSpPr/>
          <p:nvPr/>
        </p:nvSpPr>
        <p:spPr>
          <a:xfrm>
            <a:off x="503640" y="1326240"/>
            <a:ext cx="9069120" cy="328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Write and Revise a Story</a:t>
            </a:r>
            <a:endParaRPr b="0" lang="en-US" sz="32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Understands the context of the story</a:t>
            </a:r>
            <a:endParaRPr b="0" lang="en-US" sz="28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Adapts to different forms</a:t>
            </a:r>
            <a:endParaRPr b="0" lang="en-US" sz="28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Changes tone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ustomShape 1"/>
          <p:cNvSpPr/>
          <p:nvPr/>
        </p:nvSpPr>
        <p:spPr>
          <a:xfrm>
            <a:off x="503640" y="182520"/>
            <a:ext cx="906912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An LLM Is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57" name="CustomShape 2"/>
          <p:cNvSpPr/>
          <p:nvPr/>
        </p:nvSpPr>
        <p:spPr>
          <a:xfrm>
            <a:off x="503640" y="1096920"/>
            <a:ext cx="9069120" cy="351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77000"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An improved search engine</a:t>
            </a:r>
            <a:endParaRPr b="0" lang="en-US" sz="32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Works with the internet unplugged from it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Hand-crafted code</a:t>
            </a:r>
            <a:endParaRPr b="0" lang="en-US" sz="32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Could be written in one page of code – 12 equations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whole modern AI story</a:t>
            </a:r>
            <a:endParaRPr b="0" lang="en-US" sz="32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Important other areas are making major advances too, e.g. “reinforcement learning”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503640" y="225720"/>
            <a:ext cx="906912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An LLM Is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503640" y="1326240"/>
            <a:ext cx="9069120" cy="328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32000"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 sophisticated mathematical engine</a:t>
            </a:r>
            <a:endParaRPr b="0" lang="en-US" sz="32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12 equations, but on “matrices” – huge grids of numbers</a:t>
            </a:r>
            <a:endParaRPr b="0" lang="en-US" sz="32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GPT-3.5 has 175 billion numbers; GPT-4 est 1 trillion</a:t>
            </a:r>
            <a:endParaRPr b="0" lang="en-US" sz="32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“intelligence” is in those numbers (aka weights or parameters)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Self-organizing!</a:t>
            </a:r>
            <a:endParaRPr b="0" lang="en-US" sz="32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weights are “trained” by incremental adjustment to match known texts and human feedback.</a:t>
            </a:r>
            <a:endParaRPr b="0" lang="en-US" sz="32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Humans design the training process and the equations, but not the weights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504000" y="82080"/>
            <a:ext cx="9070560" cy="94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Word/Idea “Embedding”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1"/>
          <a:stretch/>
        </p:blipFill>
        <p:spPr>
          <a:xfrm>
            <a:off x="91440" y="907200"/>
            <a:ext cx="9882720" cy="35722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1"/>
          <p:cNvSpPr/>
          <p:nvPr/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How GPT “Thinks”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63" name="CustomShape 2"/>
          <p:cNvSpPr/>
          <p:nvPr/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68000"/>
          </a:bodyPr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Starts with word embeddings (but 12,800 numbers each) representing words in your prompt</a:t>
            </a:r>
            <a:endParaRPr b="0" lang="en-US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Combines words into higher 12,800-number patterns for phrases, then sentences, etc.</a:t>
            </a:r>
            <a:endParaRPr b="0" lang="en-US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Predicts next “thought” as a number pattern and chooses closest next word.</a:t>
            </a:r>
            <a:endParaRPr b="0" lang="en-US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Repeat, word by word...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The Weights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 the “Intelligence”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97000"/>
          </a:bodyPr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All “reasoning” is by word/concept embeddings.</a:t>
            </a:r>
            <a:endParaRPr b="0" lang="en-US" sz="28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And we 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don’t know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what each weight does.  It’s 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self-organized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to follow examples.  </a:t>
            </a:r>
            <a:endParaRPr b="0" lang="en-US" sz="28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Could learn to converse in a language none of its programmers understand.</a:t>
            </a:r>
            <a:endParaRPr b="0" lang="en-US" sz="28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Are world-models, theory of mind, etc. spontaneously emerging from the training? 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CustomShape 1"/>
          <p:cNvSpPr/>
          <p:nvPr/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Is It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Really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 Intelligent?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67" name="CustomShape 2"/>
          <p:cNvSpPr/>
          <p:nvPr/>
        </p:nvSpPr>
        <p:spPr>
          <a:xfrm>
            <a:off x="457200" y="1254600"/>
            <a:ext cx="9070560" cy="4047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1000"/>
          </a:bodyPr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Yes” arguments</a:t>
            </a:r>
            <a:endParaRPr b="0" lang="en-US" sz="32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Vast possibilities in 1 trillion weights.  Printed out they’d be 4 million large books.</a:t>
            </a:r>
            <a:endParaRPr b="0" lang="en-US" sz="28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Behavior suggests world-models, theory of mind, etc.</a:t>
            </a:r>
            <a:endParaRPr b="0" lang="en-US" sz="28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(But, we really don’t know since we’re not sure how the weights work in detail)</a:t>
            </a:r>
            <a:endParaRPr b="0" lang="en-US" sz="28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No” arguments</a:t>
            </a:r>
            <a:endParaRPr b="0" lang="en-US" sz="32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Just mindless numbers and 12 equations</a:t>
            </a:r>
            <a:endParaRPr b="0" lang="en-US" sz="26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Just predicting the next word.</a:t>
            </a:r>
            <a:endParaRPr b="0" lang="en-US" sz="26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(But, it’s improving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fast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, a human brain is just “mindless” neurons and synapses, and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how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 is it picking that next word so intelligently?)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1"/>
          <p:cNvSpPr/>
          <p:nvPr/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How Far Will It Advance?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69" name="CustomShape 2"/>
          <p:cNvSpPr/>
          <p:nvPr/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4000"/>
          </a:bodyPr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"Heavier-than-air flying machines are impossible" Lord Kelvin 1895</a:t>
            </a:r>
            <a:endParaRPr b="0" lang="en-US" sz="24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Option A: it will “plateau”</a:t>
            </a:r>
            <a:endParaRPr b="0" lang="en-US" sz="24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Reaching limits on compute and on data</a:t>
            </a:r>
            <a:endParaRPr b="0" lang="en-US" sz="24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It’s plateaued before</a:t>
            </a:r>
            <a:endParaRPr b="0" lang="en-US" sz="24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Option B: it will reach human intelligence or more</a:t>
            </a:r>
            <a:endParaRPr b="0" lang="en-US" sz="24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Unprecedented research community and infrastructure</a:t>
            </a:r>
            <a:endParaRPr b="0" lang="en-US" sz="24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Hardware is rapidly improving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ustomShape 1"/>
          <p:cNvSpPr/>
          <p:nvPr/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So, which is it?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1" name="CustomShape 2"/>
          <p:cNvSpPr/>
          <p:nvPr/>
        </p:nvSpPr>
        <p:spPr>
          <a:xfrm>
            <a:off x="457200" y="1326600"/>
            <a:ext cx="9070560" cy="328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5 years ago, most researchers would guess “plateau”.  Now most would guess major improvements</a:t>
            </a:r>
            <a:endParaRPr b="0" lang="en-US" sz="24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Hinton’s insight on deep learning vs. brains</a:t>
            </a:r>
            <a:endParaRPr b="0" lang="en-US" sz="24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Birds vs planes</a:t>
            </a:r>
            <a:endParaRPr b="0" lang="en-US" sz="24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GPT-4 is a mouse brain</a:t>
            </a:r>
            <a:endParaRPr b="0" lang="en-US" sz="24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Desperate need for theory.  Like chemistry in 1824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1"/>
          <p:cNvSpPr/>
          <p:nvPr/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Questions to Ponder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3" name="CustomShape 2"/>
          <p:cNvSpPr/>
          <p:nvPr/>
        </p:nvSpPr>
        <p:spPr>
          <a:xfrm>
            <a:off x="457200" y="1326600"/>
            <a:ext cx="9070560" cy="3884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97000"/>
          </a:bodyPr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How do we teach it to behave constructively and ethically?</a:t>
            </a:r>
            <a:endParaRPr b="0" lang="en-US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How will it affect future employment?</a:t>
            </a:r>
            <a:endParaRPr b="0" lang="en-US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What can it teach us about the nature of thought and intelligence?</a:t>
            </a:r>
            <a:endParaRPr b="0" lang="en-US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Should advanced AI have rights? </a:t>
            </a:r>
            <a:endParaRPr b="0" lang="en-US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What if it becomes more intelligent than us?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Possible Polaris Projects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Mathematical investigation of word embeddings</a:t>
            </a:r>
            <a:endParaRPr b="0" lang="en-US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Creation of RLHF-trained art or music generators</a:t>
            </a:r>
            <a:endParaRPr b="0" lang="en-US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LLM-based tutoring systems</a:t>
            </a:r>
            <a:endParaRPr b="0" lang="en-US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See GPT-4 for more!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Some Useful Terms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7" name="CustomShape 2"/>
          <p:cNvSpPr/>
          <p:nvPr/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7000"/>
          </a:bodyPr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Turing Test: Does it act fully human?  If so, it is…</a:t>
            </a:r>
            <a:endParaRPr b="0" lang="en-US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Artificial General Intelligence or AGI</a:t>
            </a:r>
            <a:endParaRPr b="0" lang="en-US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Weak AI: AGI behavior, but no actual awareness</a:t>
            </a:r>
            <a:endParaRPr b="0" lang="en-US" sz="32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Modern usage sometimes has “narrow” meaning</a:t>
            </a:r>
            <a:endParaRPr b="0" lang="en-US" sz="28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Strong AI: AGI behavior, and is aware</a:t>
            </a:r>
            <a:endParaRPr b="0" lang="en-US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Hard Problem of Consciousness: How can we tell if other people or entities are aware/conscious?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4364</TotalTime>
  <Application>LibreOffice/6.3.5.2$Windows_X86_64 LibreOffice_project/dd0751754f11728f69b42ee2af66670068624673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2017-10-20T23:41:18Z</dcterms:created>
  <dc:creator/>
  <dc:description/>
  <dc:language>en-US</dc:language>
  <cp:lastModifiedBy/>
  <cp:lastPrinted>2023-04-17T14:15:08Z</cp:lastPrinted>
  <dcterms:modified xsi:type="dcterms:W3CDTF">2024-02-06T15:50:15Z</dcterms:modified>
  <cp:revision>34</cp:revision>
  <dc:subject/>
  <dc:title/>
</cp:coreProperties>
</file>