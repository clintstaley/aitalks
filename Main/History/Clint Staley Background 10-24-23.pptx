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849" r:id="rId2"/>
    <p:sldId id="831" r:id="rId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C32"/>
    <a:srgbClr val="0066FF"/>
    <a:srgbClr val="4F81BD"/>
    <a:srgbClr val="002774"/>
    <a:srgbClr val="003399"/>
    <a:srgbClr val="3333FF"/>
    <a:srgbClr val="3333CC"/>
    <a:srgbClr val="FFFF00"/>
    <a:srgbClr val="00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 autoAdjust="0"/>
    <p:restoredTop sz="96395" autoAdjust="0"/>
  </p:normalViewPr>
  <p:slideViewPr>
    <p:cSldViewPr>
      <p:cViewPr varScale="1">
        <p:scale>
          <a:sx n="123" d="100"/>
          <a:sy n="123" d="100"/>
        </p:scale>
        <p:origin x="154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132" y="-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" y="2"/>
            <a:ext cx="3038475" cy="465621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44" y="2"/>
            <a:ext cx="3038475" cy="465621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6E172DC0-43E3-43E4-B0A8-E4096651B0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" y="8830780"/>
            <a:ext cx="3038475" cy="465620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44" y="8830780"/>
            <a:ext cx="3038475" cy="465620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E88C38F4-6DFD-4B59-A04B-AC1096D17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92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5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1" rIns="93164" bIns="46581" numCol="1" anchor="t" anchorCtr="0" compatLnSpc="1">
            <a:prstTxWarp prst="textNoShape">
              <a:avLst/>
            </a:prstTxWarp>
          </a:bodyPr>
          <a:lstStyle>
            <a:lvl1pPr defTabSz="93183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41" y="5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1" rIns="93164" bIns="46581" numCol="1" anchor="t" anchorCtr="0" compatLnSpc="1">
            <a:prstTxWarp prst="textNoShape">
              <a:avLst/>
            </a:prstTxWarp>
          </a:bodyPr>
          <a:lstStyle>
            <a:lvl1pPr algn="r" defTabSz="93183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46" y="4416103"/>
            <a:ext cx="5607711" cy="4182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1" rIns="93164" bIns="465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" y="8830663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1" rIns="93164" bIns="46581" numCol="1" anchor="b" anchorCtr="0" compatLnSpc="1">
            <a:prstTxWarp prst="textNoShape">
              <a:avLst/>
            </a:prstTxWarp>
          </a:bodyPr>
          <a:lstStyle>
            <a:lvl1pPr defTabSz="931836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741" y="8830663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4" tIns="46581" rIns="93164" bIns="46581" numCol="1" anchor="b" anchorCtr="0" compatLnSpc="1">
            <a:prstTxWarp prst="textNoShape">
              <a:avLst/>
            </a:prstTxWarp>
          </a:bodyPr>
          <a:lstStyle>
            <a:lvl1pPr algn="r" defTabSz="931836">
              <a:defRPr sz="1200"/>
            </a:lvl1pPr>
          </a:lstStyle>
          <a:p>
            <a:pPr>
              <a:defRPr/>
            </a:pPr>
            <a:fld id="{88CB6B71-63C9-4FEF-BE74-B2A2F80C61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723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96975" y="704850"/>
            <a:ext cx="4676775" cy="3506788"/>
          </a:xfrm>
          <a:prstGeom prst="rect">
            <a:avLst/>
          </a:prstGeom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707367" y="4444964"/>
            <a:ext cx="5655667" cy="4209073"/>
          </a:xfrm>
          <a:prstGeom prst="rect">
            <a:avLst/>
          </a:prstGeom>
        </p:spPr>
        <p:txBody>
          <a:bodyPr lIns="93930" tIns="46784" rIns="93930" bIns="46784">
            <a:noAutofit/>
          </a:bodyPr>
          <a:lstStyle/>
          <a:p>
            <a:endParaRPr lang="en-US" sz="2000" spc="-1"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4005266" y="0"/>
            <a:ext cx="3063683" cy="46634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0" y="8888478"/>
            <a:ext cx="3063683" cy="46634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CustomShape 5"/>
          <p:cNvSpPr/>
          <p:nvPr/>
        </p:nvSpPr>
        <p:spPr>
          <a:xfrm>
            <a:off x="4005266" y="8888478"/>
            <a:ext cx="3063683" cy="466346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930" tIns="46784" rIns="93930" bIns="46784" anchor="b">
            <a:noAutofit/>
          </a:bodyPr>
          <a:lstStyle/>
          <a:p>
            <a:pPr algn="r">
              <a:lnSpc>
                <a:spcPct val="100000"/>
              </a:lnSpc>
            </a:pPr>
            <a:fld id="{BA0930DA-F462-42FD-851A-2EC44122F162}" type="slidenum">
              <a:rPr lang="en-US" sz="1200" spc="-1">
                <a:latin typeface="Times New Roman"/>
              </a:rPr>
              <a:t>2</a:t>
            </a:fld>
            <a:endParaRPr lang="en-US" sz="1200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619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1676400" y="6581775"/>
            <a:ext cx="579120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66788" eaLnBrk="0" hangingPunct="0">
              <a:spcBef>
                <a:spcPct val="50000"/>
              </a:spcBef>
              <a:defRPr/>
            </a:pPr>
            <a:r>
              <a:rPr lang="en-US" sz="1200" b="1" dirty="0" smtClean="0"/>
              <a:t>CONTROLLED UNCLASSIFIED</a:t>
            </a:r>
            <a:r>
              <a:rPr lang="en-US" sz="1200" b="1" baseline="0" dirty="0" smtClean="0"/>
              <a:t> INFORMATINON (CUI) – DISTRIBUTION F</a:t>
            </a:r>
            <a:endParaRPr lang="en-US" sz="1200" b="1" dirty="0"/>
          </a:p>
        </p:txBody>
      </p:sp>
      <p:grpSp>
        <p:nvGrpSpPr>
          <p:cNvPr id="7" name="Group 9"/>
          <p:cNvGrpSpPr>
            <a:grpSpLocks/>
          </p:cNvGrpSpPr>
          <p:nvPr userDrawn="1"/>
        </p:nvGrpSpPr>
        <p:grpSpPr bwMode="auto">
          <a:xfrm>
            <a:off x="2286000" y="1143000"/>
            <a:ext cx="6705600" cy="47445"/>
            <a:chOff x="155" y="688"/>
            <a:chExt cx="5504" cy="39"/>
          </a:xfrm>
          <a:solidFill>
            <a:srgbClr val="002774"/>
          </a:solidFill>
        </p:grpSpPr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155" y="688"/>
              <a:ext cx="2696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2899" y="688"/>
              <a:ext cx="408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0" name="Rectangle 12"/>
            <p:cNvSpPr>
              <a:spLocks noChangeArrowheads="1"/>
            </p:cNvSpPr>
            <p:nvPr/>
          </p:nvSpPr>
          <p:spPr bwMode="auto">
            <a:xfrm>
              <a:off x="3355" y="688"/>
              <a:ext cx="352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3756" y="688"/>
              <a:ext cx="289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092" y="688"/>
              <a:ext cx="289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4427" y="688"/>
              <a:ext cx="240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4715" y="688"/>
              <a:ext cx="216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4987" y="688"/>
              <a:ext cx="167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5219" y="688"/>
              <a:ext cx="120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5395" y="688"/>
              <a:ext cx="80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8" name="Rectangle 20"/>
            <p:cNvSpPr>
              <a:spLocks noChangeArrowheads="1"/>
            </p:cNvSpPr>
            <p:nvPr/>
          </p:nvSpPr>
          <p:spPr bwMode="auto">
            <a:xfrm>
              <a:off x="5523" y="688"/>
              <a:ext cx="56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9" name="Rectangle 21"/>
            <p:cNvSpPr>
              <a:spLocks noChangeArrowheads="1"/>
            </p:cNvSpPr>
            <p:nvPr/>
          </p:nvSpPr>
          <p:spPr bwMode="auto">
            <a:xfrm>
              <a:off x="5627" y="688"/>
              <a:ext cx="32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</p:grpSp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8" y="733425"/>
            <a:ext cx="19812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305800" y="6477000"/>
            <a:ext cx="381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8F056-4628-461D-9010-AA7D6EB5ED5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007504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8305800" y="6477000"/>
            <a:ext cx="381000" cy="247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8F056-4628-461D-9010-AA7D6EB5ED5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6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444909" y="6558486"/>
            <a:ext cx="3810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fld id="{E76AF19F-DB71-42F1-A717-42B38DC572A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48" name="Text Box 24"/>
          <p:cNvSpPr txBox="1">
            <a:spLocks noChangeArrowheads="1"/>
          </p:cNvSpPr>
          <p:nvPr/>
        </p:nvSpPr>
        <p:spPr bwMode="auto">
          <a:xfrm>
            <a:off x="762000" y="6553200"/>
            <a:ext cx="7431088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66788" eaLnBrk="0" hangingPunct="0">
              <a:spcBef>
                <a:spcPct val="50000"/>
              </a:spcBef>
              <a:defRPr/>
            </a:pPr>
            <a:r>
              <a:rPr lang="en-US" sz="1200" b="1" dirty="0" smtClean="0"/>
              <a:t>CONTROLLED UNCLASSIFIED</a:t>
            </a:r>
            <a:r>
              <a:rPr lang="en-US" sz="1200" b="1" baseline="0" dirty="0" smtClean="0"/>
              <a:t> INFORMATINON (CUI) </a:t>
            </a:r>
            <a:r>
              <a:rPr lang="en-US" sz="1200" b="1" baseline="0" dirty="0"/>
              <a:t>– DISTRIBUTION </a:t>
            </a:r>
            <a:r>
              <a:rPr lang="en-US" sz="1200" b="1" baseline="0" dirty="0" smtClean="0"/>
              <a:t>F</a:t>
            </a:r>
            <a:endParaRPr lang="en-US" sz="1200" b="1" dirty="0"/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286000" y="1295400"/>
            <a:ext cx="6705600" cy="47445"/>
            <a:chOff x="155" y="688"/>
            <a:chExt cx="5504" cy="39"/>
          </a:xfrm>
          <a:solidFill>
            <a:srgbClr val="002774"/>
          </a:solidFill>
        </p:grpSpPr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155" y="688"/>
              <a:ext cx="2696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2899" y="688"/>
              <a:ext cx="408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3355" y="688"/>
              <a:ext cx="352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3756" y="688"/>
              <a:ext cx="289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092" y="688"/>
              <a:ext cx="289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4427" y="688"/>
              <a:ext cx="240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1" name="Rectangle 16"/>
            <p:cNvSpPr>
              <a:spLocks noChangeArrowheads="1"/>
            </p:cNvSpPr>
            <p:nvPr/>
          </p:nvSpPr>
          <p:spPr bwMode="auto">
            <a:xfrm>
              <a:off x="4715" y="688"/>
              <a:ext cx="216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4987" y="688"/>
              <a:ext cx="167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3" name="Rectangle 18"/>
            <p:cNvSpPr>
              <a:spLocks noChangeArrowheads="1"/>
            </p:cNvSpPr>
            <p:nvPr/>
          </p:nvSpPr>
          <p:spPr bwMode="auto">
            <a:xfrm>
              <a:off x="5219" y="688"/>
              <a:ext cx="120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Rectangle 19"/>
            <p:cNvSpPr>
              <a:spLocks noChangeArrowheads="1"/>
            </p:cNvSpPr>
            <p:nvPr/>
          </p:nvSpPr>
          <p:spPr bwMode="auto">
            <a:xfrm>
              <a:off x="5395" y="688"/>
              <a:ext cx="80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5523" y="688"/>
              <a:ext cx="56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5627" y="688"/>
              <a:ext cx="32" cy="39"/>
            </a:xfrm>
            <a:prstGeom prst="rect">
              <a:avLst/>
            </a:prstGeom>
            <a:grpFill/>
            <a:ln w="1270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</p:grpSp>
      <p:pic>
        <p:nvPicPr>
          <p:cNvPr id="2560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862013"/>
            <a:ext cx="198120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</p:sldLayoutIdLst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6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133600" y="1905000"/>
            <a:ext cx="5181600" cy="2895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000" dirty="0" smtClean="0"/>
          </a:p>
          <a:p>
            <a:pPr algn="ctr"/>
            <a:endParaRPr lang="en-US" altLang="en-US" sz="2000" dirty="0"/>
          </a:p>
          <a:p>
            <a:pPr algn="ctr"/>
            <a:r>
              <a:rPr lang="en-US" altLang="en-US" sz="2000" smtClean="0"/>
              <a:t>Clint </a:t>
            </a:r>
            <a:r>
              <a:rPr lang="en-US" altLang="en-US" sz="2000" dirty="0" smtClean="0"/>
              <a:t>Staley Background</a:t>
            </a:r>
            <a:endParaRPr lang="en-US" altLang="en-US" sz="2000" dirty="0"/>
          </a:p>
          <a:p>
            <a:pPr algn="ctr"/>
            <a:r>
              <a:rPr lang="en-US" altLang="en-US" sz="2000" dirty="0" smtClean="0"/>
              <a:t>October 25, 2023</a:t>
            </a:r>
            <a:endParaRPr lang="en-US" altLang="en-US" sz="2000" dirty="0"/>
          </a:p>
          <a:p>
            <a:pPr algn="ctr"/>
            <a:endParaRPr lang="en-US" altLang="en-US" sz="2000" dirty="0"/>
          </a:p>
          <a:p>
            <a:pPr algn="ctr"/>
            <a:endParaRPr lang="en-US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5041612"/>
            <a:ext cx="609599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to all pages herein:</a:t>
            </a:r>
          </a:p>
          <a:p>
            <a:pPr>
              <a:spcBef>
                <a:spcPts val="600"/>
              </a:spcBef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STATEMENT F. Further dissemination only as directed by The Strategic Capabilities Office, 1155 Defense Pentagon Washington DC 20301-1155, 28 Aug 2018..</a:t>
            </a:r>
          </a:p>
          <a:p>
            <a:pPr>
              <a:spcBef>
                <a:spcPts val="600"/>
              </a:spcBef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and/or Limited Data Rights apply per the Contract Statement of Work.</a:t>
            </a:r>
          </a:p>
          <a:p>
            <a:pPr>
              <a:spcBef>
                <a:spcPts val="600"/>
              </a:spcBef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WARNING: - 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document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technical data whose export is restricted by the Arms Export Control Act (Title 22, U.S.C., App. 2401 et seq. </a:t>
            </a:r>
            <a:r>
              <a:rPr lang="en-US" sz="1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Violations of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export laws are subject to severe criminal penalties. Disseminate in accordance with provisions of DoD Directive 5230.25.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24599" y="5626387"/>
            <a:ext cx="259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</a:rPr>
              <a:t>Controlled by: US Army DEVCOM AC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</a:rPr>
              <a:t>Controlled by: Technovative Applications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</a:rPr>
              <a:t>3160-A Enterprise St., Brea, CA 92821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</a:rPr>
              <a:t>CUI Category: OPSEC, PROCURE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</a:rPr>
              <a:t>Distribution/Dissemination Control: Distribution F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</a:rPr>
              <a:t>POC: Jim Williams [714 996-0104]</a:t>
            </a:r>
            <a:endParaRPr lang="en-US" sz="9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96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914400" y="7632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 smtClean="0">
                <a:solidFill>
                  <a:srgbClr val="000000"/>
                </a:solidFill>
                <a:latin typeface="Arial"/>
              </a:rPr>
              <a:t>Clinton A Staley Personal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Background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61" name="CustomShape 2"/>
          <p:cNvSpPr/>
          <p:nvPr/>
        </p:nvSpPr>
        <p:spPr>
          <a:xfrm>
            <a:off x="838200" y="1671120"/>
            <a:ext cx="7960200" cy="443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85840" indent="-28512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 smtClean="0">
                <a:solidFill>
                  <a:srgbClr val="000000"/>
                </a:solidFill>
                <a:latin typeface="Arial"/>
              </a:rPr>
              <a:t>Background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in Software Development, Computer Science Education</a:t>
            </a:r>
            <a:endParaRPr lang="en-US" sz="1400" b="0" strike="noStrike" spc="-1" dirty="0">
              <a:latin typeface="Arial"/>
            </a:endParaRPr>
          </a:p>
          <a:p>
            <a:pPr marL="285840" indent="-28512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Education:</a:t>
            </a:r>
            <a:endParaRPr lang="en-US" sz="1400" b="0" strike="noStrike" spc="-1" dirty="0">
              <a:latin typeface="Arial"/>
            </a:endParaRPr>
          </a:p>
          <a:p>
            <a:pPr marL="685800" lvl="1" indent="-22788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Principia College; BA Math/English</a:t>
            </a:r>
            <a:endParaRPr lang="en-US" sz="1400" b="0" strike="noStrike" spc="-1" dirty="0">
              <a:latin typeface="Arial"/>
            </a:endParaRPr>
          </a:p>
          <a:p>
            <a:pPr marL="685800" lvl="1" indent="-22788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UC Santa Barbara; MS Computer Science,  PhD Electrical Engineering</a:t>
            </a:r>
            <a:endParaRPr lang="en-US" sz="1400" b="0" strike="noStrike" spc="-1" dirty="0">
              <a:latin typeface="Arial"/>
            </a:endParaRPr>
          </a:p>
          <a:p>
            <a:pPr marL="285840" indent="-28512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Professor of Computer Science at Cal Poly San Luis Obispo, 33 years</a:t>
            </a:r>
            <a:endParaRPr lang="en-US" sz="1400" b="0" strike="noStrike" spc="-1" dirty="0">
              <a:latin typeface="Arial"/>
            </a:endParaRPr>
          </a:p>
          <a:p>
            <a:pPr marL="285840" indent="-28512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Professor of Computer Science at Principia College, 9 years</a:t>
            </a:r>
            <a:endParaRPr lang="en-US" sz="1400" b="0" strike="noStrike" spc="-1" dirty="0">
              <a:latin typeface="Arial"/>
            </a:endParaRPr>
          </a:p>
          <a:p>
            <a:pPr marL="285840" indent="-28512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Industrial Software Development</a:t>
            </a:r>
            <a:endParaRPr lang="en-US" sz="1400" b="0" strike="noStrike" spc="-1" dirty="0">
              <a:latin typeface="Arial"/>
            </a:endParaRPr>
          </a:p>
          <a:p>
            <a:pPr marL="685800" lvl="1" indent="-22788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Cofounder of four software startups</a:t>
            </a:r>
            <a:endParaRPr lang="en-US" sz="1400" b="0" strike="noStrike" spc="-1" dirty="0">
              <a:latin typeface="Arial"/>
            </a:endParaRPr>
          </a:p>
          <a:p>
            <a:pPr marL="685800" lvl="1" indent="-22788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3 years Engineering Director, Amazon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Arial"/>
              </a:rPr>
              <a:t>CreateSpace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 subsidiary</a:t>
            </a:r>
            <a:endParaRPr lang="en-US" sz="1400" b="0" strike="noStrike" spc="-1" dirty="0">
              <a:latin typeface="Arial"/>
            </a:endParaRPr>
          </a:p>
          <a:p>
            <a:pPr marL="685800" lvl="1" indent="-22788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Software development and project management experience at over a dozen private and public entities, from small corporation to large governmental</a:t>
            </a:r>
            <a:endParaRPr lang="en-US" sz="1400" b="0" strike="noStrike" spc="-1" dirty="0">
              <a:latin typeface="Arial"/>
            </a:endParaRPr>
          </a:p>
          <a:p>
            <a:pPr marL="285840" indent="-285120">
              <a:spcBef>
                <a:spcPts val="12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</a:rPr>
              <a:t>Six US patents</a:t>
            </a:r>
            <a:endParaRPr lang="en-US" sz="1400" b="0" strike="noStrike" spc="-1" dirty="0">
              <a:latin typeface="Arial"/>
            </a:endParaRPr>
          </a:p>
          <a:p>
            <a:pPr marL="1371600">
              <a:lnSpc>
                <a:spcPct val="100000"/>
              </a:lnSpc>
              <a:spcBef>
                <a:spcPts val="320"/>
              </a:spcBef>
            </a:pPr>
            <a:endParaRPr lang="en-US" sz="1400" b="0" strike="noStrike" spc="-1" dirty="0">
              <a:latin typeface="Arial"/>
            </a:endParaRPr>
          </a:p>
          <a:p>
            <a:pPr marL="1371600">
              <a:lnSpc>
                <a:spcPct val="100000"/>
              </a:lnSpc>
              <a:spcBef>
                <a:spcPts val="320"/>
              </a:spcBef>
            </a:pPr>
            <a:endParaRPr lang="en-US" sz="1400" b="0" strike="noStrike" spc="-1" dirty="0">
              <a:latin typeface="Arial"/>
            </a:endParaRPr>
          </a:p>
        </p:txBody>
      </p:sp>
      <p:sp>
        <p:nvSpPr>
          <p:cNvPr id="62" name="CustomShape 3"/>
          <p:cNvSpPr/>
          <p:nvPr/>
        </p:nvSpPr>
        <p:spPr>
          <a:xfrm>
            <a:off x="8305920" y="6492960"/>
            <a:ext cx="456480" cy="364320"/>
          </a:xfrm>
          <a:prstGeom prst="rect">
            <a:avLst/>
          </a:prstGeom>
          <a:noFill/>
          <a:ln w="12600">
            <a:noFill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fld id="{DFDD2DC1-6009-4052-AF9B-93955E029D96}" type="slidenum">
              <a:rPr lang="en-US" sz="1000" b="0" strike="noStrike" spc="-1">
                <a:solidFill>
                  <a:srgbClr val="000000"/>
                </a:solidFill>
                <a:latin typeface="Arial"/>
              </a:rPr>
              <a:t>2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601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TA Logo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29841</TotalTime>
  <Words>239</Words>
  <Application>Microsoft Office PowerPoint</Application>
  <PresentationFormat>On-screen Show (4:3)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TA Logo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jkw</dc:creator>
  <cp:lastModifiedBy>Jim</cp:lastModifiedBy>
  <cp:revision>1323</cp:revision>
  <cp:lastPrinted>2025-10-10T03:15:09Z</cp:lastPrinted>
  <dcterms:created xsi:type="dcterms:W3CDTF">2014-10-21T23:39:29Z</dcterms:created>
  <dcterms:modified xsi:type="dcterms:W3CDTF">2025-10-10T03:21:38Z</dcterms:modified>
</cp:coreProperties>
</file>