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ustomShape 1"/>
          <p:cNvSpPr/>
          <p:nvPr/>
        </p:nvSpPr>
        <p:spPr>
          <a:xfrm>
            <a:off x="731520" y="2088360"/>
            <a:ext cx="9066240" cy="56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Modern AI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Dr. Clint Staley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Professor of STEM, UATX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 Professor Emeritus, Cal Poly SLO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267" name="CustomShape 2"/>
          <p:cNvSpPr/>
          <p:nvPr/>
        </p:nvSpPr>
        <p:spPr>
          <a:xfrm>
            <a:off x="4206240" y="2768400"/>
            <a:ext cx="1641960" cy="39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503640" y="477720"/>
            <a:ext cx="906624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Large Language Model” (LLM) Demo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269" name="CustomShape 2"/>
          <p:cNvSpPr/>
          <p:nvPr/>
        </p:nvSpPr>
        <p:spPr>
          <a:xfrm>
            <a:off x="503640" y="1326240"/>
            <a:ext cx="9066240" cy="328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8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 (Claude Sonnet)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</a:t>
            </a:r>
            <a:endParaRPr b="0" lang="en-US" sz="28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Multimodal: Analyzing humorous images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Many LLMs available, steadily improving</a:t>
            </a:r>
            <a:endParaRPr b="0" lang="en-US" sz="28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ChatGPT (OpenAI), Claude (Anthropic), Grok (X), R1 (DeepSeek)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Using an LLM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1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Typical uses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Comprehensive web search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Summarizing and analyzing documents (Emancipation Proclamation example)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Generating or editing prose 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Tutorial discussions 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Brainstorming and recommendations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Language translation</a:t>
            </a:r>
            <a:endParaRPr b="0" lang="en-US" sz="26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Learning to Prompt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More than a question.  Can include a lot of information, and guides the response.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Prompt and entire conversation are “input” for further conversation</a:t>
            </a:r>
            <a:endParaRPr b="0" lang="en-US" sz="2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Some LLM-based systems, e.g. customer service, maintain a database of prompts with relevant background:  “Retrieval-Augmented Generation”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ustomShape 1"/>
          <p:cNvSpPr/>
          <p:nvPr/>
        </p:nvSpPr>
        <p:spPr>
          <a:xfrm>
            <a:off x="503640" y="182520"/>
            <a:ext cx="906624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3" name="CustomShape 2"/>
          <p:cNvSpPr/>
          <p:nvPr/>
        </p:nvSpPr>
        <p:spPr>
          <a:xfrm>
            <a:off x="503640" y="1096920"/>
            <a:ext cx="9066240" cy="3512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2000"/>
          </a:bodyPr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Is able to web-search when useful, but…</a:t>
            </a:r>
            <a:endParaRPr b="0" lang="en-US" sz="26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…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6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 programming specific to the questions/answers</a:t>
            </a:r>
            <a:endParaRPr b="0" lang="en-US" sz="26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</a:t>
            </a:r>
            <a:endParaRPr b="0" lang="en-US" sz="26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learning”, computer vision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503640" y="225720"/>
            <a:ext cx="906624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75" name="CustomShape 2"/>
          <p:cNvSpPr/>
          <p:nvPr/>
        </p:nvSpPr>
        <p:spPr>
          <a:xfrm>
            <a:off x="503640" y="1326240"/>
            <a:ext cx="9066240" cy="3283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From 10 billion to over 1 trillion numbers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</a:t>
            </a:r>
            <a:endParaRPr b="0" lang="en-US" sz="3200" spc="-1" strike="noStrike">
              <a:latin typeface="Arial"/>
            </a:endParaRPr>
          </a:p>
          <a:p>
            <a:pPr lvl="4" marL="1080000" indent="-215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First, to match known texts</a:t>
            </a:r>
            <a:endParaRPr b="0" lang="en-US" sz="3200" spc="-1" strike="noStrike">
              <a:latin typeface="Arial"/>
            </a:endParaRPr>
          </a:p>
          <a:p>
            <a:pPr lvl="4" marL="1080000" indent="-215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 to adjust to human feedback given by RLHF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CustomShape 1"/>
          <p:cNvSpPr/>
          <p:nvPr/>
        </p:nvSpPr>
        <p:spPr>
          <a:xfrm>
            <a:off x="504000" y="82080"/>
            <a:ext cx="906768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277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3360" cy="2840040"/>
          </a:xfrm>
          <a:prstGeom prst="rect">
            <a:avLst/>
          </a:prstGeom>
          <a:ln>
            <a:noFill/>
          </a:ln>
        </p:spPr>
      </p:pic>
      <p:sp>
        <p:nvSpPr>
          <p:cNvPr id="278" name="CustomShape 2"/>
          <p:cNvSpPr/>
          <p:nvPr/>
        </p:nvSpPr>
        <p:spPr>
          <a:xfrm>
            <a:off x="526320" y="3987360"/>
            <a:ext cx="9069480" cy="192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38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38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Each word has a number sequence – an “embedding”</a:t>
            </a:r>
            <a:endParaRPr b="0" lang="en-US" sz="2600" spc="-1" strike="noStrike">
              <a:latin typeface="Arial"/>
            </a:endParaRPr>
          </a:p>
          <a:p>
            <a:pPr marL="216000" indent="-2138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CustomShape 1"/>
          <p:cNvSpPr/>
          <p:nvPr/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0" name="CustomShape 2"/>
          <p:cNvSpPr/>
          <p:nvPr/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 and the current conversation.</a:t>
            </a:r>
            <a:endParaRPr b="0" lang="en-US" sz="32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into higher 12,800-number patterns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 number pattern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ustomShape 1"/>
          <p:cNvSpPr/>
          <p:nvPr/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2" name="CustomShape 2"/>
          <p:cNvSpPr/>
          <p:nvPr/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(mostly)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an LLM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457200" y="1254600"/>
            <a:ext cx="9067680" cy="404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Behavior suggests world-models, theory of mind, etc.</a:t>
            </a:r>
            <a:endParaRPr b="0" lang="en-US" sz="28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really don’t know since we’re not sure how the weights work in detail)</a:t>
            </a:r>
            <a:endParaRPr b="0" lang="en-US" sz="28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CustomShape 1"/>
          <p:cNvSpPr/>
          <p:nvPr/>
        </p:nvSpPr>
        <p:spPr>
          <a:xfrm>
            <a:off x="504000" y="226080"/>
            <a:ext cx="907056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Other”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6" name="CustomShape 2"/>
          <p:cNvSpPr/>
          <p:nvPr/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8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Same principles of training and numerical patterns, but different designs and purposes.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Models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DALL-E example  (creative photos, Sora video)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Reinforcement Learning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Self-instructing.  Requires automatically generable feedback.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Alpha Go example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Used in RLHF as second stage of LLM training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 and Multimodal AI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CNNs and Vision Transformers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Graph Neural Networks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Analyze connection patterns, not language, e.g. chemical compounds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ustomShape 1"/>
          <p:cNvSpPr/>
          <p:nvPr/>
        </p:nvSpPr>
        <p:spPr>
          <a:xfrm>
            <a:off x="504000" y="226080"/>
            <a:ext cx="907056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1950s - 1960s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88" name="CustomShape 2"/>
          <p:cNvSpPr/>
          <p:nvPr/>
        </p:nvSpPr>
        <p:spPr>
          <a:xfrm>
            <a:off x="504000" y="1343520"/>
            <a:ext cx="580392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1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(1956) “Artificial Intelligence” first used as a term</a:t>
            </a:r>
            <a:endParaRPr b="0" lang="en-US" sz="36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1956) First good “theorem prover” –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Microsoft YaHei"/>
              </a:rPr>
              <a:t>symbolic AI</a:t>
            </a:r>
            <a:endParaRPr b="0" lang="en-US" sz="36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(1965) ELIZA basic “chatbot” in 200 lines of code</a:t>
            </a:r>
            <a:endParaRPr b="0" lang="en-US" sz="36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(1960s) Hopfield, Minsky and others do early work in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“neural networks”</a:t>
            </a:r>
            <a:endParaRPr b="0" lang="en-US" sz="36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(1967) Minsky: “Within a generation … the problem of creating artificial intelligence will substantially be solved.”</a:t>
            </a:r>
            <a:endParaRPr b="0" lang="en-US" sz="36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(1969) Minsky and Papert publish “Perceptrons”</a:t>
            </a:r>
            <a:endParaRPr b="0" lang="en-US" sz="36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Proves one-layer (all they knew how to train) neural networks very limited and  triggers first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“AI winter”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89" name="" descr=""/>
          <p:cNvPicPr/>
          <p:nvPr/>
        </p:nvPicPr>
        <p:blipFill>
          <a:blip r:embed="rId1"/>
          <a:stretch/>
        </p:blipFill>
        <p:spPr>
          <a:xfrm>
            <a:off x="6675480" y="1463040"/>
            <a:ext cx="2793240" cy="19900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ustomShape 1"/>
          <p:cNvSpPr/>
          <p:nvPr/>
        </p:nvSpPr>
        <p:spPr>
          <a:xfrm>
            <a:off x="504000" y="226080"/>
            <a:ext cx="907056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1970s-1990s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1" name="CustomShape 2"/>
          <p:cNvSpPr/>
          <p:nvPr/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0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Seppo Linnainmaa quietly publishes “backpropagation” algorithm, solving the multilayer training problem. 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 one notices.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(1970s and 80s): Direct coding of logic in “expert systems”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Turns out to be limited and fragile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Vaunted “5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th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generation” computing fizzles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(1986) Backpropagation algorithm (re)discovered. 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nets are back.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training networks &gt; 3 layers proves very hard.  (Modern AI takes hundreds.)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After brief burst of progress, a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second “AI Winter”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504000" y="226080"/>
            <a:ext cx="907056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2012-2024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2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Four important advances lay ground for new neural network growth</a:t>
            </a:r>
            <a:endParaRPr b="0" lang="en-US" sz="4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more available training data via internet</a:t>
            </a:r>
            <a:endParaRPr b="0" lang="en-US" sz="4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computing power via GPUs</a:t>
            </a:r>
            <a:endParaRPr b="0" lang="en-US" sz="4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better neural twork design:  “activation functions” and architectures (neural net =&gt; deep learning)</a:t>
            </a:r>
            <a:endParaRPr b="0" lang="en-US" sz="44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vibrant and very intensive research community</a:t>
            </a:r>
            <a:endParaRPr b="0" lang="en-US" sz="4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(2012) Neural networks, now “deep learning networks” are back, again!</a:t>
            </a:r>
            <a:endParaRPr b="0" lang="en-US" sz="4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(2017) “Attention is all you Need” paper describes Transformers</a:t>
            </a:r>
            <a:endParaRPr b="0" lang="en-US" sz="44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(2020-2023) Steady LLM improvement arrives at GPT-4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CustomShape 1"/>
          <p:cNvSpPr/>
          <p:nvPr/>
        </p:nvSpPr>
        <p:spPr>
          <a:xfrm>
            <a:off x="504000" y="226080"/>
            <a:ext cx="907092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– Taking Stock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5" name="CustomShape 2"/>
          <p:cNvSpPr/>
          <p:nvPr/>
        </p:nvSpPr>
        <p:spPr>
          <a:xfrm>
            <a:off x="1097280" y="1097280"/>
            <a:ext cx="907092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Early investigation of major ideas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networks since 1960s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Alternating optimism and AI winters</a:t>
            </a:r>
            <a:endParaRPr b="0" lang="en-US" sz="32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Symbolic logic vs neural networks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“bitter lesson” – don’t program AI directly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Recent AI Events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7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2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Nobel Prizes</a:t>
            </a:r>
            <a:endParaRPr b="0" lang="en-US" sz="40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Physics to John Hopfield and Geoffrey Hinton</a:t>
            </a:r>
            <a:endParaRPr b="0" lang="en-US" sz="40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Chemistry to the developers of Alpha Fold</a:t>
            </a:r>
            <a:endParaRPr b="0" lang="en-US" sz="40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Improved LLM Architectures</a:t>
            </a:r>
            <a:endParaRPr b="0" lang="en-US" sz="40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MoE – “Mixture of Experts”</a:t>
            </a:r>
            <a:endParaRPr b="0" lang="en-US" sz="40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CoT – “Chain of Thought” – LLMs that reason</a:t>
            </a:r>
            <a:endParaRPr b="0" lang="en-US" sz="40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DeepSeek</a:t>
            </a:r>
            <a:endParaRPr b="0" lang="en-US" sz="40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Chinese innovators</a:t>
            </a:r>
            <a:endParaRPr b="0" lang="en-US" sz="40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Demonstrates much more efficient use of computation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CustomShape 1"/>
          <p:cNvSpPr/>
          <p:nvPr/>
        </p:nvSpPr>
        <p:spPr>
          <a:xfrm>
            <a:off x="504000" y="226080"/>
            <a:ext cx="9070920" cy="945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Future – Where is it heading?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99" name="CustomShape 2"/>
          <p:cNvSpPr/>
          <p:nvPr/>
        </p:nvSpPr>
        <p:spPr>
          <a:xfrm>
            <a:off x="504000" y="1323720"/>
            <a:ext cx="9070920" cy="3287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6000"/>
          </a:bodyPr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“…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heavier than air flying machines are impossible”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Lord Kelvin, 1895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Alchemistic Empiricism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Analogy of Chemistry in 1825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Results in fits and starts as we try things out by guess-and-by-golly</a:t>
            </a:r>
            <a:endParaRPr b="0" lang="en-US" sz="2800" spc="-1" strike="noStrike">
              <a:latin typeface="Arial"/>
            </a:endParaRPr>
          </a:p>
          <a:p>
            <a:pPr marL="432000" indent="-322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 with Nature, End with Design</a:t>
            </a:r>
            <a:endParaRPr b="0" lang="en-US" sz="32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Planes vs birds</a:t>
            </a:r>
            <a:endParaRPr b="0" lang="en-US" sz="2800" spc="-1" strike="noStrike">
              <a:latin typeface="Arial"/>
            </a:endParaRPr>
          </a:p>
          <a:p>
            <a:pPr lvl="1" marL="864000" indent="-322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Deep Learning vs brains : Geoff Hinton’s warning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CustomShape 1"/>
          <p:cNvSpPr/>
          <p:nvPr/>
        </p:nvSpPr>
        <p:spPr>
          <a:xfrm>
            <a:off x="504000" y="226080"/>
            <a:ext cx="907020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late 2020s (?)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1" name="CustomShape 2"/>
          <p:cNvSpPr/>
          <p:nvPr/>
        </p:nvSpPr>
        <p:spPr>
          <a:xfrm>
            <a:off x="504000" y="1326600"/>
            <a:ext cx="907020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5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Ongoing automation of white collar work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Writing, coding, art, music, law, healthcare, customer service, language translation, entertainment, etc.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My own experience: It's like a competent, widely read, and blindingly fast junior engineer.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double or triple productivity of experienced professionals.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AI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with vision, movement, hearing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Robotics, self-driving cars, manufacturing, construction, etc.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Scientific advances using AI, especially RL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504000" y="226080"/>
            <a:ext cx="907056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Near Term Issues to Consider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3" name="CustomShape 2"/>
          <p:cNvSpPr/>
          <p:nvPr/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4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Legal questions of copyright and liability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Alignment” of AI with human values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AI enables experienced professionals but replaces beginners creating “apprentice gap”</a:t>
            </a:r>
            <a:endParaRPr b="0" lang="en-US" sz="32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Technological unemployment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 like going from farm to factory to simple white-collar work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UBI might provide subsistence, but doesn’t provide purpose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Which nation will lead? – Manhattan project of the 2020s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CustomShape 1"/>
          <p:cNvSpPr/>
          <p:nvPr/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2030s (??)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5" name="CustomShape 2"/>
          <p:cNvSpPr/>
          <p:nvPr/>
        </p:nvSpPr>
        <p:spPr>
          <a:xfrm>
            <a:off x="504000" y="1326600"/>
            <a:ext cx="906768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AI progress will “plateau”</a:t>
            </a:r>
            <a:endParaRPr b="0" lang="en-US" sz="24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are 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It’s plateaued before</a:t>
            </a:r>
            <a:endParaRPr b="0" lang="en-US" sz="24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Continued progress reaching “AGI” or “superintelligence”</a:t>
            </a:r>
            <a:endParaRPr b="0" lang="en-US" sz="24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Unprecedented research community and infrastructure</a:t>
            </a:r>
            <a:endParaRPr b="0" lang="en-US" sz="24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Continued improvement in design and training procedures</a:t>
            </a:r>
            <a:endParaRPr b="0" lang="en-US" sz="2400" spc="-1" strike="noStrike">
              <a:latin typeface="Arial"/>
            </a:endParaRPr>
          </a:p>
          <a:p>
            <a:pPr lvl="1" marL="864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Hardware is rapidly improving</a:t>
            </a:r>
            <a:endParaRPr b="0" lang="en-US" sz="24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 years ago, many experts thought “A”.  Now many think “B”.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Optimization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7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2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Make using AI less expensive after training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Reduce power consumption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Allow LLMs to run on edge devices like phones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 all weights are equally valuable; groups of weights can be compressed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Precision of the weights can be looser, even down to one bit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Speculative Decoding”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Small “draft” LLM model does initial cut, confirmed by stronger model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Knowledge Distillation (KD)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Train small LLM from “smart” larger one that offers nuance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Intelligence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9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6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Longer context windows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Squared complexity – requires creative selectivity in pairwise comparisons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Reasoning models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Architecture improvements: RoPE, better activation functions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Improved generalization</a:t>
            </a:r>
            <a:endParaRPr b="0" lang="en-US" sz="2800" spc="-1" strike="noStrike">
              <a:latin typeface="Arial"/>
            </a:endParaRPr>
          </a:p>
          <a:p>
            <a:pPr lvl="2" marL="1296000" indent="-2872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More data examples</a:t>
            </a:r>
            <a:endParaRPr b="0" lang="en-US" sz="2400" spc="-1" strike="noStrike">
              <a:latin typeface="Arial"/>
            </a:endParaRPr>
          </a:p>
          <a:p>
            <a:pPr lvl="2" marL="1296000" indent="-2872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RL-based training, especially in physical AI, coding, etc.</a:t>
            </a:r>
            <a:endParaRPr b="0" lang="en-US" sz="2400" spc="-1" strike="noStrike">
              <a:latin typeface="Arial"/>
            </a:endParaRPr>
          </a:p>
          <a:p>
            <a:pPr lvl="2" marL="1296000" indent="-28728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Double descent pattern and “grokking”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CustomShape 1"/>
          <p:cNvSpPr/>
          <p:nvPr/>
        </p:nvSpPr>
        <p:spPr>
          <a:xfrm>
            <a:off x="504000" y="226080"/>
            <a:ext cx="907128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Current Research – Explainability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5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Analyzing embeddings for concept patterns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Sparse autoencoders, and “golden gate bridge”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Mechanistic Interpretability (MI)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Reverse engineering weight subnets “circuits”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High Math Approaches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Mutual Information Theory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Sheaf Theory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Analysis of high-dimensional optimization surfaces, e.g. singular learning theory (SLT)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504000" y="226080"/>
            <a:ext cx="9070560" cy="94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Advice to Students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3" name="CustomShape 2"/>
          <p:cNvSpPr/>
          <p:nvPr/>
        </p:nvSpPr>
        <p:spPr>
          <a:xfrm>
            <a:off x="504000" y="1326600"/>
            <a:ext cx="9070560" cy="3286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0000"/>
          </a:bodyPr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Learn to create without AI first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Can’t be “in charge” if you are dependent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Gets you closer to content, like doing your own calculations</a:t>
            </a:r>
            <a:endParaRPr b="0" lang="en-US" sz="2800" spc="-1" strike="noStrike">
              <a:latin typeface="Arial"/>
            </a:endParaRPr>
          </a:p>
          <a:p>
            <a:pPr marL="432000" indent="-322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Then, create using AI</a:t>
            </a:r>
            <a:endParaRPr b="0" lang="en-US" sz="32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Leverage AI to create more than you can alone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Use AI as “cointelligence” partner from whom you can learn as well</a:t>
            </a:r>
            <a:endParaRPr b="0" lang="en-US" sz="2800" spc="-1" strike="noStrike">
              <a:latin typeface="Arial"/>
            </a:endParaRPr>
          </a:p>
          <a:p>
            <a:pPr lvl="1" marL="864000" indent="-322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This is the workflow of the future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CustomShape 1"/>
          <p:cNvSpPr/>
          <p:nvPr/>
        </p:nvSpPr>
        <p:spPr>
          <a:xfrm>
            <a:off x="504000" y="226080"/>
            <a:ext cx="9067680" cy="942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Long Term Questions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15" name="CustomShape 2"/>
          <p:cNvSpPr/>
          <p:nvPr/>
        </p:nvSpPr>
        <p:spPr>
          <a:xfrm>
            <a:off x="457200" y="1326600"/>
            <a:ext cx="9067680" cy="3881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AI teach us about the nature of thought and intelligence? </a:t>
            </a:r>
            <a:endParaRPr b="0" lang="en-US" sz="32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</a:t>
            </a:r>
            <a:endParaRPr b="0" lang="en-US" sz="3200" spc="-1" strike="noStrike">
              <a:latin typeface="Arial"/>
            </a:endParaRPr>
          </a:p>
          <a:p>
            <a:pPr marL="432000" indent="-3200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Moral Actor?  Moral Patient?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7262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2025-10-10T17:32:29Z</dcterms:modified>
  <cp:revision>60</cp:revision>
  <dc:subject/>
  <dc:title/>
</cp:coreProperties>
</file>