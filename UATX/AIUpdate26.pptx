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73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85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49.xml"/><Relationship Id="rId7" Type="http://schemas.openxmlformats.org/officeDocument/2006/relationships/slideMaster" Target="slideMasters/slideMaster61.xml"/><Relationship Id="rId8" Type="http://schemas.openxmlformats.org/officeDocument/2006/relationships/slideMaster" Target="slideMasters/slideMaster73.xml"/><Relationship Id="rId9" Type="http://schemas.openxmlformats.org/officeDocument/2006/relationships/slideMaster" Target="slideMasters/slideMaster8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3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5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CustomShape 1"/>
          <p:cNvSpPr/>
          <p:nvPr/>
        </p:nvSpPr>
        <p:spPr>
          <a:xfrm>
            <a:off x="731520" y="2088360"/>
            <a:ext cx="906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AI Update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Clint Staley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Dean of Sciences, UATX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CSC Professor Emeritus, Cal Poly SLO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CustomShape 2"/>
          <p:cNvSpPr/>
          <p:nvPr/>
        </p:nvSpPr>
        <p:spPr>
          <a:xfrm>
            <a:off x="4206240" y="2768400"/>
            <a:ext cx="16398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503640" y="4777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Deeper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Capabilities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503640" y="1326240"/>
            <a:ext cx="9064080" cy="32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than a glorified Wikipedia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Example: write and Revise a Story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Understands the context of the story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Summarizes; changes style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Example: Analyzing humorous images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Multimodal: understands images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Understands subtle context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Example: Theory of Mind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03640" y="1825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LLM Is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CustomShape 2"/>
          <p:cNvSpPr/>
          <p:nvPr/>
        </p:nvSpPr>
        <p:spPr>
          <a:xfrm>
            <a:off x="503640" y="1096920"/>
            <a:ext cx="9064080" cy="35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improved search engine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 able to web-search when useful, but…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… can work unplugged from the internet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Hand-crafted code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 programming specific to the questions/answers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be written in one page of code –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12 equations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whole modern AI story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Important other areas are making major advances too, e.g. “reinforcement learning”, computer vision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503640" y="2257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LLM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503640" y="1326240"/>
            <a:ext cx="9064080" cy="32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sophisticated mathematical engine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12 equations, but on “matrices” – huge grids of numbers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From 10 billion to over 1 trillion numbers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“intelligence” is in those numbers (aka weights or parameters)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Self-organizing!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weights are “trained” by incremental adjustment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0" lvl="4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First, to match known texts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0" lvl="4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Then to adjust to human feedback given by RLHF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Humans design the training process and the equations, but not the weights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 An LLM “Thinks”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CustomShape 2"/>
          <p:cNvSpPr/>
          <p:nvPr/>
        </p:nvSpPr>
        <p:spPr>
          <a:xfrm>
            <a:off x="504000" y="1326600"/>
            <a:ext cx="9065520" cy="32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Starts with word embeddings representing words in your prompt and the current conversation.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Combines words via “attention blocks” into higher embeddings representing phrases, then sentences, etc.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Predicts next “thought” as an embedding and chooses closest next word.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Repeat, word by word...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 an LLM Intelligent?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ustomShape 2"/>
          <p:cNvSpPr/>
          <p:nvPr/>
        </p:nvSpPr>
        <p:spPr>
          <a:xfrm>
            <a:off x="457200" y="1254600"/>
            <a:ext cx="9065520" cy="40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“Yes” arguments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Vast possibilities in 1 trillion weights.  Printed out they’d be 4 million large books.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Research in “mechanistic interpretability” shows conceptual models spontaneously arise from training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(But, we still know only some of what those weights are doing, and “intelligent” doesn’t necessarily mean “conscious”)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“No” arguments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Just mindless numbers and 12 equations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Just predicting the next word.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(But, it’s improving </a:t>
            </a:r>
            <a:r>
              <a:rPr lang="en-US" sz="2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fast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, a human brain is just “mindless” neurons and synapses, and </a:t>
            </a:r>
            <a:r>
              <a:rPr lang="en-US" sz="2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how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is it picking that next word so intelligently?)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History – Taking Stock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097280" y="1097280"/>
            <a:ext cx="9068760" cy="32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Early investigation of major ideas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Neural networks since 1960s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Alternating optimism and AI winters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Symbolic logic vs neural networks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“bitter” (to some researchers) lesson – can’t program AI directly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Need better theory – too much cut-and-try innovation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504000" y="226080"/>
            <a:ext cx="906804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 Events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504000" y="1326600"/>
            <a:ext cx="906804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325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Nobel Prizes 2024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Physics to John Hopfield and Geoffrey Hinton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Chemistry to the developers of AlphaFold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Improved LLM Architectures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MoE – “Mixture of Experts”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CoT – “Chain of Thought” – LLMs that reason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DeepSeek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Chinese innovators demonstrate much more efficient use of computation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Anthropic’s Claude Code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As of May 2026, highly able at coding and other tasks, and getting better.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Shows further major improvements; more are still coming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504000" y="226080"/>
            <a:ext cx="906804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Events: late 2020s (?)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504000" y="1326600"/>
            <a:ext cx="906804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550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Automation of white collar work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Writing, coding, art, music, law, healthcare, customer service, translation, entertainment, etc.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Claude Code is like a competent, knowledgeable, very fast junior engineer.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May increase productivity of experienced professionals by 5x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Physical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with vision, movement, hearing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Robotics, drones, self-driving cars, manufacturing, construction, etc.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Much investment going into this; blue-collar labor is not necessarily safe from AI.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Scientific advances using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 Term Issues to Consider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2"/>
          <p:cNvSpPr/>
          <p:nvPr/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Legal questions of copyright and liability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“Alignment” of AI with human values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replaces professional beginners creating “apprentice gap”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Technological unemployment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 like going from farm to factory to simple white-collar work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UBI might provide subsistence, but doesn’t provide purpose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Which nation will lead, US or China? – Manhattan project of the 2020s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Possible threats to digital security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Advice to Students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Learn to create without AI first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Can’t be in charge if you are dependent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Gets you closer to content.  Do your own code/calculations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Then, create using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Leverage AI to create more than you can alone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 AI as “cointelligence” partner from whom you can learn as well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Always question/challenge the AI; don’t take output at face value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“Any good LLM session includes you correcting the LLM”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Future – Where is it heading?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04000" y="1323720"/>
            <a:ext cx="9068760" cy="32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“… heavier than air flying machines are impossible”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Lord Kelvin, 1895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Alchemistic Empiricism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Analogy of Chemistry in 1825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Results in fits and starts as we try things out by guess-and-by-golly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 with Nature, End with Design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Planes vs birds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Deep Learning vs brains : Geoff Hinton’s warning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Shape 1"/>
          <p:cNvSpPr/>
          <p:nvPr/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in 2030s (?)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Shape 2"/>
          <p:cNvSpPr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47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S-curves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Aerospace example, and two prior “winters” in neural networks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A: current S-curve plateaus in 1-2 years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 experts expect this (Ilya Sutskever)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B: plateau later, reaching AGI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Unprecedented investment and research community; improvements continue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C: advances to self-improving loop – “singularity”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one – depends on who you listen to.  </a:t>
            </a: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Theory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years ago A:70% B:20%; C:10%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A:20% B:60%; C:20%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Underlying math has huge potential for fourth S-curve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Long Term Questions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457200" y="1326600"/>
            <a:ext cx="9065520" cy="38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What can AI teach us about the nature of thought and intelligence?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What if it becomes more intelligent than us?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Hard Problem of Consciousness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as “moral patient”?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 of AI to extend human intelligence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7709</TotalTime>
  <Application>LibreOffice/26.2.6.3$Windows_X86_64 LibreOffice_project/8221e31b3ac356a1623c672912a3d2b492f7e3d1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2017-10-20T23:41:18Z</dcterms:created>
  <dc:creator/>
  <dc:description/>
  <dc:language>en-US</dc:language>
  <cp:lastModifiedBy/>
  <cp:lastPrinted>2023-04-17T14:15:08Z</cp:lastPrinted>
  <dcterms:modified xsi:type="dcterms:W3CDTF">2026-10-29T22:56:42Z</dcterms:modified>
  <cp:revision>71</cp:revision>
  <dc:subject/>
  <dc:title/>
</cp:coreProperties>
</file>