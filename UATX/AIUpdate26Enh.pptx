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5190270-A225-4365-B809-C99F6E3C689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464598E-714C-47D1-AC63-6CC54BC3549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0A89E50-C55B-4F56-8FD7-987AC5863D9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556D129-C561-4178-8738-8FD09071B85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C4F08EC-E1A8-40AF-911A-43A729E868B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27960C2-140E-4A59-BB8A-AA533DD0678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5257092-59F3-43AA-9F01-BD44567760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6D707F3-0FFE-4B84-A670-3885CDCDA13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10B3F50-5C11-45C1-B245-AB8DA56574A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2D867FB-4904-46A4-878D-C4664FA2BD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641387E-332E-4514-BD43-4D79BA5317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0D7DFE7-64BB-4C6B-89A8-23B8A7A287E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SLIDE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48640" y="1371600"/>
            <a:ext cx="4754520" cy="1188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48640" y="2743200"/>
            <a:ext cx="4754520" cy="1279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8046360" cy="639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48640" y="1097280"/>
            <a:ext cx="8046360" cy="356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1"/>
          </p:nvPr>
        </p:nvSpPr>
        <p:spPr>
          <a:xfrm>
            <a:off x="8229600" y="475488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3B7E328-6BDA-45FF-9208-B5C6DDD5E73B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9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48640" y="1371600"/>
            <a:ext cx="4754520" cy="118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AI Update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548640" y="2743200"/>
            <a:ext cx="4754520" cy="127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Dr. Clint Staley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320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Calibri"/>
              </a:rPr>
              <a:t>Dean of Sciences, UATX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Calibri"/>
              </a:rPr>
              <a:t>CSC Professor Emeritus, Cal Poly SLO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Shape 2"/>
          <p:cNvSpPr/>
          <p:nvPr/>
        </p:nvSpPr>
        <p:spPr>
          <a:xfrm flipV="1">
            <a:off x="5486400" y="1223640"/>
            <a:ext cx="1051560" cy="66816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3"/>
          <p:cNvSpPr/>
          <p:nvPr/>
        </p:nvSpPr>
        <p:spPr>
          <a:xfrm>
            <a:off x="5486400" y="1891800"/>
            <a:ext cx="1051560" cy="36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4"/>
          <p:cNvSpPr/>
          <p:nvPr/>
        </p:nvSpPr>
        <p:spPr>
          <a:xfrm>
            <a:off x="5486400" y="1891800"/>
            <a:ext cx="1051560" cy="66852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5"/>
          <p:cNvSpPr/>
          <p:nvPr/>
        </p:nvSpPr>
        <p:spPr>
          <a:xfrm>
            <a:off x="5486400" y="1891800"/>
            <a:ext cx="1051560" cy="133668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6"/>
          <p:cNvSpPr/>
          <p:nvPr/>
        </p:nvSpPr>
        <p:spPr>
          <a:xfrm>
            <a:off x="5486400" y="1891800"/>
            <a:ext cx="1051560" cy="200484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7"/>
          <p:cNvSpPr/>
          <p:nvPr/>
        </p:nvSpPr>
        <p:spPr>
          <a:xfrm flipV="1">
            <a:off x="5486400" y="1223640"/>
            <a:ext cx="1051560" cy="133668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8"/>
          <p:cNvSpPr/>
          <p:nvPr/>
        </p:nvSpPr>
        <p:spPr>
          <a:xfrm flipV="1">
            <a:off x="5486400" y="1891800"/>
            <a:ext cx="1051560" cy="66852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9"/>
          <p:cNvSpPr/>
          <p:nvPr/>
        </p:nvSpPr>
        <p:spPr>
          <a:xfrm>
            <a:off x="5486400" y="2560320"/>
            <a:ext cx="1051560" cy="36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10"/>
          <p:cNvSpPr/>
          <p:nvPr/>
        </p:nvSpPr>
        <p:spPr>
          <a:xfrm>
            <a:off x="5486400" y="2560320"/>
            <a:ext cx="1051560" cy="66816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1"/>
          <p:cNvSpPr/>
          <p:nvPr/>
        </p:nvSpPr>
        <p:spPr>
          <a:xfrm>
            <a:off x="5486400" y="2560320"/>
            <a:ext cx="1051560" cy="133632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2"/>
          <p:cNvSpPr/>
          <p:nvPr/>
        </p:nvSpPr>
        <p:spPr>
          <a:xfrm flipV="1">
            <a:off x="5486400" y="1223640"/>
            <a:ext cx="1051560" cy="200484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3"/>
          <p:cNvSpPr/>
          <p:nvPr/>
        </p:nvSpPr>
        <p:spPr>
          <a:xfrm flipV="1">
            <a:off x="5486400" y="1891800"/>
            <a:ext cx="1051560" cy="133668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14"/>
          <p:cNvSpPr/>
          <p:nvPr/>
        </p:nvSpPr>
        <p:spPr>
          <a:xfrm flipV="1">
            <a:off x="5486400" y="2560320"/>
            <a:ext cx="1051560" cy="66816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15"/>
          <p:cNvSpPr/>
          <p:nvPr/>
        </p:nvSpPr>
        <p:spPr>
          <a:xfrm>
            <a:off x="5486400" y="3228480"/>
            <a:ext cx="1051560" cy="36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6"/>
          <p:cNvSpPr/>
          <p:nvPr/>
        </p:nvSpPr>
        <p:spPr>
          <a:xfrm>
            <a:off x="5486400" y="3228480"/>
            <a:ext cx="1051560" cy="66816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7"/>
          <p:cNvSpPr/>
          <p:nvPr/>
        </p:nvSpPr>
        <p:spPr>
          <a:xfrm>
            <a:off x="6537960" y="1223640"/>
            <a:ext cx="1051560" cy="36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8"/>
          <p:cNvSpPr/>
          <p:nvPr/>
        </p:nvSpPr>
        <p:spPr>
          <a:xfrm>
            <a:off x="6537960" y="1223640"/>
            <a:ext cx="1051560" cy="66816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19"/>
          <p:cNvSpPr/>
          <p:nvPr/>
        </p:nvSpPr>
        <p:spPr>
          <a:xfrm>
            <a:off x="6537960" y="1223640"/>
            <a:ext cx="1051560" cy="133668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20"/>
          <p:cNvSpPr/>
          <p:nvPr/>
        </p:nvSpPr>
        <p:spPr>
          <a:xfrm>
            <a:off x="6537960" y="1223640"/>
            <a:ext cx="1051560" cy="200484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21"/>
          <p:cNvSpPr/>
          <p:nvPr/>
        </p:nvSpPr>
        <p:spPr>
          <a:xfrm>
            <a:off x="6537960" y="1223640"/>
            <a:ext cx="1051560" cy="267300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22"/>
          <p:cNvSpPr/>
          <p:nvPr/>
        </p:nvSpPr>
        <p:spPr>
          <a:xfrm flipV="1">
            <a:off x="6537960" y="1223640"/>
            <a:ext cx="1051560" cy="66816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3"/>
          <p:cNvSpPr/>
          <p:nvPr/>
        </p:nvSpPr>
        <p:spPr>
          <a:xfrm>
            <a:off x="6537960" y="1891800"/>
            <a:ext cx="1051560" cy="36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24"/>
          <p:cNvSpPr/>
          <p:nvPr/>
        </p:nvSpPr>
        <p:spPr>
          <a:xfrm>
            <a:off x="6537960" y="1891800"/>
            <a:ext cx="1051560" cy="66852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25"/>
          <p:cNvSpPr/>
          <p:nvPr/>
        </p:nvSpPr>
        <p:spPr>
          <a:xfrm>
            <a:off x="6537960" y="1891800"/>
            <a:ext cx="1051560" cy="133668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6"/>
          <p:cNvSpPr/>
          <p:nvPr/>
        </p:nvSpPr>
        <p:spPr>
          <a:xfrm>
            <a:off x="6537960" y="1891800"/>
            <a:ext cx="1051560" cy="200484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27"/>
          <p:cNvSpPr/>
          <p:nvPr/>
        </p:nvSpPr>
        <p:spPr>
          <a:xfrm flipV="1">
            <a:off x="6537960" y="1223640"/>
            <a:ext cx="1051560" cy="133668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28"/>
          <p:cNvSpPr/>
          <p:nvPr/>
        </p:nvSpPr>
        <p:spPr>
          <a:xfrm flipV="1">
            <a:off x="6537960" y="1891800"/>
            <a:ext cx="1051560" cy="66852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9"/>
          <p:cNvSpPr/>
          <p:nvPr/>
        </p:nvSpPr>
        <p:spPr>
          <a:xfrm>
            <a:off x="6537960" y="2560320"/>
            <a:ext cx="1051560" cy="36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30"/>
          <p:cNvSpPr/>
          <p:nvPr/>
        </p:nvSpPr>
        <p:spPr>
          <a:xfrm>
            <a:off x="6537960" y="2560320"/>
            <a:ext cx="1051560" cy="66816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31"/>
          <p:cNvSpPr/>
          <p:nvPr/>
        </p:nvSpPr>
        <p:spPr>
          <a:xfrm>
            <a:off x="6537960" y="2560320"/>
            <a:ext cx="1051560" cy="133632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32"/>
          <p:cNvSpPr/>
          <p:nvPr/>
        </p:nvSpPr>
        <p:spPr>
          <a:xfrm flipV="1">
            <a:off x="6537960" y="1223640"/>
            <a:ext cx="1051560" cy="200484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33"/>
          <p:cNvSpPr/>
          <p:nvPr/>
        </p:nvSpPr>
        <p:spPr>
          <a:xfrm flipV="1">
            <a:off x="6537960" y="1891800"/>
            <a:ext cx="1051560" cy="133668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34"/>
          <p:cNvSpPr/>
          <p:nvPr/>
        </p:nvSpPr>
        <p:spPr>
          <a:xfrm flipV="1">
            <a:off x="6537960" y="2560320"/>
            <a:ext cx="1051560" cy="66816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35"/>
          <p:cNvSpPr/>
          <p:nvPr/>
        </p:nvSpPr>
        <p:spPr>
          <a:xfrm>
            <a:off x="6537960" y="3228480"/>
            <a:ext cx="1051560" cy="36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36"/>
          <p:cNvSpPr/>
          <p:nvPr/>
        </p:nvSpPr>
        <p:spPr>
          <a:xfrm>
            <a:off x="6537960" y="3228480"/>
            <a:ext cx="1051560" cy="66816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37"/>
          <p:cNvSpPr/>
          <p:nvPr/>
        </p:nvSpPr>
        <p:spPr>
          <a:xfrm flipV="1">
            <a:off x="6537960" y="1223640"/>
            <a:ext cx="1051560" cy="267300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38"/>
          <p:cNvSpPr/>
          <p:nvPr/>
        </p:nvSpPr>
        <p:spPr>
          <a:xfrm flipV="1">
            <a:off x="6537960" y="1891800"/>
            <a:ext cx="1051560" cy="200484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39"/>
          <p:cNvSpPr/>
          <p:nvPr/>
        </p:nvSpPr>
        <p:spPr>
          <a:xfrm flipV="1">
            <a:off x="6537960" y="2560320"/>
            <a:ext cx="1051560" cy="133632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40"/>
          <p:cNvSpPr/>
          <p:nvPr/>
        </p:nvSpPr>
        <p:spPr>
          <a:xfrm flipV="1">
            <a:off x="6537960" y="3228480"/>
            <a:ext cx="1051560" cy="66816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41"/>
          <p:cNvSpPr/>
          <p:nvPr/>
        </p:nvSpPr>
        <p:spPr>
          <a:xfrm>
            <a:off x="6537960" y="3896640"/>
            <a:ext cx="1051560" cy="36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42"/>
          <p:cNvSpPr/>
          <p:nvPr/>
        </p:nvSpPr>
        <p:spPr>
          <a:xfrm>
            <a:off x="7589520" y="1223640"/>
            <a:ext cx="1051560" cy="100224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43"/>
          <p:cNvSpPr/>
          <p:nvPr/>
        </p:nvSpPr>
        <p:spPr>
          <a:xfrm>
            <a:off x="7589520" y="1223640"/>
            <a:ext cx="1051560" cy="167076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44"/>
          <p:cNvSpPr/>
          <p:nvPr/>
        </p:nvSpPr>
        <p:spPr>
          <a:xfrm>
            <a:off x="7589520" y="1891800"/>
            <a:ext cx="1051560" cy="33408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45"/>
          <p:cNvSpPr/>
          <p:nvPr/>
        </p:nvSpPr>
        <p:spPr>
          <a:xfrm>
            <a:off x="7589520" y="1891800"/>
            <a:ext cx="1051560" cy="100260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46"/>
          <p:cNvSpPr/>
          <p:nvPr/>
        </p:nvSpPr>
        <p:spPr>
          <a:xfrm flipV="1">
            <a:off x="7589520" y="2225880"/>
            <a:ext cx="1051560" cy="33444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47"/>
          <p:cNvSpPr/>
          <p:nvPr/>
        </p:nvSpPr>
        <p:spPr>
          <a:xfrm>
            <a:off x="7589520" y="2560320"/>
            <a:ext cx="1051560" cy="33408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48"/>
          <p:cNvSpPr/>
          <p:nvPr/>
        </p:nvSpPr>
        <p:spPr>
          <a:xfrm flipV="1">
            <a:off x="7589520" y="2225880"/>
            <a:ext cx="1051560" cy="100260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49"/>
          <p:cNvSpPr/>
          <p:nvPr/>
        </p:nvSpPr>
        <p:spPr>
          <a:xfrm flipV="1">
            <a:off x="7589520" y="2894400"/>
            <a:ext cx="1051560" cy="33408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50"/>
          <p:cNvSpPr/>
          <p:nvPr/>
        </p:nvSpPr>
        <p:spPr>
          <a:xfrm flipV="1">
            <a:off x="7589520" y="2225880"/>
            <a:ext cx="1051560" cy="167076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51"/>
          <p:cNvSpPr/>
          <p:nvPr/>
        </p:nvSpPr>
        <p:spPr>
          <a:xfrm flipV="1">
            <a:off x="7589520" y="2894400"/>
            <a:ext cx="1051560" cy="1002240"/>
          </a:xfrm>
          <a:prstGeom prst="line">
            <a:avLst/>
          </a:prstGeom>
          <a:ln w="9525">
            <a:solidFill>
              <a:srgbClr val="aed6f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52"/>
          <p:cNvSpPr/>
          <p:nvPr/>
        </p:nvSpPr>
        <p:spPr>
          <a:xfrm>
            <a:off x="5358240" y="1764000"/>
            <a:ext cx="255600" cy="255600"/>
          </a:xfrm>
          <a:prstGeom prst="ellipse">
            <a:avLst/>
          </a:prstGeom>
          <a:solidFill>
            <a:srgbClr val="85c1e9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53"/>
          <p:cNvSpPr/>
          <p:nvPr/>
        </p:nvSpPr>
        <p:spPr>
          <a:xfrm>
            <a:off x="5358240" y="2432160"/>
            <a:ext cx="255600" cy="255600"/>
          </a:xfrm>
          <a:prstGeom prst="ellipse">
            <a:avLst/>
          </a:prstGeom>
          <a:solidFill>
            <a:srgbClr val="85c1e9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54"/>
          <p:cNvSpPr/>
          <p:nvPr/>
        </p:nvSpPr>
        <p:spPr>
          <a:xfrm>
            <a:off x="5358240" y="3100680"/>
            <a:ext cx="255600" cy="255600"/>
          </a:xfrm>
          <a:prstGeom prst="ellipse">
            <a:avLst/>
          </a:prstGeom>
          <a:solidFill>
            <a:srgbClr val="85c1e9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55"/>
          <p:cNvSpPr/>
          <p:nvPr/>
        </p:nvSpPr>
        <p:spPr>
          <a:xfrm>
            <a:off x="6409800" y="1095840"/>
            <a:ext cx="255600" cy="255600"/>
          </a:xfrm>
          <a:prstGeom prst="ellipse">
            <a:avLst/>
          </a:prstGeom>
          <a:solidFill>
            <a:srgbClr val="85c1e9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56"/>
          <p:cNvSpPr/>
          <p:nvPr/>
        </p:nvSpPr>
        <p:spPr>
          <a:xfrm>
            <a:off x="6409800" y="1764000"/>
            <a:ext cx="255600" cy="255600"/>
          </a:xfrm>
          <a:prstGeom prst="ellipse">
            <a:avLst/>
          </a:prstGeom>
          <a:solidFill>
            <a:srgbClr val="85c1e9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57"/>
          <p:cNvSpPr/>
          <p:nvPr/>
        </p:nvSpPr>
        <p:spPr>
          <a:xfrm>
            <a:off x="6409800" y="2432160"/>
            <a:ext cx="255600" cy="255600"/>
          </a:xfrm>
          <a:prstGeom prst="ellipse">
            <a:avLst/>
          </a:prstGeom>
          <a:solidFill>
            <a:srgbClr val="85c1e9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58"/>
          <p:cNvSpPr/>
          <p:nvPr/>
        </p:nvSpPr>
        <p:spPr>
          <a:xfrm>
            <a:off x="6409800" y="3100680"/>
            <a:ext cx="255600" cy="255600"/>
          </a:xfrm>
          <a:prstGeom prst="ellipse">
            <a:avLst/>
          </a:prstGeom>
          <a:solidFill>
            <a:srgbClr val="85c1e9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59"/>
          <p:cNvSpPr/>
          <p:nvPr/>
        </p:nvSpPr>
        <p:spPr>
          <a:xfrm>
            <a:off x="6409800" y="3768840"/>
            <a:ext cx="255600" cy="255600"/>
          </a:xfrm>
          <a:prstGeom prst="ellipse">
            <a:avLst/>
          </a:prstGeom>
          <a:solidFill>
            <a:srgbClr val="85c1e9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60"/>
          <p:cNvSpPr/>
          <p:nvPr/>
        </p:nvSpPr>
        <p:spPr>
          <a:xfrm>
            <a:off x="7461360" y="1095840"/>
            <a:ext cx="255600" cy="255600"/>
          </a:xfrm>
          <a:prstGeom prst="ellipse">
            <a:avLst/>
          </a:prstGeom>
          <a:solidFill>
            <a:srgbClr val="85c1e9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61"/>
          <p:cNvSpPr/>
          <p:nvPr/>
        </p:nvSpPr>
        <p:spPr>
          <a:xfrm>
            <a:off x="7461360" y="1764000"/>
            <a:ext cx="255600" cy="255600"/>
          </a:xfrm>
          <a:prstGeom prst="ellipse">
            <a:avLst/>
          </a:prstGeom>
          <a:solidFill>
            <a:srgbClr val="85c1e9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62"/>
          <p:cNvSpPr/>
          <p:nvPr/>
        </p:nvSpPr>
        <p:spPr>
          <a:xfrm>
            <a:off x="7461360" y="2432160"/>
            <a:ext cx="255600" cy="255600"/>
          </a:xfrm>
          <a:prstGeom prst="ellipse">
            <a:avLst/>
          </a:prstGeom>
          <a:solidFill>
            <a:srgbClr val="85c1e9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63"/>
          <p:cNvSpPr/>
          <p:nvPr/>
        </p:nvSpPr>
        <p:spPr>
          <a:xfrm>
            <a:off x="7461360" y="3100680"/>
            <a:ext cx="255600" cy="255600"/>
          </a:xfrm>
          <a:prstGeom prst="ellipse">
            <a:avLst/>
          </a:prstGeom>
          <a:solidFill>
            <a:srgbClr val="85c1e9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64"/>
          <p:cNvSpPr/>
          <p:nvPr/>
        </p:nvSpPr>
        <p:spPr>
          <a:xfrm>
            <a:off x="7461360" y="3768840"/>
            <a:ext cx="255600" cy="255600"/>
          </a:xfrm>
          <a:prstGeom prst="ellipse">
            <a:avLst/>
          </a:prstGeom>
          <a:solidFill>
            <a:srgbClr val="85c1e9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65"/>
          <p:cNvSpPr/>
          <p:nvPr/>
        </p:nvSpPr>
        <p:spPr>
          <a:xfrm>
            <a:off x="8512920" y="2098080"/>
            <a:ext cx="255600" cy="255600"/>
          </a:xfrm>
          <a:prstGeom prst="ellipse">
            <a:avLst/>
          </a:prstGeom>
          <a:solidFill>
            <a:srgbClr val="f5b041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66"/>
          <p:cNvSpPr/>
          <p:nvPr/>
        </p:nvSpPr>
        <p:spPr>
          <a:xfrm>
            <a:off x="8512920" y="2766240"/>
            <a:ext cx="255600" cy="255600"/>
          </a:xfrm>
          <a:prstGeom prst="ellipse">
            <a:avLst/>
          </a:prstGeom>
          <a:solidFill>
            <a:srgbClr val="f5b041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8046360" cy="63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Current AI Events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48640" y="1097280"/>
            <a:ext cx="8046360" cy="356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479"/>
              </a:spcBef>
              <a:spcAft>
                <a:spcPts val="1400"/>
              </a:spcAft>
              <a:buClr>
                <a:srgbClr val="1a2238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Steady Frontier Model Improvement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479"/>
              </a:spcBef>
              <a:spcAft>
                <a:spcPts val="1400"/>
              </a:spcAft>
              <a:buClr>
                <a:srgbClr val="1a2238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AI Agents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479"/>
              </a:spcBef>
              <a:spcAft>
                <a:spcPts val="1400"/>
              </a:spcAft>
              <a:buClr>
                <a:srgbClr val="1a2238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Professional Impacts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479"/>
              </a:spcBef>
              <a:spcAft>
                <a:spcPts val="1400"/>
              </a:spcAft>
              <a:buClr>
                <a:srgbClr val="1a2238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Safety Concerns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479"/>
              </a:spcBef>
              <a:spcAft>
                <a:spcPts val="1400"/>
              </a:spcAft>
              <a:buClr>
                <a:srgbClr val="1a2238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Data Center Economics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sldNum" idx="5"/>
          </p:nvPr>
        </p:nvSpPr>
        <p:spPr>
          <a:xfrm>
            <a:off x="8229600" y="475488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F2E9719-526E-49B0-95F1-C0EF6AFDB6C7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9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8046360" cy="63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LLM Improvements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548640" y="1097280"/>
            <a:ext cx="8046360" cy="356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439"/>
              </a:spcBef>
              <a:spcAft>
                <a:spcPts val="1001"/>
              </a:spcAft>
              <a:buClr>
                <a:srgbClr val="1a2238"/>
              </a:buClr>
              <a:buFont typeface="Arial"/>
              <a:buChar char="•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2025 vs today – notable improvements in coding, math, reasoning.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439"/>
              </a:spcBef>
              <a:spcAft>
                <a:spcPts val="1001"/>
              </a:spcAft>
              <a:buClr>
                <a:srgbClr val="1a2238"/>
              </a:buClr>
              <a:buFont typeface="Arial"/>
              <a:buChar char="•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“Recursive self-improvement” may come soon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400"/>
              </a:spcBef>
              <a:spcAft>
                <a:spcPts val="1001"/>
              </a:spcAft>
              <a:buClr>
                <a:srgbClr val="1a2238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LLMs revising their own architecture and training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439"/>
              </a:spcBef>
              <a:spcAft>
                <a:spcPts val="1001"/>
              </a:spcAft>
              <a:buClr>
                <a:srgbClr val="1a2238"/>
              </a:buClr>
              <a:buFont typeface="Arial"/>
              <a:buChar char="•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Not “stochastic parrots”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400"/>
              </a:spcBef>
              <a:spcAft>
                <a:spcPts val="1001"/>
              </a:spcAft>
              <a:buClr>
                <a:srgbClr val="1a2238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Research inside the models finds real concepts and reasoning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439"/>
              </a:spcBef>
              <a:spcAft>
                <a:spcPts val="1001"/>
              </a:spcAft>
              <a:buClr>
                <a:srgbClr val="1a2238"/>
              </a:buClr>
              <a:buFont typeface="Arial"/>
              <a:buChar char="•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Mathematical research as evidence of reasoning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400"/>
              </a:spcBef>
              <a:spcAft>
                <a:spcPts val="1001"/>
              </a:spcAft>
              <a:buClr>
                <a:srgbClr val="1a2238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Navier-Stokes; Erdos problems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sldNum" idx="6"/>
          </p:nvPr>
        </p:nvSpPr>
        <p:spPr>
          <a:xfrm>
            <a:off x="8229600" y="475488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5FE3B5-6A4A-4B2E-831D-3BB0BC1CCE5B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9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8046360" cy="63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AI Agents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548640" y="1097280"/>
            <a:ext cx="8046360" cy="356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439"/>
              </a:spcBef>
              <a:spcAft>
                <a:spcPts val="1001"/>
              </a:spcAft>
              <a:buClr>
                <a:srgbClr val="1a2238"/>
              </a:buClr>
              <a:buFont typeface="Arial"/>
              <a:buChar char="•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LLM empowered to act, not just “talk”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439"/>
              </a:spcBef>
              <a:spcAft>
                <a:spcPts val="1001"/>
              </a:spcAft>
              <a:buClr>
                <a:srgbClr val="1a2238"/>
              </a:buClr>
              <a:buFont typeface="Arial"/>
              <a:buChar char="•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System honors LLM requests for outside action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400"/>
              </a:spcBef>
              <a:spcAft>
                <a:spcPts val="1001"/>
              </a:spcAft>
              <a:buClr>
                <a:srgbClr val="1a2238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Access files and browse web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400"/>
              </a:spcBef>
              <a:spcAft>
                <a:spcPts val="1001"/>
              </a:spcAft>
              <a:buClr>
                <a:srgbClr val="1a2238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Alter local documents, code, databases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400"/>
              </a:spcBef>
              <a:spcAft>
                <a:spcPts val="1001"/>
              </a:spcAft>
              <a:buClr>
                <a:srgbClr val="1a2238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Access online stores, bank accounts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439"/>
              </a:spcBef>
              <a:spcAft>
                <a:spcPts val="1001"/>
              </a:spcAft>
              <a:buClr>
                <a:srgbClr val="1a2238"/>
              </a:buClr>
              <a:buFont typeface="Arial"/>
              <a:buChar char="•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Used as personal “admin”, coder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400"/>
              </a:spcBef>
              <a:spcAft>
                <a:spcPts val="1001"/>
              </a:spcAft>
              <a:buClr>
                <a:srgbClr val="1a2238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“Book my flights, and file the expense report”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7"/>
          </p:nvPr>
        </p:nvSpPr>
        <p:spPr>
          <a:xfrm>
            <a:off x="8229600" y="475488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F8DB6A0-4069-4BA5-9CCD-79F24675AB41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9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8046360" cy="63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Professional Impacts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548640" y="1097280"/>
            <a:ext cx="8046360" cy="356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1a2238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Coding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1a2238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Agents can now do 90-100% of direct coding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1a2238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Customer service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1a2238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Junior finance and legal jobs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1a2238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Routine roles of all sorts done by AI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1a2238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Good news: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1a2238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Using AI effectively enhances professional ability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1a2238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Individuals or small teams can do what once took dozens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sldNum" idx="8"/>
          </p:nvPr>
        </p:nvSpPr>
        <p:spPr>
          <a:xfrm>
            <a:off x="8229600" y="475488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963F027-851D-40D5-AC54-860B381F6792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9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8046360" cy="63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Safety Concerns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548640" y="1097280"/>
            <a:ext cx="8046360" cy="356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1a2238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Agentic AI can “hack” faster and at more depth than humans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1a2238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Hugging Face incident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1a2238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PHP security flaw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1a2238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We don’t know how smart it will get, and whether “alignment” will hold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1a2238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Amodei’s “We Must Pace the Frontier” essay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1a2238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Good news: Systems will become more secure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1a2238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Using AI as a penetration tester is powerful new tool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1a2238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AI eases revision of systems, use of new languages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9"/>
          </p:nvPr>
        </p:nvSpPr>
        <p:spPr>
          <a:xfrm>
            <a:off x="8229600" y="475488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1AB46C7-B061-45C0-8B40-30B79B97B80C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9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8046360" cy="63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Data Center Economics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548640" y="1097280"/>
            <a:ext cx="8046360" cy="356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439"/>
              </a:spcBef>
              <a:spcAft>
                <a:spcPts val="1001"/>
              </a:spcAft>
              <a:buClr>
                <a:srgbClr val="1a2238"/>
              </a:buClr>
              <a:buFont typeface="Arial"/>
              <a:buChar char="•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Power consumption raising rates in various areas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439"/>
              </a:spcBef>
              <a:spcAft>
                <a:spcPts val="1001"/>
              </a:spcAft>
              <a:buClr>
                <a:srgbClr val="1a2238"/>
              </a:buClr>
              <a:buFont typeface="Arial"/>
              <a:buChar char="•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Water for cooling also a concern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439"/>
              </a:spcBef>
              <a:spcAft>
                <a:spcPts val="1001"/>
              </a:spcAft>
              <a:buClr>
                <a:srgbClr val="1a2238"/>
              </a:buClr>
              <a:buFont typeface="Arial"/>
              <a:buChar char="•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Supply constraints on memory, GPUs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439"/>
              </a:spcBef>
              <a:spcAft>
                <a:spcPts val="1001"/>
              </a:spcAft>
              <a:buClr>
                <a:srgbClr val="1a2238"/>
              </a:buClr>
              <a:buFont typeface="Arial"/>
              <a:buChar char="•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Good news: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400"/>
              </a:spcBef>
              <a:spcAft>
                <a:spcPts val="1001"/>
              </a:spcAft>
              <a:buClr>
                <a:srgbClr val="1a2238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Water recycling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400"/>
              </a:spcBef>
              <a:spcAft>
                <a:spcPts val="1001"/>
              </a:spcAft>
              <a:buClr>
                <a:srgbClr val="1a2238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Past and future work on efficient “inference”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400"/>
              </a:spcBef>
              <a:spcAft>
                <a:spcPts val="1001"/>
              </a:spcAft>
              <a:buClr>
                <a:srgbClr val="1a2238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Possibility of on-orbit data centers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 type="sldNum" idx="10"/>
          </p:nvPr>
        </p:nvSpPr>
        <p:spPr>
          <a:xfrm>
            <a:off x="8229600" y="475488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D3880EB-0362-4629-9F2B-4F808B7C2CA6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9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8046360" cy="63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AI Future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548640" y="1097280"/>
            <a:ext cx="8046360" cy="356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36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All tech follows S-curves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2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Aerospace example, and two prior “winters” in neural networks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36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Option A: current S-curve plateaus in 1-2 years, absent deeper theory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36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Option B: plateau later, reaching AGI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36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Option C: advances to self-improving loop – “singularity”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36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Which one – depends on who you listen to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2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Two years ago A: 70%, B: 20%, C: 10%;  Now A: 30%, B: 50%, C: 20%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2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Need better theory so we can do more than guess!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36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Underlying math has huge potential for fourth S-curve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sldNum" idx="11"/>
          </p:nvPr>
        </p:nvSpPr>
        <p:spPr>
          <a:xfrm>
            <a:off x="8229600" y="475488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330F923-8316-4D63-BFDF-46319063C556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9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8046360" cy="63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What Is UATX Doing?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548640" y="1097280"/>
            <a:ext cx="8046360" cy="356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36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Focus on breadth of learning, judgment, design, and effective use of AI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2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Physical fitness still matters even with powerful physical machines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2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Mental fitness still matters even with powerful mental machines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2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AI enhances capability, it does not replace it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2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Step over the “apprentice gap”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36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Specifics: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2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Emphasis on no-transistors testing and evaluations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2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Clear standards on use and non-use of AI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2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Teaching constructive use of AI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sldNum" idx="12"/>
          </p:nvPr>
        </p:nvSpPr>
        <p:spPr>
          <a:xfrm>
            <a:off x="8229600" y="475488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6531693-4429-401B-935F-1446E0320725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9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8046360" cy="63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What Is UATX Sciences Doing?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548640" y="1097280"/>
            <a:ext cx="8046360" cy="356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36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Embrace and use AI effectively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2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Reduce tedious computation and coding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2" indent="-228600" defTabSz="914400">
              <a:lnSpc>
                <a:spcPct val="100000"/>
              </a:lnSpc>
              <a:spcBef>
                <a:spcPts val="281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Wolfram visitor this fall teaching DE and “data wrangling”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2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Apply math and sciences to larger problems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2" indent="-228600" defTabSz="914400">
              <a:lnSpc>
                <a:spcPct val="100000"/>
              </a:lnSpc>
              <a:spcBef>
                <a:spcPts val="281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Linear algebra on larger dimensions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2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Investigate AI impact on economy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2" indent="-228600" defTabSz="914400">
              <a:lnSpc>
                <a:spcPct val="100000"/>
              </a:lnSpc>
              <a:spcBef>
                <a:spcPts val="281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“The Economy and AI”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36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Student Research and Polaris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2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“Vibecoding hardware” this D-term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2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Research paper on on-orbit satellite design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sldNum" idx="13"/>
          </p:nvPr>
        </p:nvSpPr>
        <p:spPr>
          <a:xfrm>
            <a:off x="8229600" y="475488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0161654-3EB6-4886-946B-DD30E7CCCA09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9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8046360" cy="63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What Is CS/AI Doing?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548640" y="1097280"/>
            <a:ext cx="8046360" cy="356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36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Teach modern software engineering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2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Code first, but…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2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Use coding agents effectively, take on larger projects. AI-enabled development starts at third quarter.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36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AI Concentration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2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ML and Math of AI courses teach basic theory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2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LLMs and Diffusion Models, including how to build AI agents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2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Reinforcement Learning -- critical method for training coding and math AI agents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2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Physical AI – computer vision, robotics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2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ML Engineering – applying AI to new problems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228600" defTabSz="914400">
              <a:lnSpc>
                <a:spcPct val="100000"/>
              </a:lnSpc>
              <a:spcBef>
                <a:spcPts val="320"/>
              </a:spcBef>
              <a:spcAft>
                <a:spcPts val="400"/>
              </a:spcAft>
              <a:buClr>
                <a:srgbClr val="1a2238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Future possibilities: AI in cybersecurity, Interpretability Theory…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sldNum" idx="14"/>
          </p:nvPr>
        </p:nvSpPr>
        <p:spPr>
          <a:xfrm>
            <a:off x="8229600" y="4754880"/>
            <a:ext cx="456840" cy="27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8A19848-81F5-4A9A-B1BF-23791F369E4E}" type="slidenum">
              <a: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9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AIUpdate">
  <a:themeElements>
    <a:clrScheme name="AIUpdate">
      <a:dk1>
        <a:srgbClr val="1a2238"/>
      </a:dk1>
      <a:lt1>
        <a:srgbClr val="ffffff"/>
      </a:lt1>
      <a:dk2>
        <a:srgbClr val="1e2761"/>
      </a:dk2>
      <a:lt2>
        <a:srgbClr val="dce8f8"/>
      </a:lt2>
      <a:accent1>
        <a:srgbClr val="1c7293"/>
      </a:accent1>
      <a:accent2>
        <a:srgbClr val="2e86c1"/>
      </a:accent2>
      <a:accent3>
        <a:srgbClr val="5dade2"/>
      </a:accent3>
      <a:accent4>
        <a:srgbClr val="f5b041"/>
      </a:accent4>
      <a:accent5>
        <a:srgbClr val="85c1e9"/>
      </a:accent5>
      <a:accent6>
        <a:srgbClr val="aed6f1"/>
      </a:accent6>
      <a:hlink>
        <a:srgbClr val="1c7293"/>
      </a:hlink>
      <a:folHlink>
        <a:srgbClr val="5d6d7e"/>
      </a:folHlink>
    </a:clrScheme>
    <a:fontScheme name="AIUpdat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250</TotalTime>
  <Application>LibreOffice/25.8.7.1$Windows_X86_64 LibreOffice_project/39c3b7ac021cfb9f4ca681457ad36828f90e2ce7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2026-10-31T14:23:50Z</dcterms:created>
  <dc:creator>PptxGenJS</dc:creator>
  <dc:description/>
  <dc:language>en-US</dc:language>
  <cp:lastModifiedBy/>
  <dcterms:modified xsi:type="dcterms:W3CDTF">2026-10-31T14:01:16Z</dcterms:modified>
  <cp:revision>3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