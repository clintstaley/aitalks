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2B9D5D-60A8-4228-8492-52E96C925F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D5075A-C3C6-4FE5-8B37-F068815E1F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FD3BF4-8375-4AC5-B6F7-37C35398C8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5BB884-2123-4F8A-B7F3-F16A930A6B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9C9B49-1BF9-4419-9CB8-41ED64B3A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39422-99DE-439F-9C92-9D7371812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81F391-C38B-4D72-BE57-A370F9AAE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764A6-BA50-454D-9BFC-460011DDF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A3BC1-7E87-485D-98F7-467BFEE02B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AC87A-AC8C-4CCB-843F-50721489B9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81AB4-CE67-46C6-866F-AB4DB2418D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E24E28-A988-41F7-9B52-AE7E629110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754520" cy="118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48640" y="2743200"/>
            <a:ext cx="4754520" cy="127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1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EA8B59-0224-4C47-AFD9-FC72A5BC0F3E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75452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AI Update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48640" y="2743200"/>
            <a:ext cx="4754520" cy="12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Dr. Clint Staley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Dean of Sciences, UATX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CSC Professor Emeritus, Cal Poly SLO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2"/>
          <p:cNvSpPr/>
          <p:nvPr/>
        </p:nvSpPr>
        <p:spPr>
          <a:xfrm flipV="1">
            <a:off x="5486400" y="122364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5486400" y="189180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5486400" y="1891800"/>
            <a:ext cx="1051560" cy="6685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5486400" y="189180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5486400" y="189180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 flipV="1">
            <a:off x="5486400" y="122364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 flipV="1">
            <a:off x="5486400" y="1891800"/>
            <a:ext cx="1051560" cy="6685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5486400" y="256032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5486400" y="256032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5486400" y="2560320"/>
            <a:ext cx="1051560" cy="13363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 flipV="1">
            <a:off x="5486400" y="122364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 flipV="1">
            <a:off x="5486400" y="189180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 flipV="1">
            <a:off x="5486400" y="256032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5"/>
          <p:cNvSpPr/>
          <p:nvPr/>
        </p:nvSpPr>
        <p:spPr>
          <a:xfrm>
            <a:off x="5486400" y="322848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6"/>
          <p:cNvSpPr/>
          <p:nvPr/>
        </p:nvSpPr>
        <p:spPr>
          <a:xfrm>
            <a:off x="5486400" y="322848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6537960" y="122364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6537960" y="122364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6537960" y="122364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6537960" y="122364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1"/>
          <p:cNvSpPr/>
          <p:nvPr/>
        </p:nvSpPr>
        <p:spPr>
          <a:xfrm>
            <a:off x="6537960" y="1223640"/>
            <a:ext cx="1051560" cy="267300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 flipV="1">
            <a:off x="6537960" y="122364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3"/>
          <p:cNvSpPr/>
          <p:nvPr/>
        </p:nvSpPr>
        <p:spPr>
          <a:xfrm>
            <a:off x="6537960" y="189180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6537960" y="1891800"/>
            <a:ext cx="1051560" cy="6685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6537960" y="189180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6"/>
          <p:cNvSpPr/>
          <p:nvPr/>
        </p:nvSpPr>
        <p:spPr>
          <a:xfrm>
            <a:off x="6537960" y="189180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7"/>
          <p:cNvSpPr/>
          <p:nvPr/>
        </p:nvSpPr>
        <p:spPr>
          <a:xfrm flipV="1">
            <a:off x="6537960" y="122364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8"/>
          <p:cNvSpPr/>
          <p:nvPr/>
        </p:nvSpPr>
        <p:spPr>
          <a:xfrm flipV="1">
            <a:off x="6537960" y="1891800"/>
            <a:ext cx="1051560" cy="6685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6537960" y="256032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0"/>
          <p:cNvSpPr/>
          <p:nvPr/>
        </p:nvSpPr>
        <p:spPr>
          <a:xfrm>
            <a:off x="6537960" y="256032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1"/>
          <p:cNvSpPr/>
          <p:nvPr/>
        </p:nvSpPr>
        <p:spPr>
          <a:xfrm>
            <a:off x="6537960" y="2560320"/>
            <a:ext cx="1051560" cy="13363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2"/>
          <p:cNvSpPr/>
          <p:nvPr/>
        </p:nvSpPr>
        <p:spPr>
          <a:xfrm flipV="1">
            <a:off x="6537960" y="122364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3"/>
          <p:cNvSpPr/>
          <p:nvPr/>
        </p:nvSpPr>
        <p:spPr>
          <a:xfrm flipV="1">
            <a:off x="6537960" y="1891800"/>
            <a:ext cx="1051560" cy="13366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4"/>
          <p:cNvSpPr/>
          <p:nvPr/>
        </p:nvSpPr>
        <p:spPr>
          <a:xfrm flipV="1">
            <a:off x="6537960" y="256032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6537960" y="322848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6537960" y="322848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7"/>
          <p:cNvSpPr/>
          <p:nvPr/>
        </p:nvSpPr>
        <p:spPr>
          <a:xfrm flipV="1">
            <a:off x="6537960" y="1223640"/>
            <a:ext cx="1051560" cy="267300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8"/>
          <p:cNvSpPr/>
          <p:nvPr/>
        </p:nvSpPr>
        <p:spPr>
          <a:xfrm flipV="1">
            <a:off x="6537960" y="1891800"/>
            <a:ext cx="1051560" cy="20048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9"/>
          <p:cNvSpPr/>
          <p:nvPr/>
        </p:nvSpPr>
        <p:spPr>
          <a:xfrm flipV="1">
            <a:off x="6537960" y="2560320"/>
            <a:ext cx="1051560" cy="133632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0"/>
          <p:cNvSpPr/>
          <p:nvPr/>
        </p:nvSpPr>
        <p:spPr>
          <a:xfrm flipV="1">
            <a:off x="6537960" y="3228480"/>
            <a:ext cx="1051560" cy="6681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1"/>
          <p:cNvSpPr/>
          <p:nvPr/>
        </p:nvSpPr>
        <p:spPr>
          <a:xfrm>
            <a:off x="6537960" y="3896640"/>
            <a:ext cx="1051560" cy="3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2"/>
          <p:cNvSpPr/>
          <p:nvPr/>
        </p:nvSpPr>
        <p:spPr>
          <a:xfrm>
            <a:off x="7589520" y="1223640"/>
            <a:ext cx="1051560" cy="10022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3"/>
          <p:cNvSpPr/>
          <p:nvPr/>
        </p:nvSpPr>
        <p:spPr>
          <a:xfrm>
            <a:off x="7589520" y="1223640"/>
            <a:ext cx="1051560" cy="16707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7589520" y="1891800"/>
            <a:ext cx="1051560" cy="3340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5"/>
          <p:cNvSpPr/>
          <p:nvPr/>
        </p:nvSpPr>
        <p:spPr>
          <a:xfrm>
            <a:off x="7589520" y="1891800"/>
            <a:ext cx="1051560" cy="100260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6"/>
          <p:cNvSpPr/>
          <p:nvPr/>
        </p:nvSpPr>
        <p:spPr>
          <a:xfrm flipV="1">
            <a:off x="7589520" y="2225880"/>
            <a:ext cx="1051560" cy="3344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7"/>
          <p:cNvSpPr/>
          <p:nvPr/>
        </p:nvSpPr>
        <p:spPr>
          <a:xfrm>
            <a:off x="7589520" y="2560320"/>
            <a:ext cx="1051560" cy="3340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8"/>
          <p:cNvSpPr/>
          <p:nvPr/>
        </p:nvSpPr>
        <p:spPr>
          <a:xfrm flipV="1">
            <a:off x="7589520" y="2225880"/>
            <a:ext cx="1051560" cy="100260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9"/>
          <p:cNvSpPr/>
          <p:nvPr/>
        </p:nvSpPr>
        <p:spPr>
          <a:xfrm flipV="1">
            <a:off x="7589520" y="2894400"/>
            <a:ext cx="1051560" cy="33408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0"/>
          <p:cNvSpPr/>
          <p:nvPr/>
        </p:nvSpPr>
        <p:spPr>
          <a:xfrm flipV="1">
            <a:off x="7589520" y="2225880"/>
            <a:ext cx="1051560" cy="167076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1"/>
          <p:cNvSpPr/>
          <p:nvPr/>
        </p:nvSpPr>
        <p:spPr>
          <a:xfrm flipV="1">
            <a:off x="7589520" y="2894400"/>
            <a:ext cx="1051560" cy="1002240"/>
          </a:xfrm>
          <a:prstGeom prst="line">
            <a:avLst/>
          </a:prstGeom>
          <a:ln w="9525">
            <a:solidFill>
              <a:srgbClr val="aed6f1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2"/>
          <p:cNvSpPr/>
          <p:nvPr/>
        </p:nvSpPr>
        <p:spPr>
          <a:xfrm>
            <a:off x="5358240" y="176400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3"/>
          <p:cNvSpPr/>
          <p:nvPr/>
        </p:nvSpPr>
        <p:spPr>
          <a:xfrm>
            <a:off x="5358240" y="243216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4"/>
          <p:cNvSpPr/>
          <p:nvPr/>
        </p:nvSpPr>
        <p:spPr>
          <a:xfrm>
            <a:off x="5358240" y="310068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5"/>
          <p:cNvSpPr/>
          <p:nvPr/>
        </p:nvSpPr>
        <p:spPr>
          <a:xfrm>
            <a:off x="6409800" y="109584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6"/>
          <p:cNvSpPr/>
          <p:nvPr/>
        </p:nvSpPr>
        <p:spPr>
          <a:xfrm>
            <a:off x="6409800" y="176400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7"/>
          <p:cNvSpPr/>
          <p:nvPr/>
        </p:nvSpPr>
        <p:spPr>
          <a:xfrm>
            <a:off x="6409800" y="243216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8"/>
          <p:cNvSpPr/>
          <p:nvPr/>
        </p:nvSpPr>
        <p:spPr>
          <a:xfrm>
            <a:off x="6409800" y="310068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9"/>
          <p:cNvSpPr/>
          <p:nvPr/>
        </p:nvSpPr>
        <p:spPr>
          <a:xfrm>
            <a:off x="6409800" y="376884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0"/>
          <p:cNvSpPr/>
          <p:nvPr/>
        </p:nvSpPr>
        <p:spPr>
          <a:xfrm>
            <a:off x="7461360" y="109584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1"/>
          <p:cNvSpPr/>
          <p:nvPr/>
        </p:nvSpPr>
        <p:spPr>
          <a:xfrm>
            <a:off x="7461360" y="176400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2"/>
          <p:cNvSpPr/>
          <p:nvPr/>
        </p:nvSpPr>
        <p:spPr>
          <a:xfrm>
            <a:off x="7461360" y="243216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3"/>
          <p:cNvSpPr/>
          <p:nvPr/>
        </p:nvSpPr>
        <p:spPr>
          <a:xfrm>
            <a:off x="7461360" y="310068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4"/>
          <p:cNvSpPr/>
          <p:nvPr/>
        </p:nvSpPr>
        <p:spPr>
          <a:xfrm>
            <a:off x="7461360" y="3768840"/>
            <a:ext cx="255600" cy="255600"/>
          </a:xfrm>
          <a:prstGeom prst="ellipse">
            <a:avLst/>
          </a:prstGeom>
          <a:solidFill>
            <a:srgbClr val="85c1e9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5"/>
          <p:cNvSpPr/>
          <p:nvPr/>
        </p:nvSpPr>
        <p:spPr>
          <a:xfrm>
            <a:off x="8512920" y="2098080"/>
            <a:ext cx="255600" cy="255600"/>
          </a:xfrm>
          <a:prstGeom prst="ellipse">
            <a:avLst/>
          </a:prstGeom>
          <a:solidFill>
            <a:srgbClr val="f5b04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6"/>
          <p:cNvSpPr/>
          <p:nvPr/>
        </p:nvSpPr>
        <p:spPr>
          <a:xfrm>
            <a:off x="8512920" y="2766240"/>
            <a:ext cx="255600" cy="255600"/>
          </a:xfrm>
          <a:prstGeom prst="ellipse">
            <a:avLst/>
          </a:prstGeom>
          <a:solidFill>
            <a:srgbClr val="f5b04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Current AI Events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79"/>
              </a:spcBef>
              <a:spcAft>
                <a:spcPts val="1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Steady Frontier Model Improvement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79"/>
              </a:spcBef>
              <a:spcAft>
                <a:spcPts val="1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Agents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79"/>
              </a:spcBef>
              <a:spcAft>
                <a:spcPts val="1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Impacts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79"/>
              </a:spcBef>
              <a:spcAft>
                <a:spcPts val="1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Safety Concerns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79"/>
              </a:spcBef>
              <a:spcAft>
                <a:spcPts val="1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Center Economics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5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CBB6EF-24D7-4A88-8707-7C84CE178EEC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Model Improvements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2025 vs today – notable improvements in coding, math, reasoning.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“Recursive self-improvement” may come soon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LLMs revising their own architecture and training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“stochastic parrots”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inside the models finds real concepts and reasoning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Mathematical research as evidence of reasoning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Navier-Stokes; unit distance; Erdos problems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6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623EE-ACBB-4010-AE50-B5D53DAC4B14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AI Agents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 empowered to act, not just “talk”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honors LLM requests for outside action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 files and browse web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Alter local documents, code, databases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 online stores, bank accounts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as personal “admin”, coder, purchasing agent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“Book my flights, and file the expense report”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7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2D4D04-B218-4579-8BDB-C6B6795BCF8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Professional Impacts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Agents can now do 90-100% of direct coding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Customer service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Junior finance and legal jobs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Routine roles of all sorts done by AI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 news: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AI effectively enhances professional ability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Individuals or small teams can do what once took dozens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FD62F-9C03-401D-AE4F-E1833AE38DD8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Safety Concerns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Agentic AI can “hack” faster and at more depth than humans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Hugging Face incident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PHP security flaw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don’t know how smart it will get, and whether “alignment” will hold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Amodei’s “We Must Pace the Frontier” essay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 news: Systems will become more secure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AI as a penetration tester is powerful new tool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eases revision of systems, use of new languages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9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696B58-3B6E-41E9-853C-226BB8BB9925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Data Center Economics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Power consumption raising rates in various areas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Water for cooling also a concern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Supply constraints on memory, GPUs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39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 news: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Water recycling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Past and future work on efficient “inference”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Possibility of on-orbit data centers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0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F2687-E74F-4171-A13F-EC52C7CB806E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AI Future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tech follows S-curves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Aerospace example, and two prior “winters” in neural networks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A: current S-curve plateaus in 1-2 years, absent deeper theory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B: plateau later, reaching AGI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C: advances to self-improving loop – “singularity”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Which one – depends on who you listen to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Two years ago A: 70%, B: 20%, C: 10%;  Now A: 30%, B: 50%, C: 20%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Need better theory so we can do more than guess!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Underlying math has huge potential for fourth S-curve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1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5D70B-1EC3-4B09-A7F7-18483CACA5C5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What Is UATX Doing?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 on breadth of learning, judgment, design, and effective use of AI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Physical fitness still matters even with powerful physical machines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Mental fitness still matters even with powerful mental machines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over the “apprentice gap”;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enhances capability, it does not replace it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Specifics: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Emphasis on no-transistors testing and evaluations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Clear standards on use and non-use of AI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Teaching constructive use of AI, e.g.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281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 tutor or enhanced “textbook”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281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individual self-study in jr/sr years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2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7B6B5D-21CC-49FC-800B-CB01CBFF2A8D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What Is UATX Sciences Doing?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Embrace and use AI effectively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 tedious computation and coding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281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Wolfram visitor this fall teaching DE and “data wrangling”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Apply math and sciences to larger problems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281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Linear algebra on larger dimensions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Investigate AI impact on economy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281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“The Economy and AI”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Student Research and Polaris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“Vibecoding hardware” this D-term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paper on on-orbit satellite design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3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FA875-F772-4756-8C8C-3B467E1F3FEA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What Is CS/AI Doing?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48640" y="1097280"/>
            <a:ext cx="804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Teach modern software engineering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Code first, but…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coding agents effectively, take on larger projects. AI-enabled development starts at third quarter.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36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Concentration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 and Math of AI courses teach basic theory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LLMs and Diffusion Models, including how to build AI agents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Reinforcement Learning -- critical method for training coding and math AI agents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Physical AI – computer vision, robotics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 Engineering – applying AI to new problems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320"/>
              </a:spcBef>
              <a:spcAft>
                <a:spcPts val="400"/>
              </a:spcAft>
              <a:buClr>
                <a:srgbClr val="1a2238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possibilities: AI in cybersecurity, Interpretability Theory…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4"/>
          </p:nvPr>
        </p:nvSpPr>
        <p:spPr>
          <a:xfrm>
            <a:off x="822960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DA9EA-528E-4309-BEEF-C68558F0F4B8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Update">
  <a:themeElements>
    <a:clrScheme name="AIUpdate">
      <a:dk1>
        <a:srgbClr val="1a2238"/>
      </a:dk1>
      <a:lt1>
        <a:srgbClr val="ffffff"/>
      </a:lt1>
      <a:dk2>
        <a:srgbClr val="1e2761"/>
      </a:dk2>
      <a:lt2>
        <a:srgbClr val="dce8f8"/>
      </a:lt2>
      <a:accent1>
        <a:srgbClr val="1c7293"/>
      </a:accent1>
      <a:accent2>
        <a:srgbClr val="2e86c1"/>
      </a:accent2>
      <a:accent3>
        <a:srgbClr val="5dade2"/>
      </a:accent3>
      <a:accent4>
        <a:srgbClr val="f5b041"/>
      </a:accent4>
      <a:accent5>
        <a:srgbClr val="85c1e9"/>
      </a:accent5>
      <a:accent6>
        <a:srgbClr val="aed6f1"/>
      </a:accent6>
      <a:hlink>
        <a:srgbClr val="1c7293"/>
      </a:hlink>
      <a:folHlink>
        <a:srgbClr val="5d6d7e"/>
      </a:folHlink>
    </a:clrScheme>
    <a:fontScheme name="AIUpdat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LibreOffice/25.8.7.1$Windows_X86_64 LibreOffice_project/39c3b7ac021cfb9f4ca681457ad36828f90e2ce7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2026-10-31T14:23:50Z</dcterms:created>
  <dc:creator>PptxGenJS</dc:creator>
  <dc:description/>
  <dc:language>en-US</dc:language>
  <cp:lastModifiedBy/>
  <dcterms:modified xsi:type="dcterms:W3CDTF">2026-10-31T09:27:17Z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