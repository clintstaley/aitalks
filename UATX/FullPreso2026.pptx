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9.xml.rels" ContentType="application/vnd.openxmlformats-package.relationships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</p:sldIdLst>
  <p:sldSz cx="10080625" cy="5670550"/>
  <p:notesSz cx="7772400" cy="100584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5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8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1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2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3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28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6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3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4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49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0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51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0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2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7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8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89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4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0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4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5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6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27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1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7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8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1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2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3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4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65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2000" cy="43884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4" name="PlaceHolder 4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8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 type="body"/>
          </p:nvPr>
        </p:nvSpPr>
        <p:spPr>
          <a:xfrm>
            <a:off x="504000" y="3044520"/>
            <a:ext cx="907200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4" name="PlaceHolder 3"/>
          <p:cNvSpPr>
            <a:spLocks noGrp="1"/>
          </p:cNvSpPr>
          <p:nvPr>
            <p:ph type="body"/>
          </p:nvPr>
        </p:nvSpPr>
        <p:spPr>
          <a:xfrm>
            <a:off x="5152680" y="132660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5" name="PlaceHolder 4"/>
          <p:cNvSpPr>
            <a:spLocks noGrp="1"/>
          </p:cNvSpPr>
          <p:nvPr>
            <p:ph type="body"/>
          </p:nvPr>
        </p:nvSpPr>
        <p:spPr>
          <a:xfrm>
            <a:off x="50400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6" name="PlaceHolder 5"/>
          <p:cNvSpPr>
            <a:spLocks noGrp="1"/>
          </p:cNvSpPr>
          <p:nvPr>
            <p:ph type="body"/>
          </p:nvPr>
        </p:nvSpPr>
        <p:spPr>
          <a:xfrm>
            <a:off x="5152680" y="3044520"/>
            <a:ext cx="442692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body"/>
          </p:nvPr>
        </p:nvSpPr>
        <p:spPr>
          <a:xfrm>
            <a:off x="357156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0" name="PlaceHolder 4"/>
          <p:cNvSpPr>
            <a:spLocks noGrp="1"/>
          </p:cNvSpPr>
          <p:nvPr>
            <p:ph type="body"/>
          </p:nvPr>
        </p:nvSpPr>
        <p:spPr>
          <a:xfrm>
            <a:off x="6639120" y="132660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1" name="PlaceHolder 5"/>
          <p:cNvSpPr>
            <a:spLocks noGrp="1"/>
          </p:cNvSpPr>
          <p:nvPr>
            <p:ph type="body"/>
          </p:nvPr>
        </p:nvSpPr>
        <p:spPr>
          <a:xfrm>
            <a:off x="50400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2" name="PlaceHolder 6"/>
          <p:cNvSpPr>
            <a:spLocks noGrp="1"/>
          </p:cNvSpPr>
          <p:nvPr>
            <p:ph type="body"/>
          </p:nvPr>
        </p:nvSpPr>
        <p:spPr>
          <a:xfrm>
            <a:off x="357156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03" name="PlaceHolder 7"/>
          <p:cNvSpPr>
            <a:spLocks noGrp="1"/>
          </p:cNvSpPr>
          <p:nvPr>
            <p:ph type="body"/>
          </p:nvPr>
        </p:nvSpPr>
        <p:spPr>
          <a:xfrm>
            <a:off x="6639120" y="3044520"/>
            <a:ext cx="2921040" cy="156852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5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CustomShape 1"/>
          <p:cNvSpPr/>
          <p:nvPr/>
        </p:nvSpPr>
        <p:spPr>
          <a:xfrm>
            <a:off x="731520" y="2088360"/>
            <a:ext cx="9064440" cy="5616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4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Technology and Philosophy</a:t>
            </a:r>
            <a:endParaRPr b="0" lang="en-US" sz="4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4000" spc="-1" strike="noStrike">
                <a:solidFill>
                  <a:srgbClr val="000000"/>
                </a:solidFill>
                <a:latin typeface="Times New Roman"/>
                <a:ea typeface="DejaVu Sans"/>
              </a:rPr>
              <a:t>of Artificial Intelligence</a:t>
            </a:r>
            <a:endParaRPr b="0" lang="en-US" sz="4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40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Dr. Clint Staley</a:t>
            </a:r>
            <a:endParaRPr b="0" lang="en-US" sz="16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Dean of STEM, UATX</a:t>
            </a:r>
            <a:endParaRPr b="0" lang="en-US" sz="16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Arial"/>
                <a:ea typeface="DejaVu Sans"/>
              </a:rPr>
              <a:t>CSC Professor Emeritus, Cal Poly SLO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305" name="CustomShape 2"/>
          <p:cNvSpPr/>
          <p:nvPr/>
        </p:nvSpPr>
        <p:spPr>
          <a:xfrm>
            <a:off x="4206240" y="2768400"/>
            <a:ext cx="1640160" cy="3970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CustomShape 1"/>
          <p:cNvSpPr/>
          <p:nvPr/>
        </p:nvSpPr>
        <p:spPr>
          <a:xfrm>
            <a:off x="504000" y="226080"/>
            <a:ext cx="9068400" cy="94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Common Large Language Model (LLM) Uses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07" name="CustomShape 2"/>
          <p:cNvSpPr/>
          <p:nvPr/>
        </p:nvSpPr>
        <p:spPr>
          <a:xfrm>
            <a:off x="504000" y="1326600"/>
            <a:ext cx="9068400" cy="32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18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Comprehensive web search</a:t>
            </a:r>
            <a:endParaRPr b="0" lang="en-US" sz="26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Summarizing and analyzing documents </a:t>
            </a:r>
            <a:endParaRPr b="0" lang="en-US" sz="26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Generating or editing prose </a:t>
            </a:r>
            <a:endParaRPr b="0" lang="en-US" sz="26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Tutorial discussions </a:t>
            </a:r>
            <a:endParaRPr b="0" lang="en-US" sz="26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Brainstorming and recommendations</a:t>
            </a:r>
            <a:endParaRPr b="0" lang="en-US" sz="2600" spc="-1" strike="noStrike">
              <a:latin typeface="Arial"/>
            </a:endParaRPr>
          </a:p>
          <a:p>
            <a:pPr>
              <a:lnSpc>
                <a:spcPct val="100000"/>
              </a:lnSpc>
              <a:spcBef>
                <a:spcPts val="1134"/>
              </a:spcBef>
            </a:pPr>
            <a:endParaRPr b="0" lang="en-US" sz="2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CustomShape 1"/>
          <p:cNvSpPr/>
          <p:nvPr/>
        </p:nvSpPr>
        <p:spPr>
          <a:xfrm>
            <a:off x="504000" y="226080"/>
            <a:ext cx="9070200" cy="944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LLM Use “How To”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09" name="CustomShape 2"/>
          <p:cNvSpPr/>
          <p:nvPr/>
        </p:nvSpPr>
        <p:spPr>
          <a:xfrm>
            <a:off x="504000" y="1326600"/>
            <a:ext cx="9070200" cy="4068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49000"/>
          </a:bodyPr>
          <a:p>
            <a:pPr marL="432000" indent="-3222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It’s all about the prompt(s)</a:t>
            </a:r>
            <a:endParaRPr b="0" lang="en-US" sz="3200" spc="-1" strike="noStrike">
              <a:latin typeface="Arial"/>
            </a:endParaRPr>
          </a:p>
          <a:p>
            <a:pPr lvl="1" marL="864000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More than a question.  Can include information, like documents, photos, etc.</a:t>
            </a:r>
            <a:endParaRPr b="0" lang="en-US" sz="2600" spc="-1" strike="noStrike">
              <a:latin typeface="Arial"/>
            </a:endParaRPr>
          </a:p>
          <a:p>
            <a:pPr lvl="1" marL="864000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LLM “knows” info only at the time of training.  Prompt gives current details.</a:t>
            </a:r>
            <a:endParaRPr b="0" lang="en-US" sz="2600" spc="-1" strike="noStrike">
              <a:latin typeface="Arial"/>
            </a:endParaRPr>
          </a:p>
          <a:p>
            <a:pPr lvl="1" marL="864000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Not just one prompt – engage in conversation.  Entire conversation is “input” for each chat</a:t>
            </a:r>
            <a:endParaRPr b="0" lang="en-US" sz="2600" spc="-1" strike="noStrike">
              <a:latin typeface="Arial"/>
            </a:endParaRPr>
          </a:p>
          <a:p>
            <a:pPr lvl="1" marL="864000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Depth of remembered conversation varies by LLM – 2,000 words to 1 million</a:t>
            </a:r>
            <a:endParaRPr b="0" lang="en-US" sz="2600" spc="-1" strike="noStrike">
              <a:latin typeface="Arial"/>
            </a:endParaRPr>
          </a:p>
          <a:p>
            <a:pPr marL="432000" indent="-3222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LLM’s “hallucinate”, often very confidently</a:t>
            </a:r>
            <a:endParaRPr b="0" lang="en-US" sz="2600" spc="-1" strike="noStrike">
              <a:latin typeface="Arial"/>
            </a:endParaRPr>
          </a:p>
          <a:p>
            <a:pPr lvl="1" marL="864000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Check critical facts</a:t>
            </a:r>
            <a:endParaRPr b="0" lang="en-US" sz="2600" spc="-1" strike="noStrike">
              <a:latin typeface="Arial"/>
            </a:endParaRPr>
          </a:p>
          <a:p>
            <a:pPr lvl="1" marL="864000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Scan generated material for oddities</a:t>
            </a:r>
            <a:endParaRPr b="0" lang="en-US" sz="2600" spc="-1" strike="noStrike">
              <a:latin typeface="Arial"/>
            </a:endParaRPr>
          </a:p>
          <a:p>
            <a:pPr lvl="1" marL="864000" indent="-3222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1" i="1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Any serious LLM session includes successfully correcting the</a:t>
            </a:r>
            <a:r>
              <a:rPr b="1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 LLM</a:t>
            </a:r>
            <a:endParaRPr b="0" lang="en-US" sz="2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CustomShape 1"/>
          <p:cNvSpPr/>
          <p:nvPr/>
        </p:nvSpPr>
        <p:spPr>
          <a:xfrm>
            <a:off x="504000" y="226080"/>
            <a:ext cx="9068760" cy="94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Other (non LLM) AI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11" name="CustomShape 2"/>
          <p:cNvSpPr/>
          <p:nvPr/>
        </p:nvSpPr>
        <p:spPr>
          <a:xfrm>
            <a:off x="504000" y="1326600"/>
            <a:ext cx="9068760" cy="32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75000"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Same principles of training and numerical patterns, but different designs and purposes.</a:t>
            </a:r>
            <a:endParaRPr b="0" lang="en-US" sz="2000" spc="-1" strike="noStrike"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Computer Vision: face recognition, object tracking</a:t>
            </a:r>
            <a:endParaRPr b="0" lang="en-US" sz="2000" spc="-1" strike="noStrike"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“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Physical” or “Embedded” AI: robots, automated drones, self-driving cars</a:t>
            </a:r>
            <a:endParaRPr b="0" lang="en-US" sz="2000" spc="-1" strike="noStrike"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Reinforcement Learning (RL)</a:t>
            </a:r>
            <a:endParaRPr b="0" lang="en-US" sz="2000" spc="-1" strike="noStrike"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Symbol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Self-instructing.  Requires automatically generable feedback.</a:t>
            </a:r>
            <a:endParaRPr b="0" lang="en-US" sz="2000" spc="-1" strike="noStrike"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Symbol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Examples: Alpha Go,  code-writing agents, physical AI (via simulation)</a:t>
            </a:r>
            <a:endParaRPr b="0" lang="en-US" sz="2000" spc="-1" strike="noStrike"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Graph Neural Networks: </a:t>
            </a:r>
            <a:endParaRPr b="0" lang="en-US" sz="2000" spc="-1" strike="noStrike"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Symbol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DejaVu Sans"/>
              </a:rPr>
              <a:t>AlphaFold – analyzes connection patterns, e.g. chemical compounds, protein fold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CustomShape 1"/>
          <p:cNvSpPr/>
          <p:nvPr/>
        </p:nvSpPr>
        <p:spPr>
          <a:xfrm>
            <a:off x="504000" y="226080"/>
            <a:ext cx="9070560" cy="94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Example Uses – Other AI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13" name="CustomShape 2"/>
          <p:cNvSpPr/>
          <p:nvPr/>
        </p:nvSpPr>
        <p:spPr>
          <a:xfrm>
            <a:off x="504000" y="1326600"/>
            <a:ext cx="9070560" cy="3287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51000"/>
          </a:bodyPr>
          <a:p>
            <a:pPr marL="432000" indent="-3225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Artistic creativity – funny image</a:t>
            </a:r>
            <a:endParaRPr b="0" lang="en-US" sz="3200" spc="-1" strike="noStrike">
              <a:latin typeface="Arial"/>
            </a:endParaRPr>
          </a:p>
          <a:p>
            <a:pPr lvl="1" marL="864000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“</a:t>
            </a: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Diffusion model”, e.g. DALL-E, Sora</a:t>
            </a:r>
            <a:endParaRPr b="0" lang="en-US" sz="2800" spc="-1" strike="noStrike">
              <a:latin typeface="Arial"/>
            </a:endParaRPr>
          </a:p>
          <a:p>
            <a:pPr lvl="1" marL="864000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Photos, short movie clips</a:t>
            </a:r>
            <a:endParaRPr b="0" lang="en-US" sz="2800" spc="-1" strike="noStrike">
              <a:latin typeface="Arial"/>
            </a:endParaRPr>
          </a:p>
          <a:p>
            <a:pPr lvl="1" marL="864000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May need feedback and adjustment, and may hallucinate</a:t>
            </a:r>
            <a:endParaRPr b="0" lang="en-US" sz="2800" spc="-1" strike="noStrike">
              <a:latin typeface="Arial"/>
            </a:endParaRPr>
          </a:p>
          <a:p>
            <a:pPr lvl="1" marL="864000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Term “hallucination” originates with this type of AI</a:t>
            </a:r>
            <a:endParaRPr b="0" lang="en-US" sz="2800" spc="-1" strike="noStrike">
              <a:latin typeface="Arial"/>
            </a:endParaRPr>
          </a:p>
          <a:p>
            <a:pPr marL="432000" indent="-3225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Generate audio</a:t>
            </a:r>
            <a:endParaRPr b="0" lang="en-US" sz="3200" spc="-1" strike="noStrike">
              <a:latin typeface="Arial"/>
            </a:endParaRPr>
          </a:p>
          <a:p>
            <a:pPr lvl="1" marL="864000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Voice or music</a:t>
            </a:r>
            <a:endParaRPr b="0" lang="en-US" sz="2800" spc="-1" strike="noStrike">
              <a:latin typeface="Arial"/>
            </a:endParaRPr>
          </a:p>
          <a:p>
            <a:pPr lvl="1" marL="864000" indent="-3225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Note that this means voices are not representative e.g. on phone calls</a:t>
            </a:r>
            <a:endParaRPr b="0" lang="en-U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CustomShape 1"/>
          <p:cNvSpPr/>
          <p:nvPr/>
        </p:nvSpPr>
        <p:spPr>
          <a:xfrm>
            <a:off x="503640" y="477720"/>
            <a:ext cx="9064440" cy="93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Deeper</a:t>
            </a: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 Capabilities</a:t>
            </a:r>
            <a:endParaRPr b="0" lang="en-US" sz="4000" spc="-1" strike="noStrike">
              <a:latin typeface="Arial"/>
            </a:endParaRPr>
          </a:p>
        </p:txBody>
      </p:sp>
      <p:sp>
        <p:nvSpPr>
          <p:cNvPr id="315" name="CustomShape 2"/>
          <p:cNvSpPr/>
          <p:nvPr/>
        </p:nvSpPr>
        <p:spPr>
          <a:xfrm>
            <a:off x="503640" y="1326240"/>
            <a:ext cx="9064440" cy="328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56000"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1800" spc="-1" strike="noStrike"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More than a glorified Wikipedia</a:t>
            </a:r>
            <a:endParaRPr b="0" lang="en-US" sz="3200" spc="-1" strike="noStrike"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Example: write and Revise a Story</a:t>
            </a:r>
            <a:endParaRPr b="0" lang="en-US" sz="32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Understands the context of the story</a:t>
            </a:r>
            <a:endParaRPr b="0" lang="en-US" sz="28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Summarizes; changes style</a:t>
            </a:r>
            <a:endParaRPr b="0" lang="en-US" sz="2800" spc="-1" strike="noStrike"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Example: Analyzing humorous images</a:t>
            </a:r>
            <a:endParaRPr b="0" lang="en-US" sz="28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Multimodal: understands images</a:t>
            </a:r>
            <a:endParaRPr b="0" lang="en-US" sz="28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Understands subtle context</a:t>
            </a:r>
            <a:endParaRPr b="0" lang="en-US" sz="2800" spc="-1" strike="noStrike"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Example: Theory of Mind</a:t>
            </a:r>
            <a:endParaRPr b="0" lang="en-U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CustomShape 1"/>
          <p:cNvSpPr/>
          <p:nvPr/>
        </p:nvSpPr>
        <p:spPr>
          <a:xfrm>
            <a:off x="503640" y="182520"/>
            <a:ext cx="9064440" cy="93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An LLM Is </a:t>
            </a:r>
            <a:r>
              <a:rPr b="0" i="1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Not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17" name="CustomShape 2"/>
          <p:cNvSpPr/>
          <p:nvPr/>
        </p:nvSpPr>
        <p:spPr>
          <a:xfrm>
            <a:off x="503640" y="1096920"/>
            <a:ext cx="9064440" cy="3510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62000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An improved search engine</a:t>
            </a:r>
            <a:endParaRPr b="0" lang="en-US" sz="32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Is able to web-search when useful, but…</a:t>
            </a:r>
            <a:endParaRPr b="0" lang="en-US" sz="26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… </a:t>
            </a: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can work unplugged from the internet</a:t>
            </a:r>
            <a:endParaRPr b="0" lang="en-US" sz="2600" spc="-1" strike="noStrike"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Hand-crafted code</a:t>
            </a:r>
            <a:endParaRPr b="0" lang="en-US" sz="32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No programming specific to the questions/answers</a:t>
            </a:r>
            <a:endParaRPr b="0" lang="en-US" sz="26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Could be written in one page of code – </a:t>
            </a:r>
            <a:r>
              <a:rPr b="1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12 equations</a:t>
            </a:r>
            <a:endParaRPr b="0" lang="en-US" sz="2600" spc="-1" strike="noStrike"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The whole modern AI story</a:t>
            </a:r>
            <a:endParaRPr b="0" lang="en-US" sz="32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Important other areas are making major advances too, e.g. “reinforcement learning”, computer vision</a:t>
            </a:r>
            <a:endParaRPr b="0" lang="en-U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CustomShape 1"/>
          <p:cNvSpPr/>
          <p:nvPr/>
        </p:nvSpPr>
        <p:spPr>
          <a:xfrm>
            <a:off x="503640" y="225720"/>
            <a:ext cx="9064440" cy="93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An LLM </a:t>
            </a:r>
            <a:r>
              <a:rPr b="0" i="1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Is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19" name="CustomShape 2"/>
          <p:cNvSpPr/>
          <p:nvPr/>
        </p:nvSpPr>
        <p:spPr>
          <a:xfrm>
            <a:off x="503640" y="1326240"/>
            <a:ext cx="9064440" cy="3281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27000"/>
          </a:bodyPr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 sophisticated mathematical engine</a:t>
            </a:r>
            <a:endParaRPr b="0" lang="en-US" sz="32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12 equations, but on “matrices” – huge grids of numbers</a:t>
            </a:r>
            <a:endParaRPr b="0" lang="en-US" sz="32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From 10 billion to over 1 trillion numbers</a:t>
            </a:r>
            <a:endParaRPr b="0" lang="en-US" sz="32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The “intelligence” is in those numbers (aka weights or parameters)</a:t>
            </a:r>
            <a:endParaRPr b="0" lang="en-US" sz="3200" spc="-1" strike="noStrike"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Self-organizing!</a:t>
            </a:r>
            <a:endParaRPr b="0" lang="en-US" sz="3200" spc="-1" strike="noStrike">
              <a:latin typeface="Arial"/>
            </a:endParaRPr>
          </a:p>
          <a:p>
            <a:pPr lvl="1" marL="864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The weights are “trained” by incremental adjustment </a:t>
            </a:r>
            <a:endParaRPr b="0" lang="en-US" sz="3200" spc="-1" strike="noStrike">
              <a:latin typeface="Arial"/>
            </a:endParaRPr>
          </a:p>
          <a:p>
            <a:pPr lvl="4" marL="1080000" indent="-2134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First, to match known texts</a:t>
            </a:r>
            <a:endParaRPr b="0" lang="en-US" sz="3200" spc="-1" strike="noStrike">
              <a:latin typeface="Arial"/>
            </a:endParaRPr>
          </a:p>
          <a:p>
            <a:pPr lvl="4" marL="1080000" indent="-2134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Then to adjust to human feedback given by RLHF</a:t>
            </a:r>
            <a:endParaRPr b="0" lang="en-US" sz="3200" spc="-1" strike="noStrike">
              <a:latin typeface="Arial"/>
            </a:endParaRPr>
          </a:p>
          <a:p>
            <a:pPr marL="432000" indent="-31788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Humans design the training process and the equations, but not the weights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CustomShape 1"/>
          <p:cNvSpPr/>
          <p:nvPr/>
        </p:nvSpPr>
        <p:spPr>
          <a:xfrm>
            <a:off x="504000" y="82080"/>
            <a:ext cx="9065880" cy="940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Word/Idea “Embedding”</a:t>
            </a:r>
            <a:endParaRPr b="0" lang="en-US" sz="4400" spc="-1" strike="noStrike">
              <a:latin typeface="Arial"/>
            </a:endParaRPr>
          </a:p>
        </p:txBody>
      </p:sp>
      <p:pic>
        <p:nvPicPr>
          <p:cNvPr id="321" name="" descr=""/>
          <p:cNvPicPr/>
          <p:nvPr/>
        </p:nvPicPr>
        <p:blipFill>
          <a:blip r:embed="rId1"/>
          <a:stretch/>
        </p:blipFill>
        <p:spPr>
          <a:xfrm>
            <a:off x="91440" y="909000"/>
            <a:ext cx="9871560" cy="2838240"/>
          </a:xfrm>
          <a:prstGeom prst="rect">
            <a:avLst/>
          </a:prstGeom>
          <a:ln>
            <a:noFill/>
          </a:ln>
        </p:spPr>
      </p:pic>
      <p:sp>
        <p:nvSpPr>
          <p:cNvPr id="322" name="CustomShape 2"/>
          <p:cNvSpPr/>
          <p:nvPr/>
        </p:nvSpPr>
        <p:spPr>
          <a:xfrm>
            <a:off x="526320" y="3987360"/>
            <a:ext cx="9067680" cy="1928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Autofit/>
          </a:bodyPr>
          <a:p>
            <a:pPr marL="216000" indent="-21204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This is how an LLM represents words, phrases and ideas</a:t>
            </a:r>
            <a:endParaRPr b="0" lang="en-US" sz="2600" spc="-1" strike="noStrike">
              <a:latin typeface="Arial"/>
            </a:endParaRPr>
          </a:p>
          <a:p>
            <a:pPr marL="216000" indent="-21204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Dimensions represent meaning, and also word position</a:t>
            </a:r>
            <a:endParaRPr b="0" lang="en-US" sz="2600" spc="-1" strike="noStrike">
              <a:latin typeface="Arial"/>
            </a:endParaRPr>
          </a:p>
          <a:p>
            <a:pPr marL="216000" indent="-21204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DejaVu Sans"/>
              </a:rPr>
              <a:t>But, with 12,800 numbers per word – many conceptual dimensions</a:t>
            </a:r>
            <a:endParaRPr b="0" lang="en-US" sz="2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CustomShape 1"/>
          <p:cNvSpPr/>
          <p:nvPr/>
        </p:nvSpPr>
        <p:spPr>
          <a:xfrm>
            <a:off x="504000" y="226080"/>
            <a:ext cx="9065880" cy="940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How An LLM “Thinks”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24" name="CustomShape 2"/>
          <p:cNvSpPr/>
          <p:nvPr/>
        </p:nvSpPr>
        <p:spPr>
          <a:xfrm>
            <a:off x="504000" y="1326600"/>
            <a:ext cx="9065880" cy="328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57000"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Starts with word embeddings representing words in your prompt and the current conversation.</a:t>
            </a:r>
            <a:endParaRPr b="0" lang="en-US" sz="32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Combines words via “attention blocks” into higher embeddings representing phrases, then sentences, etc.</a:t>
            </a:r>
            <a:endParaRPr b="0" lang="en-US" sz="32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Predicts next “thought” as an embedding and chooses closest next word.</a:t>
            </a:r>
            <a:endParaRPr b="0" lang="en-US" sz="32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Repeat, word by word...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CustomShape 1"/>
          <p:cNvSpPr/>
          <p:nvPr/>
        </p:nvSpPr>
        <p:spPr>
          <a:xfrm>
            <a:off x="504000" y="226080"/>
            <a:ext cx="9065880" cy="940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The Weights </a:t>
            </a:r>
            <a:r>
              <a:rPr b="0" i="1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are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 the “Intelligence”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26" name="CustomShape 2"/>
          <p:cNvSpPr/>
          <p:nvPr/>
        </p:nvSpPr>
        <p:spPr>
          <a:xfrm>
            <a:off x="504000" y="1326600"/>
            <a:ext cx="9065880" cy="32824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97000"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All “reasoning” is by word/concept embeddings.</a:t>
            </a:r>
            <a:endParaRPr b="0" lang="en-US" sz="28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And we (mostly) </a:t>
            </a:r>
            <a:r>
              <a:rPr b="0" i="1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don’t know</a:t>
            </a: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 what each weight does.   </a:t>
            </a:r>
            <a:endParaRPr b="0" lang="en-US" sz="28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Could learn to converse in a language none of its programmers understand.</a:t>
            </a:r>
            <a:endParaRPr b="0" lang="en-US" sz="28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Microsoft YaHei"/>
              </a:rPr>
              <a:t>Are world-models, theory of mind, etc. spontaneously emerging from the training?  Latest research clearly says “yes”. </a:t>
            </a:r>
            <a:endParaRPr b="0" lang="en-U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CustomShape 1"/>
          <p:cNvSpPr/>
          <p:nvPr/>
        </p:nvSpPr>
        <p:spPr>
          <a:xfrm>
            <a:off x="504000" y="226080"/>
            <a:ext cx="9065880" cy="940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Is an LLM Intelligent?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28" name="CustomShape 2"/>
          <p:cNvSpPr/>
          <p:nvPr/>
        </p:nvSpPr>
        <p:spPr>
          <a:xfrm>
            <a:off x="457200" y="1254600"/>
            <a:ext cx="9065880" cy="4043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43000"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“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Yes” arguments</a:t>
            </a:r>
            <a:endParaRPr b="0" lang="en-US" sz="3200" spc="-1" strike="noStrike">
              <a:latin typeface="Arial"/>
            </a:endParaRPr>
          </a:p>
          <a:p>
            <a:pPr lvl="1" marL="864000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Microsoft YaHei"/>
              </a:rPr>
              <a:t>Vast possibilities in 1 trillion weights.  Printed out they’d be 4 million large books.</a:t>
            </a:r>
            <a:endParaRPr b="0" lang="en-US" sz="2800" spc="-1" strike="noStrike">
              <a:latin typeface="Arial"/>
            </a:endParaRPr>
          </a:p>
          <a:p>
            <a:pPr lvl="1" marL="864000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Microsoft YaHei"/>
              </a:rPr>
              <a:t>Research in “mechanistic interpretability” shows conceptual models spontaneously arise from training</a:t>
            </a:r>
            <a:endParaRPr b="0" lang="en-US" sz="2800" spc="-1" strike="noStrike">
              <a:latin typeface="Arial"/>
            </a:endParaRPr>
          </a:p>
          <a:p>
            <a:pPr lvl="1" marL="864000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Microsoft YaHei"/>
              </a:rPr>
              <a:t>(But, we still know only some of what those weights are doing, and “intelligent” doesn’t necessarily mean “conscious”)</a:t>
            </a:r>
            <a:endParaRPr b="0" lang="en-US" sz="28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Microsoft YaHei"/>
              </a:rPr>
              <a:t>“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Microsoft YaHei"/>
              </a:rPr>
              <a:t>No” arguments</a:t>
            </a:r>
            <a:endParaRPr b="0" lang="en-US" sz="3200" spc="-1" strike="noStrike">
              <a:latin typeface="Arial"/>
            </a:endParaRPr>
          </a:p>
          <a:p>
            <a:pPr lvl="1" marL="864000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Microsoft YaHei"/>
              </a:rPr>
              <a:t>Just mindless numbers and 12 equations</a:t>
            </a:r>
            <a:endParaRPr b="0" lang="en-US" sz="2600" spc="-1" strike="noStrike">
              <a:latin typeface="Arial"/>
            </a:endParaRPr>
          </a:p>
          <a:p>
            <a:pPr lvl="1" marL="864000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Microsoft YaHei"/>
              </a:rPr>
              <a:t>Just predicting the next word.</a:t>
            </a:r>
            <a:endParaRPr b="0" lang="en-US" sz="2600" spc="-1" strike="noStrike">
              <a:latin typeface="Arial"/>
            </a:endParaRPr>
          </a:p>
          <a:p>
            <a:pPr lvl="1" marL="864000" indent="-3182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Microsoft YaHei"/>
              </a:rPr>
              <a:t>(But, it’s improving </a:t>
            </a:r>
            <a:r>
              <a:rPr b="0" i="1" lang="en-US" sz="2600" spc="-1" strike="noStrike">
                <a:solidFill>
                  <a:srgbClr val="000000"/>
                </a:solidFill>
                <a:latin typeface="Arial"/>
                <a:ea typeface="Microsoft YaHei"/>
              </a:rPr>
              <a:t>fast</a:t>
            </a: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Microsoft YaHei"/>
              </a:rPr>
              <a:t>, a human brain is just “mindless” neurons and synapses, and </a:t>
            </a:r>
            <a:r>
              <a:rPr b="0" i="1" lang="en-US" sz="2600" spc="-1" strike="noStrike">
                <a:solidFill>
                  <a:srgbClr val="000000"/>
                </a:solidFill>
                <a:latin typeface="Arial"/>
                <a:ea typeface="Microsoft YaHei"/>
              </a:rPr>
              <a:t>how</a:t>
            </a: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Microsoft YaHei"/>
              </a:rPr>
              <a:t> is it picking that next word so intelligently?)</a:t>
            </a:r>
            <a:endParaRPr b="0" lang="en-US" sz="2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CustomShape 1"/>
          <p:cNvSpPr/>
          <p:nvPr/>
        </p:nvSpPr>
        <p:spPr>
          <a:xfrm>
            <a:off x="504000" y="226080"/>
            <a:ext cx="9068760" cy="94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AI History 1950s - 1960s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30" name="CustomShape 2"/>
          <p:cNvSpPr/>
          <p:nvPr/>
        </p:nvSpPr>
        <p:spPr>
          <a:xfrm>
            <a:off x="504000" y="1343520"/>
            <a:ext cx="5802120" cy="32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11000"/>
          </a:bodyPr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18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  <a:ea typeface="DejaVu Sans"/>
              </a:rPr>
              <a:t>(1956) “Artificial Intelligence” first used as a term</a:t>
            </a:r>
            <a:endParaRPr b="0" lang="en-US" sz="36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  <a:ea typeface="DejaVu Sans"/>
              </a:rPr>
              <a:t>(</a:t>
            </a:r>
            <a:r>
              <a:rPr b="0" lang="en-US" sz="3600" spc="-1" strike="noStrike">
                <a:solidFill>
                  <a:srgbClr val="000000"/>
                </a:solidFill>
                <a:latin typeface="Arial"/>
                <a:ea typeface="Microsoft YaHei"/>
              </a:rPr>
              <a:t>1956) First good “theorem prover” – </a:t>
            </a:r>
            <a:r>
              <a:rPr b="1" lang="en-US" sz="3600" spc="-1" strike="noStrike">
                <a:solidFill>
                  <a:srgbClr val="000000"/>
                </a:solidFill>
                <a:latin typeface="Arial"/>
                <a:ea typeface="Microsoft YaHei"/>
              </a:rPr>
              <a:t>symbolic AI</a:t>
            </a:r>
            <a:endParaRPr b="0" lang="en-US" sz="36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  <a:ea typeface="DejaVu Sans"/>
              </a:rPr>
              <a:t>(1965) ELIZA basic “chatbot” in 200 lines of code</a:t>
            </a:r>
            <a:endParaRPr b="0" lang="en-US" sz="36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  <a:ea typeface="DejaVu Sans"/>
              </a:rPr>
              <a:t>(1960s) Hopfield, Minsky and others do early work in </a:t>
            </a:r>
            <a:r>
              <a:rPr b="1" lang="en-US" sz="3600" spc="-1" strike="noStrike">
                <a:solidFill>
                  <a:srgbClr val="000000"/>
                </a:solidFill>
                <a:latin typeface="Arial"/>
                <a:ea typeface="DejaVu Sans"/>
              </a:rPr>
              <a:t>“neural networks”</a:t>
            </a:r>
            <a:endParaRPr b="0" lang="en-US" sz="36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  <a:ea typeface="DejaVu Sans"/>
              </a:rPr>
              <a:t>(1967) Minsky: “Within a generation … the problem of creating artificial intelligence will substantially be solved.”</a:t>
            </a:r>
            <a:endParaRPr b="0" lang="en-US" sz="36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  <a:ea typeface="DejaVu Sans"/>
              </a:rPr>
              <a:t>(1969) Minsky and Papert publish “Perceptrons”</a:t>
            </a:r>
            <a:endParaRPr b="0" lang="en-US" sz="36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3600" spc="-1" strike="noStrike">
                <a:solidFill>
                  <a:srgbClr val="000000"/>
                </a:solidFill>
                <a:latin typeface="Arial"/>
                <a:ea typeface="DejaVu Sans"/>
              </a:rPr>
              <a:t>Proves one-layer (all they knew how to train) neural networks very limited and  triggers first </a:t>
            </a:r>
            <a:r>
              <a:rPr b="1" lang="en-US" sz="3600" spc="-1" strike="noStrike">
                <a:solidFill>
                  <a:srgbClr val="000000"/>
                </a:solidFill>
                <a:latin typeface="Arial"/>
                <a:ea typeface="DejaVu Sans"/>
              </a:rPr>
              <a:t>“AI winter”</a:t>
            </a:r>
            <a:endParaRPr b="0" lang="en-US" sz="3600" spc="-1" strike="noStrike">
              <a:latin typeface="Arial"/>
            </a:endParaRPr>
          </a:p>
        </p:txBody>
      </p:sp>
      <p:pic>
        <p:nvPicPr>
          <p:cNvPr id="331" name="" descr=""/>
          <p:cNvPicPr/>
          <p:nvPr/>
        </p:nvPicPr>
        <p:blipFill>
          <a:blip r:embed="rId1"/>
          <a:stretch/>
        </p:blipFill>
        <p:spPr>
          <a:xfrm>
            <a:off x="6675480" y="1463040"/>
            <a:ext cx="2791440" cy="198828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CustomShape 1"/>
          <p:cNvSpPr/>
          <p:nvPr/>
        </p:nvSpPr>
        <p:spPr>
          <a:xfrm>
            <a:off x="504000" y="226080"/>
            <a:ext cx="9068760" cy="94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AI History 1970s-1990s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33" name="CustomShape 2"/>
          <p:cNvSpPr/>
          <p:nvPr/>
        </p:nvSpPr>
        <p:spPr>
          <a:xfrm>
            <a:off x="504000" y="1326600"/>
            <a:ext cx="9068760" cy="32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30000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(1970) Seppo Linnainmaa quietly publishes “backpropagation” algorithm, solving the multilayer training problem.  </a:t>
            </a:r>
            <a:r>
              <a:rPr b="0" i="1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No one notices.</a:t>
            </a:r>
            <a:endParaRPr b="0" lang="en-US" sz="32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(1970s and 80s): Direct coding of logic in “expert systems”</a:t>
            </a:r>
            <a:endParaRPr b="0" lang="en-US" sz="32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Turns out to be limited and fragile</a:t>
            </a:r>
            <a:endParaRPr b="0" lang="en-US" sz="28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Vaunted “5</a:t>
            </a:r>
            <a:r>
              <a:rPr b="0" lang="en-US" sz="2800" spc="-1" strike="noStrike" baseline="14000000">
                <a:solidFill>
                  <a:srgbClr val="000000"/>
                </a:solidFill>
                <a:latin typeface="Arial"/>
                <a:ea typeface="DejaVu Sans"/>
              </a:rPr>
              <a:t>th</a:t>
            </a: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 generation” computing fizzles</a:t>
            </a:r>
            <a:endParaRPr b="0" lang="en-US" sz="28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(1986) Backpropagation algorithm (re)discovered. </a:t>
            </a:r>
            <a:endParaRPr b="0" lang="en-US" sz="32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Neural nets are back.</a:t>
            </a:r>
            <a:endParaRPr b="0" lang="en-US" sz="28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But training networks &gt; 3 layers proves very hard.  (Modern AI takes hundreds.)</a:t>
            </a:r>
            <a:endParaRPr b="0" lang="en-US" sz="28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After brief burst of progress, a </a:t>
            </a:r>
            <a:r>
              <a:rPr b="1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second “AI Winter”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CustomShape 1"/>
          <p:cNvSpPr/>
          <p:nvPr/>
        </p:nvSpPr>
        <p:spPr>
          <a:xfrm>
            <a:off x="504000" y="226080"/>
            <a:ext cx="9068760" cy="94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AI History 2012-2024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35" name="CustomShape 2"/>
          <p:cNvSpPr/>
          <p:nvPr/>
        </p:nvSpPr>
        <p:spPr>
          <a:xfrm>
            <a:off x="504000" y="1326600"/>
            <a:ext cx="9068760" cy="32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13000"/>
          </a:bodyPr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Four important advances lay ground for new neural network growth</a:t>
            </a:r>
            <a:endParaRPr b="0" lang="en-US" sz="4400" spc="-1" strike="noStrike"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OpenSymbol"/>
              <a:buChar char="‒"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more available training data via internet</a:t>
            </a:r>
            <a:endParaRPr b="0" lang="en-US" sz="4400" spc="-1" strike="noStrike"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OpenSymbol"/>
              <a:buChar char="‒"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computing power via GPUs</a:t>
            </a:r>
            <a:endParaRPr b="0" lang="en-US" sz="4400" spc="-1" strike="noStrike"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OpenSymbol"/>
              <a:buChar char="‒"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better neural network design:  “activation functions” and architectures </a:t>
            </a:r>
            <a:endParaRPr b="0" lang="en-US" sz="4400" spc="-1" strike="noStrike">
              <a:latin typeface="Arial"/>
            </a:endParaRPr>
          </a:p>
          <a:p>
            <a:pPr lvl="6" marL="1512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(neural net =&gt; deep learning)</a:t>
            </a:r>
            <a:endParaRPr b="0" lang="en-US" sz="4400" spc="-1" strike="noStrike">
              <a:latin typeface="Arial"/>
            </a:endParaRPr>
          </a:p>
          <a:p>
            <a:pPr lvl="1" marL="432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OpenSymbol"/>
              <a:buChar char="‒"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vibrant and very intensive research community</a:t>
            </a:r>
            <a:endParaRPr b="0" lang="en-US" sz="4400" spc="-1" strike="noStrike"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(2012) Neural networks, now “deep learning networks” are back, again!</a:t>
            </a:r>
            <a:endParaRPr b="0" lang="en-US" sz="4400" spc="-1" strike="noStrike"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(2017) “Attention is all you Need” paper describes Transformers</a:t>
            </a:r>
            <a:endParaRPr b="0" lang="en-US" sz="4400" spc="-1" strike="noStrike">
              <a:latin typeface="Arial"/>
            </a:endParaRPr>
          </a:p>
          <a:p>
            <a:pPr marL="216000" indent="-2156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(2020-2023) Steady LLM improvement arrives at GPT-4</a:t>
            </a:r>
            <a:endParaRPr b="0" lang="en-US" sz="4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CustomShape 1"/>
          <p:cNvSpPr/>
          <p:nvPr/>
        </p:nvSpPr>
        <p:spPr>
          <a:xfrm>
            <a:off x="504000" y="226080"/>
            <a:ext cx="9069120" cy="943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AI History – Taking Stock</a:t>
            </a:r>
            <a:endParaRPr b="1" lang="en-US" sz="4000" spc="-1" strike="noStrike">
              <a:latin typeface="Arial"/>
            </a:endParaRPr>
          </a:p>
        </p:txBody>
      </p:sp>
      <p:sp>
        <p:nvSpPr>
          <p:cNvPr id="337" name="CustomShape 2"/>
          <p:cNvSpPr/>
          <p:nvPr/>
        </p:nvSpPr>
        <p:spPr>
          <a:xfrm>
            <a:off x="1097280" y="1097280"/>
            <a:ext cx="9069120" cy="3285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81000"/>
          </a:bodyPr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Early investigation of major ideas</a:t>
            </a:r>
            <a:endParaRPr b="0" lang="en-US" sz="3200" spc="-1" strike="noStrike">
              <a:latin typeface="Arial"/>
            </a:endParaRPr>
          </a:p>
          <a:p>
            <a:pPr lvl="1" marL="864000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Neural networks since 1960s</a:t>
            </a:r>
            <a:endParaRPr b="0" lang="en-US" sz="2800" spc="-1" strike="noStrike"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Alternating optimism and AI winters</a:t>
            </a:r>
            <a:endParaRPr b="0" lang="en-US" sz="3200" spc="-1" strike="noStrike"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Symbolic logic vs neural networks</a:t>
            </a:r>
            <a:endParaRPr b="0" lang="en-US" sz="3200" spc="-1" strike="noStrike">
              <a:latin typeface="Arial"/>
            </a:endParaRPr>
          </a:p>
          <a:p>
            <a:pPr lvl="1" marL="864000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The “bitter” (to some researchers) lesson – can’t program AI directly</a:t>
            </a:r>
            <a:endParaRPr b="0" lang="en-US" sz="2800" spc="-1" strike="noStrike"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Need better theory – too much cut-and-try innovation</a:t>
            </a:r>
            <a:endParaRPr b="0" lang="en-U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CustomShape 1"/>
          <p:cNvSpPr/>
          <p:nvPr/>
        </p:nvSpPr>
        <p:spPr>
          <a:xfrm>
            <a:off x="504000" y="226080"/>
            <a:ext cx="9068400" cy="94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Recent AI Events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39" name="CustomShape 2"/>
          <p:cNvSpPr/>
          <p:nvPr/>
        </p:nvSpPr>
        <p:spPr>
          <a:xfrm>
            <a:off x="504000" y="1326600"/>
            <a:ext cx="9068400" cy="32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13000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Nobel Prizes 2024</a:t>
            </a:r>
            <a:endParaRPr b="0" lang="en-US" sz="40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Physics to John Hopfield and Geoffrey Hinton</a:t>
            </a:r>
            <a:endParaRPr b="0" lang="en-US" sz="40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Chemistry to the developers of AlphaFold</a:t>
            </a:r>
            <a:endParaRPr b="0" lang="en-US" sz="40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Improved LLM Architectures</a:t>
            </a:r>
            <a:endParaRPr b="0" lang="en-US" sz="40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MoE – “Mixture of Experts”</a:t>
            </a:r>
            <a:endParaRPr b="0" lang="en-US" sz="40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CoT – “Chain of Thought” – LLMs that reason</a:t>
            </a:r>
            <a:endParaRPr b="0" lang="en-US" sz="40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DeepSeek</a:t>
            </a:r>
            <a:endParaRPr b="0" lang="en-US" sz="40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Chinese innovators demonstrate much more efficient use of computation</a:t>
            </a:r>
            <a:endParaRPr b="0" lang="en-US" sz="40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Anthropic’s Claude Code</a:t>
            </a:r>
            <a:endParaRPr b="0" lang="en-US" sz="40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As of May 2026, highly able at coding and other tasks, and getting better.</a:t>
            </a:r>
            <a:endParaRPr b="0" lang="en-US" sz="40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4000" spc="-1" strike="noStrike">
                <a:solidFill>
                  <a:srgbClr val="000000"/>
                </a:solidFill>
                <a:latin typeface="Arial"/>
                <a:ea typeface="DejaVu Sans"/>
              </a:rPr>
              <a:t>Shows further major improvements; more are still coming</a:t>
            </a:r>
            <a:endParaRPr b="0" lang="en-US" sz="4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CustomShape 1"/>
          <p:cNvSpPr/>
          <p:nvPr/>
        </p:nvSpPr>
        <p:spPr>
          <a:xfrm>
            <a:off x="504000" y="226080"/>
            <a:ext cx="9068400" cy="94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AI Events: late 2020s (?)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41" name="CustomShape 2"/>
          <p:cNvSpPr/>
          <p:nvPr/>
        </p:nvSpPr>
        <p:spPr>
          <a:xfrm>
            <a:off x="504000" y="1326600"/>
            <a:ext cx="9068400" cy="32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31000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Automation of white collar work</a:t>
            </a:r>
            <a:endParaRPr b="0" lang="en-US" sz="32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Writing, coding, art, music, law, healthcare, customer service, translation, entertainment, etc.</a:t>
            </a:r>
            <a:endParaRPr b="0" lang="en-US" sz="28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Claude Code is like a competent, knowledgeable, very fast junior engineer.</a:t>
            </a:r>
            <a:endParaRPr b="0" lang="en-US" sz="28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May increase productivity of experienced professionals by 5x</a:t>
            </a:r>
            <a:endParaRPr b="0" lang="en-US" sz="28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Physical AI</a:t>
            </a:r>
            <a:endParaRPr b="0" lang="en-US" sz="32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AI with vision, movement, hearing</a:t>
            </a:r>
            <a:endParaRPr b="0" lang="en-US" sz="28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Robotics, drones, self-driving cars, manufacturing, construction, etc.</a:t>
            </a:r>
            <a:endParaRPr b="0" lang="en-US" sz="28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Much investment going into this; blue-collar labor is not necessarily safe from AI.</a:t>
            </a:r>
            <a:endParaRPr b="0" lang="en-US" sz="28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Scientific advances using AI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CustomShape 1"/>
          <p:cNvSpPr/>
          <p:nvPr/>
        </p:nvSpPr>
        <p:spPr>
          <a:xfrm>
            <a:off x="504000" y="226080"/>
            <a:ext cx="9068760" cy="94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Near Term Issues to Consider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43" name="CustomShape 2"/>
          <p:cNvSpPr/>
          <p:nvPr/>
        </p:nvSpPr>
        <p:spPr>
          <a:xfrm>
            <a:off x="504000" y="1326600"/>
            <a:ext cx="9068760" cy="32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37000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Legal questions of copyright and liability</a:t>
            </a:r>
            <a:endParaRPr b="0" lang="en-US" sz="32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“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Alignment” of AI with human values</a:t>
            </a:r>
            <a:endParaRPr b="0" lang="en-US" sz="32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AI replaces professional beginners creating “apprentice gap”</a:t>
            </a:r>
            <a:endParaRPr b="0" lang="en-US" sz="32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Technological unemployment</a:t>
            </a:r>
            <a:endParaRPr b="0" lang="en-US" sz="32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Not like going from farm to factory to simple white-collar work</a:t>
            </a:r>
            <a:endParaRPr b="0" lang="en-US" sz="28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UBI might provide subsistence, but doesn’t provide purpose</a:t>
            </a:r>
            <a:endParaRPr b="0" lang="en-US" sz="28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Which nation will lead, US or China? – Manhattan project of the 2020s</a:t>
            </a:r>
            <a:endParaRPr b="0" lang="en-US" sz="28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Possible threats to digital security</a:t>
            </a:r>
            <a:endParaRPr b="0" lang="en-U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CustomShape 1"/>
          <p:cNvSpPr/>
          <p:nvPr/>
        </p:nvSpPr>
        <p:spPr>
          <a:xfrm>
            <a:off x="504000" y="226080"/>
            <a:ext cx="9068760" cy="9428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Advice to Students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45" name="CustomShape 2"/>
          <p:cNvSpPr/>
          <p:nvPr/>
        </p:nvSpPr>
        <p:spPr>
          <a:xfrm>
            <a:off x="504000" y="1326600"/>
            <a:ext cx="9068760" cy="3285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40000"/>
          </a:bodyPr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Learn to create without AI first</a:t>
            </a:r>
            <a:endParaRPr b="0" lang="en-US" sz="32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Can’t be in charge if you are dependent</a:t>
            </a:r>
            <a:endParaRPr b="0" lang="en-US" sz="28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Gets you closer to content.  Do your own code/calculations</a:t>
            </a:r>
            <a:endParaRPr b="0" lang="en-US" sz="2800" spc="-1" strike="noStrike">
              <a:latin typeface="Arial"/>
            </a:endParaRPr>
          </a:p>
          <a:p>
            <a:pPr marL="432000" indent="-320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Then, create using AI</a:t>
            </a:r>
            <a:endParaRPr b="0" lang="en-US" sz="32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Leverage AI to create more than you can alone</a:t>
            </a:r>
            <a:endParaRPr b="0" lang="en-US" sz="28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Use AI as “cointelligence” partner from whom you can learn as well</a:t>
            </a:r>
            <a:endParaRPr b="0" lang="en-US" sz="2800" spc="-1" strike="noStrike">
              <a:latin typeface="Arial"/>
            </a:endParaRPr>
          </a:p>
          <a:p>
            <a:pPr lvl="1" marL="864000" indent="-320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Always question/challenge the AI; don’t take output at face value</a:t>
            </a:r>
            <a:endParaRPr b="0" lang="en-US" sz="2800" spc="-1" strike="noStrike">
              <a:latin typeface="Arial"/>
            </a:endParaRPr>
          </a:p>
          <a:p>
            <a:pPr lvl="3" marL="864000" indent="-21564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“</a:t>
            </a: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Any good LLM session includes you correcting the LLM”</a:t>
            </a:r>
            <a:endParaRPr b="0" lang="en-U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CustomShape 1"/>
          <p:cNvSpPr/>
          <p:nvPr/>
        </p:nvSpPr>
        <p:spPr>
          <a:xfrm>
            <a:off x="504000" y="226080"/>
            <a:ext cx="9069120" cy="9432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AI Future – Where is it heading?</a:t>
            </a: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	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47" name="CustomShape 2"/>
          <p:cNvSpPr/>
          <p:nvPr/>
        </p:nvSpPr>
        <p:spPr>
          <a:xfrm>
            <a:off x="504000" y="1323720"/>
            <a:ext cx="9069120" cy="32853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 fontScale="46000"/>
          </a:bodyPr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“… </a:t>
            </a: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heavier than air flying machines are impossible”</a:t>
            </a:r>
            <a:endParaRPr b="0" lang="en-US" sz="3200" spc="-1" strike="noStrike">
              <a:latin typeface="Arial"/>
            </a:endParaRPr>
          </a:p>
          <a:p>
            <a:pPr lvl="1" marL="864000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Lord Kelvin, 1895</a:t>
            </a:r>
            <a:endParaRPr b="0" lang="en-US" sz="2800" spc="-1" strike="noStrike"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Alchemistic Empiricism</a:t>
            </a:r>
            <a:endParaRPr b="0" lang="en-US" sz="3200" spc="-1" strike="noStrike">
              <a:latin typeface="Arial"/>
            </a:endParaRPr>
          </a:p>
          <a:p>
            <a:pPr lvl="1" marL="864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Analogy of Chemistry in 1825</a:t>
            </a:r>
            <a:endParaRPr b="0" lang="en-US" sz="3200" spc="-1" strike="noStrike">
              <a:latin typeface="Arial"/>
            </a:endParaRPr>
          </a:p>
          <a:p>
            <a:pPr lvl="1" marL="864000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Results in fits and starts as we try things out by guess-and-by-golly</a:t>
            </a:r>
            <a:endParaRPr b="0" lang="en-US" sz="2800" spc="-1" strike="noStrike">
              <a:latin typeface="Arial"/>
            </a:endParaRPr>
          </a:p>
          <a:p>
            <a:pPr marL="432000" indent="-32076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Start with Nature, End with Design</a:t>
            </a:r>
            <a:endParaRPr b="0" lang="en-US" sz="3200" spc="-1" strike="noStrike">
              <a:latin typeface="Arial"/>
            </a:endParaRPr>
          </a:p>
          <a:p>
            <a:pPr lvl="1" marL="864000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Planes vs birds</a:t>
            </a:r>
            <a:endParaRPr b="0" lang="en-US" sz="2800" spc="-1" strike="noStrike">
              <a:latin typeface="Arial"/>
            </a:endParaRPr>
          </a:p>
          <a:p>
            <a:pPr lvl="1" marL="864000" indent="-32076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DejaVu Sans"/>
              </a:rPr>
              <a:t>Deep Learning vs brains : Geoff Hinton’s warning</a:t>
            </a:r>
            <a:endParaRPr b="0" lang="en-US" sz="2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extShape 1"/>
          <p:cNvSpPr txBox="1"/>
          <p:nvPr/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AI in 2030s (?)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49" name="TextShape 2"/>
          <p:cNvSpPr txBox="1"/>
          <p:nvPr/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>
            <a:normAutofit fontScale="23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S-curves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Aerospace example, and two prior “winters” in neural networks</a:t>
            </a:r>
            <a:endParaRPr b="0" lang="en-US" sz="28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Option A: current S-curve plateaus in 1-2 years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Some experts expect this (Ilya Sutskever)</a:t>
            </a:r>
            <a:endParaRPr b="0" lang="en-US" sz="28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Option B: plateau later, reaching AGI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Unprecedented investment and research community; improvements continue</a:t>
            </a:r>
            <a:endParaRPr b="0" lang="en-US" sz="28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Option C: advances to self-improving loop – “singularity”</a:t>
            </a:r>
            <a:endParaRPr b="0" lang="en-US" sz="32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Which one – depends on who you listen to.  </a:t>
            </a:r>
            <a:r>
              <a:rPr b="0" i="1" lang="en-US" sz="3200" spc="-1" strike="noStrike">
                <a:latin typeface="Arial"/>
              </a:rPr>
              <a:t>No Theory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Two years ago A:70% B:20%; C:10%</a:t>
            </a:r>
            <a:endParaRPr b="0" lang="en-US" sz="28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Now A:20% B:60%; C:20%</a:t>
            </a:r>
            <a:endParaRPr b="0" lang="en-US" sz="2800" spc="-1" strike="noStrike"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Underlying math has huge potential for fourth S-curve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CustomShape 1"/>
          <p:cNvSpPr/>
          <p:nvPr/>
        </p:nvSpPr>
        <p:spPr>
          <a:xfrm>
            <a:off x="504000" y="226080"/>
            <a:ext cx="9065880" cy="940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  <a:ea typeface="DejaVu Sans"/>
              </a:rPr>
              <a:t>Long Term Questions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351" name="CustomShape 2"/>
          <p:cNvSpPr/>
          <p:nvPr/>
        </p:nvSpPr>
        <p:spPr>
          <a:xfrm>
            <a:off x="457200" y="1326600"/>
            <a:ext cx="9065880" cy="38797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>
            <a:normAutofit/>
          </a:bodyPr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What can AI teach us about the nature of thought and intelligence? </a:t>
            </a:r>
            <a:endParaRPr b="0" lang="en-US" sz="32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What if it becomes more intelligent than us?</a:t>
            </a:r>
            <a:endParaRPr b="0" lang="en-US" sz="32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Hard Problem of Consciousness</a:t>
            </a:r>
            <a:endParaRPr b="0" lang="en-US" sz="32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AI as “moral patient”?</a:t>
            </a:r>
            <a:endParaRPr b="0" lang="en-US" sz="3200" spc="-1" strike="noStrike">
              <a:latin typeface="Arial"/>
            </a:endParaRPr>
          </a:p>
          <a:p>
            <a:pPr marL="432000" indent="-31824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DejaVu Sans"/>
              </a:rPr>
              <a:t>Use of AI to extend human intelligence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7706</TotalTime>
  <Application>LibreOffice/6.3.5.2$Windows_X86_64 LibreOffice_project/dd0751754f11728f69b42ee2af66670068624673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2017-10-20T23:41:18Z</dcterms:created>
  <dc:creator/>
  <dc:description/>
  <dc:language>en-US</dc:language>
  <cp:lastModifiedBy/>
  <cp:lastPrinted>2023-04-17T14:15:08Z</cp:lastPrinted>
  <dcterms:modified xsi:type="dcterms:W3CDTF">2026-05-30T07:32:47Z</dcterms:modified>
  <cp:revision>69</cp:revision>
  <dc:subject/>
  <dc:title/>
</cp:coreProperties>
</file>