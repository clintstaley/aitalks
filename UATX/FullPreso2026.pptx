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presentation.xml" ContentType="application/vnd.openxmlformats-officedocument.presentationml.presentation.main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61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73.xml" ContentType="application/vnd.openxmlformats-officedocument.presentationml.slideMaster+xml"/>
  <Override PartName="/ppt/slideMasters/slideMaster49.xml" ContentType="application/vnd.openxmlformats-officedocument.presentationml.slideMaster+xml"/>
  <Override PartName="/ppt/slideMasters/slideMaster85.xml" ContentType="application/vnd.openxmlformats-officedocument.presentationml.slideMaster+xml"/>
  <Override PartName="/ppt/slideMasters/slideMaster97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presProps.xml" ContentType="application/vnd.openxmlformats-officedocument.presentationml.presProps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2" r:id="rId3"/>
    <p:sldMasterId id="2147483675" r:id="rId4"/>
    <p:sldMasterId id="2147483688" r:id="rId5"/>
    <p:sldMasterId id="2147483701" r:id="rId6"/>
    <p:sldMasterId id="2147483714" r:id="rId7"/>
    <p:sldMasterId id="2147483727" r:id="rId8"/>
    <p:sldMasterId id="2147483740" r:id="rId9"/>
    <p:sldMasterId id="2147483753" r:id="rId10"/>
  </p:sld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37.xml"/><Relationship Id="rId6" Type="http://schemas.openxmlformats.org/officeDocument/2006/relationships/slideMaster" Target="slideMasters/slideMaster49.xml"/><Relationship Id="rId7" Type="http://schemas.openxmlformats.org/officeDocument/2006/relationships/slideMaster" Target="slideMasters/slideMaster61.xml"/><Relationship Id="rId8" Type="http://schemas.openxmlformats.org/officeDocument/2006/relationships/slideMaster" Target="slideMasters/slideMaster73.xml"/><Relationship Id="rId9" Type="http://schemas.openxmlformats.org/officeDocument/2006/relationships/slideMaster" Target="slideMasters/slideMaster85.xml"/><Relationship Id="rId10" Type="http://schemas.openxmlformats.org/officeDocument/2006/relationships/slideMaster" Target="slideMasters/slideMaster97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3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3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3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3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3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3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3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3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3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3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3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3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5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5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5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5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5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5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5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5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5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5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5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5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Default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Default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Default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Default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Default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Default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56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560" cy="156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5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2.xml"/><Relationship Id="rId9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36.xml"/><Relationship Id="rId13" Type="http://schemas.openxmlformats.org/officeDocument/2006/relationships/slideLayout" Target="../slideLayouts/slideLayout37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9.xml"/><Relationship Id="rId4" Type="http://schemas.openxmlformats.org/officeDocument/2006/relationships/slideLayout" Target="../slideLayouts/slideLayout40.xml"/><Relationship Id="rId5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2.xml"/><Relationship Id="rId7" Type="http://schemas.openxmlformats.org/officeDocument/2006/relationships/slideLayout" Target="../slideLayouts/slideLayout43.xml"/><Relationship Id="rId8" Type="http://schemas.openxmlformats.org/officeDocument/2006/relationships/slideLayout" Target="../slideLayouts/slideLayout44.xml"/><Relationship Id="rId9" Type="http://schemas.openxmlformats.org/officeDocument/2006/relationships/slideLayout" Target="../slideLayouts/slideLayout45.xml"/><Relationship Id="rId10" Type="http://schemas.openxmlformats.org/officeDocument/2006/relationships/slideLayout" Target="../slideLayouts/slideLayout46.xml"/><Relationship Id="rId11" Type="http://schemas.openxmlformats.org/officeDocument/2006/relationships/slideLayout" Target="../slideLayouts/slideLayout47.xml"/><Relationship Id="rId12" Type="http://schemas.openxmlformats.org/officeDocument/2006/relationships/slideLayout" Target="../slideLayouts/slideLayout48.xml"/><Relationship Id="rId13" Type="http://schemas.openxmlformats.org/officeDocument/2006/relationships/slideLayout" Target="../slideLayouts/slideLayout49.xml"/>
</Relationships>
</file>

<file path=ppt/slideMasters/_rels/slideMaster49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5.xml"/><Relationship Id="rId8" Type="http://schemas.openxmlformats.org/officeDocument/2006/relationships/slideLayout" Target="../slideLayouts/slideLayout56.xml"/><Relationship Id="rId9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59.xml"/><Relationship Id="rId12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1.xml"/>
</Relationships>
</file>

<file path=ppt/slideMasters/_rels/slideMaster61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2.xml"/><Relationship Id="rId3" Type="http://schemas.openxmlformats.org/officeDocument/2006/relationships/slideLayout" Target="../slideLayouts/slideLayout63.xml"/><Relationship Id="rId4" Type="http://schemas.openxmlformats.org/officeDocument/2006/relationships/slideLayout" Target="../slideLayouts/slideLayout64.xml"/><Relationship Id="rId5" Type="http://schemas.openxmlformats.org/officeDocument/2006/relationships/slideLayout" Target="../slideLayouts/slideLayout65.xml"/><Relationship Id="rId6" Type="http://schemas.openxmlformats.org/officeDocument/2006/relationships/slideLayout" Target="../slideLayouts/slideLayout66.xml"/><Relationship Id="rId7" Type="http://schemas.openxmlformats.org/officeDocument/2006/relationships/slideLayout" Target="../slideLayouts/slideLayout67.xml"/><Relationship Id="rId8" Type="http://schemas.openxmlformats.org/officeDocument/2006/relationships/slideLayout" Target="../slideLayouts/slideLayout68.xml"/><Relationship Id="rId9" Type="http://schemas.openxmlformats.org/officeDocument/2006/relationships/slideLayout" Target="../slideLayouts/slideLayout69.xml"/><Relationship Id="rId10" Type="http://schemas.openxmlformats.org/officeDocument/2006/relationships/slideLayout" Target="../slideLayouts/slideLayout70.xml"/><Relationship Id="rId11" Type="http://schemas.openxmlformats.org/officeDocument/2006/relationships/slideLayout" Target="../slideLayouts/slideLayout71.xml"/><Relationship Id="rId12" Type="http://schemas.openxmlformats.org/officeDocument/2006/relationships/slideLayout" Target="../slideLayouts/slideLayout72.xml"/><Relationship Id="rId13" Type="http://schemas.openxmlformats.org/officeDocument/2006/relationships/slideLayout" Target="../slideLayouts/slideLayout73.xml"/>
</Relationships>
</file>

<file path=ppt/slideMasters/_rels/slideMaster73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4.xml"/><Relationship Id="rId3" Type="http://schemas.openxmlformats.org/officeDocument/2006/relationships/slideLayout" Target="../slideLayouts/slideLayout75.xml"/><Relationship Id="rId4" Type="http://schemas.openxmlformats.org/officeDocument/2006/relationships/slideLayout" Target="../slideLayouts/slideLayout76.xml"/><Relationship Id="rId5" Type="http://schemas.openxmlformats.org/officeDocument/2006/relationships/slideLayout" Target="../slideLayouts/slideLayout77.xml"/><Relationship Id="rId6" Type="http://schemas.openxmlformats.org/officeDocument/2006/relationships/slideLayout" Target="../slideLayouts/slideLayout78.xml"/><Relationship Id="rId7" Type="http://schemas.openxmlformats.org/officeDocument/2006/relationships/slideLayout" Target="../slideLayouts/slideLayout79.xml"/><Relationship Id="rId8" Type="http://schemas.openxmlformats.org/officeDocument/2006/relationships/slideLayout" Target="../slideLayouts/slideLayout80.xml"/><Relationship Id="rId9" Type="http://schemas.openxmlformats.org/officeDocument/2006/relationships/slideLayout" Target="../slideLayouts/slideLayout81.xml"/><Relationship Id="rId10" Type="http://schemas.openxmlformats.org/officeDocument/2006/relationships/slideLayout" Target="../slideLayouts/slideLayout82.xml"/><Relationship Id="rId11" Type="http://schemas.openxmlformats.org/officeDocument/2006/relationships/slideLayout" Target="../slideLayouts/slideLayout83.xml"/><Relationship Id="rId12" Type="http://schemas.openxmlformats.org/officeDocument/2006/relationships/slideLayout" Target="../slideLayouts/slideLayout84.xml"/><Relationship Id="rId13" Type="http://schemas.openxmlformats.org/officeDocument/2006/relationships/slideLayout" Target="../slideLayouts/slideLayout85.xml"/>
</Relationships>
</file>

<file path=ppt/slideMasters/_rels/slideMaster85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6.xml"/><Relationship Id="rId3" Type="http://schemas.openxmlformats.org/officeDocument/2006/relationships/slideLayout" Target="../slideLayouts/slideLayout87.xml"/><Relationship Id="rId4" Type="http://schemas.openxmlformats.org/officeDocument/2006/relationships/slideLayout" Target="../slideLayouts/slideLayout88.xml"/><Relationship Id="rId5" Type="http://schemas.openxmlformats.org/officeDocument/2006/relationships/slideLayout" Target="../slideLayouts/slideLayout89.xml"/><Relationship Id="rId6" Type="http://schemas.openxmlformats.org/officeDocument/2006/relationships/slideLayout" Target="../slideLayouts/slideLayout90.xml"/><Relationship Id="rId7" Type="http://schemas.openxmlformats.org/officeDocument/2006/relationships/slideLayout" Target="../slideLayouts/slideLayout91.xml"/><Relationship Id="rId8" Type="http://schemas.openxmlformats.org/officeDocument/2006/relationships/slideLayout" Target="../slideLayouts/slideLayout92.xml"/><Relationship Id="rId9" Type="http://schemas.openxmlformats.org/officeDocument/2006/relationships/slideLayout" Target="../slideLayouts/slideLayout93.xml"/><Relationship Id="rId10" Type="http://schemas.openxmlformats.org/officeDocument/2006/relationships/slideLayout" Target="../slideLayouts/slideLayout94.xml"/><Relationship Id="rId11" Type="http://schemas.openxmlformats.org/officeDocument/2006/relationships/slideLayout" Target="../slideLayouts/slideLayout95.xml"/><Relationship Id="rId12" Type="http://schemas.openxmlformats.org/officeDocument/2006/relationships/slideLayout" Target="../slideLayouts/slideLayout96.xml"/><Relationship Id="rId13" Type="http://schemas.openxmlformats.org/officeDocument/2006/relationships/slideLayout" Target="../slideLayouts/slideLayout97.xml"/>
</Relationships>
</file>

<file path=ppt/slideMasters/_rels/slideMaster97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</p:sldLayoutIdLst>
</p:sldMaster>
</file>

<file path=ppt/slideMasters/slideMaster4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  <p:sldLayoutId id="2147483713" r:id="rId13"/>
  </p:sldLayoutIdLst>
</p:sldMaster>
</file>

<file path=ppt/slideMasters/slideMaster6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  <p:sldLayoutId id="2147483725" r:id="rId12"/>
    <p:sldLayoutId id="2147483726" r:id="rId13"/>
  </p:sldLayoutIdLst>
</p:sldMaster>
</file>

<file path=ppt/slideMasters/slideMaster7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</p:sldLayoutIdLst>
</p:sldMaster>
</file>

<file path=ppt/slideMasters/slideMaster8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41" r:id="rId2"/>
    <p:sldLayoutId id="2147483742" r:id="rId3"/>
    <p:sldLayoutId id="2147483743" r:id="rId4"/>
    <p:sldLayoutId id="2147483744" r:id="rId5"/>
    <p:sldLayoutId id="2147483745" r:id="rId6"/>
    <p:sldLayoutId id="2147483746" r:id="rId7"/>
    <p:sldLayoutId id="2147483747" r:id="rId8"/>
    <p:sldLayoutId id="2147483748" r:id="rId9"/>
    <p:sldLayoutId id="2147483749" r:id="rId10"/>
    <p:sldLayoutId id="2147483750" r:id="rId11"/>
    <p:sldLayoutId id="2147483751" r:id="rId12"/>
    <p:sldLayoutId id="2147483752" r:id="rId13"/>
  </p:sldLayoutIdLst>
</p:sldMaster>
</file>

<file path=ppt/slideMasters/slideMaster9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4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66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8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8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8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0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0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8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8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8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8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0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0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CustomShape 1"/>
          <p:cNvSpPr/>
          <p:nvPr/>
        </p:nvSpPr>
        <p:spPr>
          <a:xfrm>
            <a:off x="731520" y="2088360"/>
            <a:ext cx="90640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Technology and Philosophy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of Artificial Intelligence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Dr. Clint Staley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Dean of STEM, UATX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CSC Professor Emeritus, Cal Poly SLO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CustomShape 2"/>
          <p:cNvSpPr/>
          <p:nvPr/>
        </p:nvSpPr>
        <p:spPr>
          <a:xfrm>
            <a:off x="4206240" y="2768400"/>
            <a:ext cx="1639800" cy="39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“AI” Universe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504000" y="1172520"/>
            <a:ext cx="9325800" cy="431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-324000" algn="l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Artificial Intelligence – stuff we thought only humans could do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Symbolic AI – Old-school approach to AI, hand crafted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Machine Learning – Modern approach; machines learn from examples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Classic ML – random forests, linear/logistic regression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Deep learning – what used to be “neural networks”, but much deeper with added elements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Large Language Models (LLMs) – ChatGPT, Claude, Gemini, etc.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Other Deep Learning – Diffusion models, ViTs, CNNs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Generative AI – AI to create, not just analyze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"/>
          <p:cNvPicPr/>
          <p:nvPr/>
        </p:nvPicPr>
        <p:blipFill>
          <a:blip r:embed="rId1"/>
          <a:stretch/>
        </p:blipFill>
        <p:spPr>
          <a:xfrm>
            <a:off x="1769040" y="8280"/>
            <a:ext cx="6590880" cy="56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CustomShape 1"/>
          <p:cNvSpPr/>
          <p:nvPr/>
        </p:nvSpPr>
        <p:spPr>
          <a:xfrm>
            <a:off x="504000" y="226080"/>
            <a:ext cx="906804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Common Large Language Model (LLM) Uses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CustomShape 2"/>
          <p:cNvSpPr/>
          <p:nvPr/>
        </p:nvSpPr>
        <p:spPr>
          <a:xfrm>
            <a:off x="504000" y="1326600"/>
            <a:ext cx="9068040" cy="32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Comprehensive web search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Summarizing and analyzing documents 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Generating or editing prose 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Tutorial discussions 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Brainstorming and recommendations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34"/>
              </a:spcBef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CustomShape 1"/>
          <p:cNvSpPr/>
          <p:nvPr/>
        </p:nvSpPr>
        <p:spPr>
          <a:xfrm>
            <a:off x="504000" y="226080"/>
            <a:ext cx="9069840" cy="94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LLM Use Basics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CustomShape 2"/>
          <p:cNvSpPr/>
          <p:nvPr/>
        </p:nvSpPr>
        <p:spPr>
          <a:xfrm>
            <a:off x="504000" y="1326600"/>
            <a:ext cx="9069840" cy="40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77500" lnSpcReduction="19999"/>
          </a:bodyPr>
          <a:p>
            <a:pPr marL="432000" indent="-3222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It’s all about the prompt(s)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2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More than a question.  Can include information, like documents, photos, etc.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2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LLM “knows” info only at the time of training.  Prompt gives current details.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2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Not just one prompt – engage in conversation.  Entire conversation is “input” for each chat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2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Depth of remembered conversation varies by LLM – 2,000 words to 1 million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22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LLM’s “hallucinate”, often very confidently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2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Check critical facts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2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600" b="1" i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Any serious LLM session includes successfully correcting the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LLM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CustomShape 1"/>
          <p:cNvSpPr/>
          <p:nvPr/>
        </p:nvSpPr>
        <p:spPr>
          <a:xfrm>
            <a:off x="503640" y="477720"/>
            <a:ext cx="9064080" cy="93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Deeper</a:t>
            </a: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Capabilities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CustomShape 2"/>
          <p:cNvSpPr/>
          <p:nvPr/>
        </p:nvSpPr>
        <p:spPr>
          <a:xfrm>
            <a:off x="503640" y="1326240"/>
            <a:ext cx="9064080" cy="328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55000" lnSpcReduction="19999"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More than a glorified Wikipedia.  Examples: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Write and Revise a Story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Understands the context of the story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Summarizes; changes style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Analyzing humorous images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Multimodal: understands images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Understands subtle context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Help with AI Diagram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Discussion on Bayesian Analysis and Markov Chain Monte Carlo (MCMC)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Example: Theory of Mind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CustomShape 1"/>
          <p:cNvSpPr/>
          <p:nvPr/>
        </p:nvSpPr>
        <p:spPr>
          <a:xfrm>
            <a:off x="504000" y="226080"/>
            <a:ext cx="906840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Other (non LLM) DL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CustomShape 2"/>
          <p:cNvSpPr/>
          <p:nvPr/>
        </p:nvSpPr>
        <p:spPr>
          <a:xfrm>
            <a:off x="504000" y="1326600"/>
            <a:ext cx="9068400" cy="32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9999"/>
          </a:bodyPr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Same principles of training and numerical patterns, but different designs and purposes.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Computer Vision: face recognition, object tracking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“Physical” or “Embedded” AI: robots, automated drones, self-driving cars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Reinforcement Learning (RL)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56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Symbol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Self-instructing.  Requires automatically generable feedback.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56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Symbol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Examples: Alpha Go,  code-writing agents, physical AI (via simulation)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Graph Neural Networks: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56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Symbol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AlphaFold – analyzes connection patterns, e.g. chemical compounds, protein fold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CustomShape 1"/>
          <p:cNvSpPr/>
          <p:nvPr/>
        </p:nvSpPr>
        <p:spPr>
          <a:xfrm>
            <a:off x="504000" y="226080"/>
            <a:ext cx="9070200" cy="94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Example Uses – Other DL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CustomShape 2"/>
          <p:cNvSpPr/>
          <p:nvPr/>
        </p:nvSpPr>
        <p:spPr>
          <a:xfrm>
            <a:off x="504000" y="1326600"/>
            <a:ext cx="9070200" cy="328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70000" lnSpcReduction="19999"/>
          </a:bodyPr>
          <a:p>
            <a:pPr marL="432000" indent="-32256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Artistic creativity – funny image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25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“Diffusion model”, e.g. DALL-E, Sora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25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Photos, short movie clips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25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May need feedback and adjustment, and may hallucinate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25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Term “hallucination” originates with this type of AI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256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Generate audio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25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Voice or music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25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Note that this means voices are not representative e.g. on phone calls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CustomShape 1"/>
          <p:cNvSpPr/>
          <p:nvPr/>
        </p:nvSpPr>
        <p:spPr>
          <a:xfrm>
            <a:off x="503640" y="182520"/>
            <a:ext cx="9064080" cy="93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An LLM Is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CustomShape 2"/>
          <p:cNvSpPr/>
          <p:nvPr/>
        </p:nvSpPr>
        <p:spPr>
          <a:xfrm>
            <a:off x="503640" y="1096920"/>
            <a:ext cx="9064080" cy="351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77500" lnSpcReduction="19999"/>
          </a:bodyPr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An improved search engine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 able to web-search when useful, but…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… can work unplugged from the internet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Hand-crafted code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 programming specific to the questions/answers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Could be written in one page of code – 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12 equations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 whole modern AI story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Important other areas are making major advances too, e.g. reinforcement learning, computer vision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CustomShape 1"/>
          <p:cNvSpPr/>
          <p:nvPr/>
        </p:nvSpPr>
        <p:spPr>
          <a:xfrm>
            <a:off x="503640" y="225720"/>
            <a:ext cx="9064080" cy="93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An LLM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CustomShape 2"/>
          <p:cNvSpPr/>
          <p:nvPr/>
        </p:nvSpPr>
        <p:spPr>
          <a:xfrm>
            <a:off x="503640" y="1326240"/>
            <a:ext cx="9064080" cy="328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62500" lnSpcReduction="19999"/>
          </a:bodyPr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 sophisticated mathematical engine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12 equations, but on “matrices” – huge grids of numbers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From 10 billion to over 1 trillion numbers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 “intelligence” is in those numbers (aka weights or parameters)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Self-organizing!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 weights are “trained” by incremental adjustment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0" lvl="4" indent="-2134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First, to match known texts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0" lvl="4" indent="-2134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Then to adjust to human feedback given by RLHF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Humans design the training process and the equations, but not the weights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CustomShape 1"/>
          <p:cNvSpPr/>
          <p:nvPr/>
        </p:nvSpPr>
        <p:spPr>
          <a:xfrm>
            <a:off x="504000" y="82080"/>
            <a:ext cx="9065520" cy="94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Word/Idea “Embedding”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4" name=""/>
          <p:cNvPicPr/>
          <p:nvPr/>
        </p:nvPicPr>
        <p:blipFill>
          <a:blip r:embed="rId1"/>
          <a:stretch/>
        </p:blipFill>
        <p:spPr>
          <a:xfrm>
            <a:off x="91440" y="909000"/>
            <a:ext cx="9871200" cy="2837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5" name="CustomShape 2"/>
          <p:cNvSpPr/>
          <p:nvPr/>
        </p:nvSpPr>
        <p:spPr>
          <a:xfrm>
            <a:off x="526320" y="3987360"/>
            <a:ext cx="9067320" cy="19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16000" indent="-21204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This is how an LLM represents words, phrases and ideas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204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Dimensions represent meaning, and also word position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204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But, with 12,800 numbers per word – many conceptual dimensions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CustomShape 1"/>
          <p:cNvSpPr/>
          <p:nvPr/>
        </p:nvSpPr>
        <p:spPr>
          <a:xfrm>
            <a:off x="504000" y="226080"/>
            <a:ext cx="9065520" cy="94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How An LLM “Thinks”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CustomShape 2"/>
          <p:cNvSpPr/>
          <p:nvPr/>
        </p:nvSpPr>
        <p:spPr>
          <a:xfrm>
            <a:off x="504000" y="1326600"/>
            <a:ext cx="9065520" cy="328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9999"/>
          </a:bodyPr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Starts with word embeddings representing words in your prompt and the current conversation.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Combines words via “attention blocks” into higher embeddings representing phrases, then sentences, etc.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Predicts next “thought” as an embedding and chooses closest next word.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Repeat, word by word...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CustomShape 1"/>
          <p:cNvSpPr/>
          <p:nvPr/>
        </p:nvSpPr>
        <p:spPr>
          <a:xfrm>
            <a:off x="504000" y="226080"/>
            <a:ext cx="9065520" cy="94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 Weights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are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the “Intelligence”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CustomShape 2"/>
          <p:cNvSpPr/>
          <p:nvPr/>
        </p:nvSpPr>
        <p:spPr>
          <a:xfrm>
            <a:off x="504000" y="1326600"/>
            <a:ext cx="9065520" cy="328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All “reasoning” is by word/concept embeddings.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And we (mostly) </a:t>
            </a:r>
            <a:r>
              <a:rPr lang="en-US" sz="28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don’t know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what each weight does.  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Could learn to converse in a language none of its programmers understand.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Are world-models, theory of mind, etc. spontaneously emerging from the training?  Latest research clearly says “yes”.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CustomShape 1"/>
          <p:cNvSpPr/>
          <p:nvPr/>
        </p:nvSpPr>
        <p:spPr>
          <a:xfrm>
            <a:off x="504000" y="226080"/>
            <a:ext cx="9065520" cy="94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 an LLM Intelligent?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CustomShape 2"/>
          <p:cNvSpPr/>
          <p:nvPr/>
        </p:nvSpPr>
        <p:spPr>
          <a:xfrm>
            <a:off x="457200" y="1254600"/>
            <a:ext cx="9065520" cy="404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77500" lnSpcReduction="19999"/>
          </a:bodyPr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“Yes” arguments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82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Vast possibilities in 1 trillion weights.  Printed out they’d be 4 million large books.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82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Research in “mechanistic interpretability” shows conceptual models spontaneously arise from training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82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(But, we still know only some of what those weights are doing, and “intelligent” doesn’t necessarily mean “conscious”)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“No” arguments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82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Just mindless numbers and 12 equations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82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Just predicting the next word.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82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(But, it’s improving </a:t>
            </a:r>
            <a:r>
              <a:rPr lang="en-US" sz="26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fast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, a human brain is just “mindless” neurons and synapses, and </a:t>
            </a:r>
            <a:r>
              <a:rPr lang="en-US" sz="26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how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is it picking that next word so intelligently?)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CustomShape 1"/>
          <p:cNvSpPr/>
          <p:nvPr/>
        </p:nvSpPr>
        <p:spPr>
          <a:xfrm>
            <a:off x="504000" y="226080"/>
            <a:ext cx="906840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AI History 1950s - 1960s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CustomShape 2"/>
          <p:cNvSpPr/>
          <p:nvPr/>
        </p:nvSpPr>
        <p:spPr>
          <a:xfrm>
            <a:off x="504000" y="1343520"/>
            <a:ext cx="5801760" cy="32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40000" lnSpcReduction="19999"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(1956) “Artificial Intelligence” first used as a term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(</a:t>
            </a: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1956) First good “theorem prover” –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symbolic AI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(1965) ELIZA basic “chatbot” in 200 lines of code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(1960s) Hopfield, Minsky and others do early work in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“neural networks”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(1967) Minsky: “Within a generation … the problem of creating artificial intelligence will substantially be solved.”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(1969) Minsky and Papert publish “Perceptrons”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Proves one-layer (all they knew how to train) neural networks very limited and  triggers first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“AI winter”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4" name=""/>
          <p:cNvPicPr/>
          <p:nvPr/>
        </p:nvPicPr>
        <p:blipFill>
          <a:blip r:embed="rId1"/>
          <a:stretch/>
        </p:blipFill>
        <p:spPr>
          <a:xfrm>
            <a:off x="6675480" y="1463040"/>
            <a:ext cx="2791080" cy="1987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CustomShape 1"/>
          <p:cNvSpPr/>
          <p:nvPr/>
        </p:nvSpPr>
        <p:spPr>
          <a:xfrm>
            <a:off x="504000" y="226080"/>
            <a:ext cx="906840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AI History 1970s-1990s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CustomShape 2"/>
          <p:cNvSpPr/>
          <p:nvPr/>
        </p:nvSpPr>
        <p:spPr>
          <a:xfrm>
            <a:off x="504000" y="1326600"/>
            <a:ext cx="9068400" cy="32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62500" lnSpcReduction="19999"/>
          </a:bodyPr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(1970) Seppo Linnainmaa quietly publishes “backpropagation” algorithm, solving the multilayer training problem.  </a:t>
            </a: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 one notices.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(1970s and 80s): Direct coding of logic in symbolic “expert systems”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Turns out to be limited and fragile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Vaunted “5</a:t>
            </a:r>
            <a:r>
              <a:rPr lang="en-US" sz="2800" b="0" u="none" strike="noStrike" baseline="3300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generation” computing fizzles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(1986) Backpropagation algorithm (re)discovered.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Neural nets are back.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But training networks &gt; 3 layers proves very hard.  (Modern AI takes hundreds.)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After brief burst of progress, a </a:t>
            </a: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“AI Winter”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CustomShape 1"/>
          <p:cNvSpPr/>
          <p:nvPr/>
        </p:nvSpPr>
        <p:spPr>
          <a:xfrm>
            <a:off x="504000" y="226080"/>
            <a:ext cx="906840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AI History 2012-2023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CustomShape 2"/>
          <p:cNvSpPr/>
          <p:nvPr/>
        </p:nvSpPr>
        <p:spPr>
          <a:xfrm>
            <a:off x="504000" y="1326600"/>
            <a:ext cx="9068400" cy="39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40000" lnSpcReduction="19999"/>
          </a:bodyPr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 important advances lay ground for new neural network growth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56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OpenSymbol"/>
              <a:buChar char="‒"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More available training data via internet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56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OpenSymbol"/>
              <a:buChar char="‒"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Computing power via GPUs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56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OpenSymbol"/>
              <a:buChar char="‒"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Better neural network design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activation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residual connections, normalization layers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better gradient descent algorithms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56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OpenSymbol"/>
              <a:buChar char="‒"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Vibrant and very intensive research community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(2012) Neural networks, now “deep learning networks” are back, again!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(2017) “Attention is all you Need” paper describes Transformers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(2020-2023) Steady LLM improvement arrives at GPT-3.5/GPT-4, and world attention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CustomShape 1"/>
          <p:cNvSpPr/>
          <p:nvPr/>
        </p:nvSpPr>
        <p:spPr>
          <a:xfrm>
            <a:off x="504000" y="226080"/>
            <a:ext cx="906876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AI History – Taking Stock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CustomShape 2"/>
          <p:cNvSpPr/>
          <p:nvPr/>
        </p:nvSpPr>
        <p:spPr>
          <a:xfrm>
            <a:off x="1097280" y="1097280"/>
            <a:ext cx="9068760" cy="32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marL="432000" indent="-32076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Early investigation of major ideas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7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Neural networks since 1960s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76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Alternating optimism and AI winters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76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Symbolic logic vs neural networks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7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 “bitter” (to some) lesson – can’t program AI directly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7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Need better theory – too much cut-and-try innovation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CustomShape 1"/>
          <p:cNvSpPr/>
          <p:nvPr/>
        </p:nvSpPr>
        <p:spPr>
          <a:xfrm>
            <a:off x="504000" y="226080"/>
            <a:ext cx="906804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Recent AI: Technical Events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CustomShape 2"/>
          <p:cNvSpPr/>
          <p:nvPr/>
        </p:nvSpPr>
        <p:spPr>
          <a:xfrm>
            <a:off x="504000" y="1326600"/>
            <a:ext cx="9068040" cy="39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47500" lnSpcReduction="19999"/>
          </a:bodyPr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Nobel Prizes 2024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Physics to John Hopfield and Geoffrey Hinton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Chemistry to the developers of AlphaFold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Improved LLM Architectures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MoE – “Mixture of Experts”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CoT – “Chain of Thought” – LLMs that reason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“Recursive self-improvement” on the horizon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Research inside the models finds real concepts and reasoning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Not “stochastic parrots”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Mathematical research as evidence of reasoning</a:t>
            </a: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	</a:t>
            </a: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	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Navier-Stokes; unit distance; Erdos problems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CustomShape 3"/>
          <p:cNvSpPr/>
          <p:nvPr/>
        </p:nvSpPr>
        <p:spPr>
          <a:xfrm>
            <a:off x="503640" y="182520"/>
            <a:ext cx="9063000" cy="93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Recent AI: Agents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CustomShape 4"/>
          <p:cNvSpPr/>
          <p:nvPr/>
        </p:nvSpPr>
        <p:spPr>
          <a:xfrm>
            <a:off x="503640" y="1096920"/>
            <a:ext cx="9063000" cy="350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19999"/>
          </a:bodyPr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LLM empowered to act, not just “talk”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System honors LLM requests for outside action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Access files and browse web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Alter local documents, code, databases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Access online stores, bank accounts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Used as personal “admin”, coder, purchasing agent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“Book my flights, and file the expense report”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CustomShape 18"/>
          <p:cNvSpPr/>
          <p:nvPr/>
        </p:nvSpPr>
        <p:spPr>
          <a:xfrm>
            <a:off x="503640" y="225720"/>
            <a:ext cx="9063000" cy="93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Recent AI: Professional Impacts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CustomShape 5"/>
          <p:cNvSpPr/>
          <p:nvPr/>
        </p:nvSpPr>
        <p:spPr>
          <a:xfrm>
            <a:off x="503640" y="1326240"/>
            <a:ext cx="9063000" cy="327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70000" lnSpcReduction="19999"/>
          </a:bodyPr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Coding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agents can now do 90-100% of direct coding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Customer service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Junior finance and legal jobs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“Apprentice Gap”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Good news: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Using AI effectively enhances professional ability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Individuals or small teams can do what once took dozens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CustomShape 1"/>
          <p:cNvSpPr/>
          <p:nvPr/>
        </p:nvSpPr>
        <p:spPr>
          <a:xfrm>
            <a:off x="504000" y="226080"/>
            <a:ext cx="906840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Advice to Students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CustomShape 2"/>
          <p:cNvSpPr/>
          <p:nvPr/>
        </p:nvSpPr>
        <p:spPr>
          <a:xfrm>
            <a:off x="504000" y="1326600"/>
            <a:ext cx="9068400" cy="32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70000" lnSpcReduction="19999"/>
          </a:bodyPr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Learn to create without AI first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Can’t be in charge if you are dependent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Gets you closer to content.  Do your own code/calculations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Then, create using AI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Leverage AI to create more than you can alone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Use AI as “cointelligence” partner from whom you can learn as well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Always question/challenge the AI; don’t take output at face value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“Any good LLM session includes you correcting the LLM”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Jump the “apprentice gap”!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CustomShape 6"/>
          <p:cNvSpPr/>
          <p:nvPr/>
        </p:nvSpPr>
        <p:spPr>
          <a:xfrm>
            <a:off x="503640" y="182520"/>
            <a:ext cx="9063000" cy="93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Recent AI: Safety Concerns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CustomShape 7"/>
          <p:cNvSpPr/>
          <p:nvPr/>
        </p:nvSpPr>
        <p:spPr>
          <a:xfrm>
            <a:off x="503640" y="1096920"/>
            <a:ext cx="9063000" cy="350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70000" lnSpcReduction="19999"/>
          </a:bodyPr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Agentic AI can “hack” faster and at more depth than humans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Hugging Face incident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PHP security flaw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We don’t know how smart it will get, and whether “alignment” will hold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Amodei’s “We Must Pace the Frontier” essay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Good news: Systems will become more secure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Using AI as a penetration tester is powerful new tool.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AI eases revision of systems, use of new languages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CustomShape 8"/>
          <p:cNvSpPr/>
          <p:nvPr/>
        </p:nvSpPr>
        <p:spPr>
          <a:xfrm>
            <a:off x="503640" y="182520"/>
            <a:ext cx="9063000" cy="93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Recent AI: Data Center Economics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CustomShape 9"/>
          <p:cNvSpPr/>
          <p:nvPr/>
        </p:nvSpPr>
        <p:spPr>
          <a:xfrm>
            <a:off x="503640" y="1096920"/>
            <a:ext cx="9063000" cy="350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19999"/>
          </a:bodyPr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Power consumption raising rates in various areas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	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	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Water for cooling also a concern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Supply constraints on memory, GPUs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Good news: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Water recycling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Past and future work on efficient “inference”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Possibility of on-orbit data centers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CustomShape 1"/>
          <p:cNvSpPr/>
          <p:nvPr/>
        </p:nvSpPr>
        <p:spPr>
          <a:xfrm>
            <a:off x="504000" y="226080"/>
            <a:ext cx="906876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AI Future – Limits on Prediction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	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CustomShape 2"/>
          <p:cNvSpPr/>
          <p:nvPr/>
        </p:nvSpPr>
        <p:spPr>
          <a:xfrm>
            <a:off x="504000" y="1323720"/>
            <a:ext cx="9068760" cy="32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62500" lnSpcReduction="19999"/>
          </a:bodyPr>
          <a:p>
            <a:pPr marL="432000" indent="-32076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“.. [no] faith in aerial navigation other than ballooning”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7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Lord Kelvin, 1896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76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Alchemistic Empiricism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76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Analogy of Chemistry in 1825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7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Results in fits and starts as we try things out by guess-and-by-golly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7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Better theory is desperately needed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76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Start with Nature, End with Design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7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Planes vs birds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7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Deep Learning vs brains : Geoff Hinton’s warning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CustomShape 1"/>
          <p:cNvSpPr/>
          <p:nvPr/>
        </p:nvSpPr>
        <p:spPr>
          <a:xfrm>
            <a:off x="504000" y="226080"/>
            <a:ext cx="906804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Future AI: late 2020s (?)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CustomShape 2"/>
          <p:cNvSpPr/>
          <p:nvPr/>
        </p:nvSpPr>
        <p:spPr>
          <a:xfrm>
            <a:off x="504000" y="1326600"/>
            <a:ext cx="9068040" cy="37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62500" lnSpcReduction="19999"/>
          </a:bodyPr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Automation of routine white collar work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Writing, coding, art, music, law, healthcare, customer service, translation, entertainment, etc.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Claude Code is like a competent, knowledgeable, very fast junior engineer.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May increase productivity of experienced professionals by 5x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Physical AI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AI with vision, movement, hearing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Robotics, drones, self-driving cars, manufacturing, construction, etc.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Much investment going into this; blue-collar labor is not necessarily safe from AI.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Scientific advances using AI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TextShape 1"/>
          <p:cNvSpPr/>
          <p:nvPr/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in 2030s (?)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Shape 2"/>
          <p:cNvSpPr/>
          <p:nvPr/>
        </p:nvSpPr>
        <p:spPr>
          <a:xfrm>
            <a:off x="504000" y="1326600"/>
            <a:ext cx="9071640" cy="37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S-curves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Aerospace example, and two prior “winters” in neural networks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Option A: current S-curve plateaus in 1-2 years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Some experts expect this (Ilya Sutskever)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Option B: plateau later, reaching AGI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Unprecedented investment and research community; improvements continue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Option C: advances to self-improving loop – “singularity”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Which one – depends on who you listen to.  </a:t>
            </a: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Theory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 years ago A:70% B:20%; C:10%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A:30% B:50%; C:20%  (and I just changed this, downward, two days ago!)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Even with a “third plateau”, underlying math has huge potential for fourth S-curve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CustomShape 1"/>
          <p:cNvSpPr/>
          <p:nvPr/>
        </p:nvSpPr>
        <p:spPr>
          <a:xfrm>
            <a:off x="504000" y="226080"/>
            <a:ext cx="9065520" cy="94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Long Term Questions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CustomShape 2"/>
          <p:cNvSpPr/>
          <p:nvPr/>
        </p:nvSpPr>
        <p:spPr>
          <a:xfrm>
            <a:off x="457200" y="1326600"/>
            <a:ext cx="9065520" cy="387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What can AI teach us about the nature of thought and intelligence?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What if it becomes more intelligent than us?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Hard Problem of Consciousness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AI as “moral patient”?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Use of AI to extend human intelligence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7724</TotalTime>
  <Application>LibreOffice/26.2.6.3$Windows_X86_64 LibreOffice_project/8221e31b3ac356a1623c672912a3d2b492f7e3d1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2017-10-20T23:41:18Z</dcterms:created>
  <dc:creator/>
  <dc:description/>
  <dc:language>en-US</dc:language>
  <cp:lastModifiedBy/>
  <cp:lastPrinted>2023-04-17T14:15:08Z</cp:lastPrinted>
  <dcterms:modified xsi:type="dcterms:W3CDTF">2026-10-31T21:38:05Z</dcterms:modified>
  <cp:revision>71</cp:revision>
  <dc:subject/>
  <dc:title/>
</cp:coreProperties>
</file>