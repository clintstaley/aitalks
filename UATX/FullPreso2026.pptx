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  <p:sldMasterId id="2147483675" r:id="rId4"/>
    <p:sldMasterId id="2147483688" r:id="rId5"/>
    <p:sldMasterId id="2147483701" r:id="rId6"/>
    <p:sldMasterId id="2147483714" r:id="rId7"/>
    <p:sldMasterId id="2147483727" r:id="rId8"/>
    <p:sldMasterId id="2147483740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37.xml"/><Relationship Id="rId6" Type="http://schemas.openxmlformats.org/officeDocument/2006/relationships/slideMaster" Target="slideMasters/slideMaster49.xml"/><Relationship Id="rId7" Type="http://schemas.openxmlformats.org/officeDocument/2006/relationships/slideMaster" Target="slideMasters/slideMaster61.xml"/><Relationship Id="rId8" Type="http://schemas.openxmlformats.org/officeDocument/2006/relationships/slideMaster" Target="slideMasters/slideMaster73.xml"/><Relationship Id="rId9" Type="http://schemas.openxmlformats.org/officeDocument/2006/relationships/slideMaster" Target="slideMasters/slideMaster8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9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3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5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731520" y="2088360"/>
            <a:ext cx="906408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Technology and Philosophy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of Artificial Intelligence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Dr. Clint Staley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Dean of STEM, UATX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CSC Professor Emeritus, Cal Poly SLO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206240" y="2768400"/>
            <a:ext cx="16398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“AI” Universe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9325800" cy="431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-324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Artificial Intelligence – stuff we thought only humans could do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Symbolic AI – Old-school approach to AI, hand crafted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Machine Learning – Modern approach; machines learn from examples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Classic ML – random forests, linear/logistic regression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 learning – what used to be “neural networks”, but much deeper with added elements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Large Language Models (LLMs) – ChatGPT, Claude, Gemini, etc.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Deep Learning – Diffusion models, ViTs, CNNs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Generative AI – AI to create, not just analyze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"/>
          <p:cNvPicPr/>
          <p:nvPr/>
        </p:nvPicPr>
        <p:blipFill>
          <a:blip r:embed="rId1"/>
          <a:stretch/>
        </p:blipFill>
        <p:spPr>
          <a:xfrm>
            <a:off x="1769040" y="8280"/>
            <a:ext cx="6590880" cy="567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504000" y="226080"/>
            <a:ext cx="906804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Common Large Language Model (LLM) Uses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504000" y="1326600"/>
            <a:ext cx="906804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Comprehensive web search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Summarizing and analyzing documents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Generating or editing prose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Tutorial discussions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Brainstorming and recommendations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ustomShape 1"/>
          <p:cNvSpPr/>
          <p:nvPr/>
        </p:nvSpPr>
        <p:spPr>
          <a:xfrm>
            <a:off x="504000" y="226080"/>
            <a:ext cx="906984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LLM Use Basics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CustomShape 2"/>
          <p:cNvSpPr/>
          <p:nvPr/>
        </p:nvSpPr>
        <p:spPr>
          <a:xfrm>
            <a:off x="504000" y="1326600"/>
            <a:ext cx="9069840" cy="40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7500" lnSpcReduction="19999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It’s all about the prompt(s)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More than a question.  Can include information, like documents, photos, etc.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LLM “knows” info only at the time of training.  Prompt gives current details.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 just one prompt – engage in conversation.  Entire conversation is “input” for each chat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Depth of remembered conversation varies by LLM – 2,000 words to 1 million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LLM’s “hallucinate”, often very confidently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Check critical facts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Any serious LLM session includes successfully correcting the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LLM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503640" y="477720"/>
            <a:ext cx="906408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Deeper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Capabilities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CustomShape 2"/>
          <p:cNvSpPr/>
          <p:nvPr/>
        </p:nvSpPr>
        <p:spPr>
          <a:xfrm>
            <a:off x="503640" y="1326240"/>
            <a:ext cx="9064080" cy="32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55000" lnSpcReduction="19999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More than a glorified Wikipedia.  Examples: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Write and Revise a Story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Understands the context of the story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Summarizes; changes style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Analyzing humorous images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Multimodal: understands images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Understands subtle context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Help with AI Diagram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Discussion on Bayesian Analysis and Markov Chain Monte Carlo (MCMC)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Example: Theory of Mind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504000" y="226080"/>
            <a:ext cx="90684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Other (non LLM) DL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CustomShape 2"/>
          <p:cNvSpPr/>
          <p:nvPr/>
        </p:nvSpPr>
        <p:spPr>
          <a:xfrm>
            <a:off x="504000" y="1326600"/>
            <a:ext cx="906840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Same principles of training and numerical patterns, but different designs and purposes.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Computer Vision: face recognition, object tracking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“Physical” or “Embedded” AI: robots, automated drones, self-driving cars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Reinforcement Learning (RL)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Symbol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Self-instructing.  Requires automatically generable feedback.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Symbol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Examples: Alpha Go,  code-writing agents, physical AI (via simulation)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Graph Neural Networks: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Symbol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AlphaFold – analyzes connection patterns, e.g. chemical compounds, protein fold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Example Uses – Other DL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0000" lnSpcReduction="19999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Artistic creativity – funny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“Diffusion model”, e.g. DALL-E, Sora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Photos, short movie clips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May need feedback and adjustment, and may hallucinate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Term “hallucination” originates with this type of 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Generate audio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Voice or music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Note that this means voices are not representative e.g. on phone calls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CustomShape 1"/>
          <p:cNvSpPr/>
          <p:nvPr/>
        </p:nvSpPr>
        <p:spPr>
          <a:xfrm>
            <a:off x="503640" y="182520"/>
            <a:ext cx="906408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 LLM Is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CustomShape 2"/>
          <p:cNvSpPr/>
          <p:nvPr/>
        </p:nvSpPr>
        <p:spPr>
          <a:xfrm>
            <a:off x="503640" y="1096920"/>
            <a:ext cx="9064080" cy="35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75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 improved search engine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 able to web-search when useful, but…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… can work unplugged from the internet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Hand-crafted code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programming specific to the questions/answers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Could be written in one page of code –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equations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whole modern AI story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Important other areas are making major advances too, e.g. reinforcement learning, computer vision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503640" y="225720"/>
            <a:ext cx="906408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 LLM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503640" y="1326240"/>
            <a:ext cx="9064080" cy="32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sophisticated mathematical engine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12 equations, but on “matrices” – huge grids of numbers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From 10 billion to over 1 trillion numbers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“intelligence” is in those numbers (aka weights or parameters)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Self-organizing!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weights are “trained” by incremental adjustment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0" lvl="4" indent="-213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First, to match known texts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0" lvl="4" indent="-213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Then to adjust to human feedback given by RLHF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Humans design the training process and the equations, but not the weights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/>
          <p:cNvSpPr/>
          <p:nvPr/>
        </p:nvSpPr>
        <p:spPr>
          <a:xfrm>
            <a:off x="504000" y="82080"/>
            <a:ext cx="906552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Word/Idea “Embedding”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"/>
          <p:cNvPicPr/>
          <p:nvPr/>
        </p:nvPicPr>
        <p:blipFill>
          <a:blip r:embed="rId1"/>
          <a:stretch/>
        </p:blipFill>
        <p:spPr>
          <a:xfrm>
            <a:off x="91440" y="909000"/>
            <a:ext cx="9871200" cy="28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CustomShape 2"/>
          <p:cNvSpPr/>
          <p:nvPr/>
        </p:nvSpPr>
        <p:spPr>
          <a:xfrm>
            <a:off x="526320" y="3987360"/>
            <a:ext cx="9067320" cy="19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16000" indent="-2120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This is how an LLM represents words, phrases and ideas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0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Dimensions represent meaning, and also word position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20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But, with 12,800 numbers per word – many conceptual dimensions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504000" y="226080"/>
            <a:ext cx="906552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 An LLM “Thinks”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504000" y="1326600"/>
            <a:ext cx="9065520" cy="32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Starts with word embeddings representing words in your prompt and the current conversation.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Combines words via “attention blocks” into higher embeddings representing phrases, then sentences, etc.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Predicts next “thought” as an embedding and chooses closest next word.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Repeat, word by word...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1"/>
          <p:cNvSpPr/>
          <p:nvPr/>
        </p:nvSpPr>
        <p:spPr>
          <a:xfrm>
            <a:off x="504000" y="226080"/>
            <a:ext cx="906552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Weights </a:t>
            </a:r>
            <a:r>
              <a:rPr lang="en-US" sz="4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the “Intelligence”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CustomShape 2"/>
          <p:cNvSpPr/>
          <p:nvPr/>
        </p:nvSpPr>
        <p:spPr>
          <a:xfrm>
            <a:off x="504000" y="1326600"/>
            <a:ext cx="9065520" cy="32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 “reasoning” is by word/concept embeddings.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we (mostly)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don’t know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what each weight does. 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Could learn to converse in a language none of its programmers understand.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Are world-models, theory of mind, etc. spontaneously emerging from the training?  Latest research clearly says “yes”.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/>
          <p:cNvSpPr/>
          <p:nvPr/>
        </p:nvSpPr>
        <p:spPr>
          <a:xfrm>
            <a:off x="504000" y="226080"/>
            <a:ext cx="906552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 an LLM Intelligent?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CustomShape 2"/>
          <p:cNvSpPr/>
          <p:nvPr/>
        </p:nvSpPr>
        <p:spPr>
          <a:xfrm>
            <a:off x="457200" y="1254600"/>
            <a:ext cx="9065520" cy="40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7500" lnSpcReduction="19999"/>
          </a:bodyPr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“Yes” arguments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82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82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Research in “mechanistic interpretability” shows conceptual models spontaneously arise from training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82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(But, we still know only some of what those weights are doing, and “intelligent” doesn’t necessarily mean “conscious”)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“No” arguments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82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Just mindless numbers and 12 equations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82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Just predicting the next word.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82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(But, it’s improving </a:t>
            </a:r>
            <a:r>
              <a:rPr lang="en-US" sz="2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fast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a human brain is just “mindless” neurons and synapses, and </a:t>
            </a:r>
            <a:r>
              <a:rPr lang="en-US" sz="2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how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is it picking that next word so intelligently?)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CustomShape 1"/>
          <p:cNvSpPr/>
          <p:nvPr/>
        </p:nvSpPr>
        <p:spPr>
          <a:xfrm>
            <a:off x="504000" y="226080"/>
            <a:ext cx="90684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History 1950s - 1960s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CustomShape 2"/>
          <p:cNvSpPr/>
          <p:nvPr/>
        </p:nvSpPr>
        <p:spPr>
          <a:xfrm>
            <a:off x="504000" y="1343520"/>
            <a:ext cx="580176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40000" lnSpcReduction="19999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(1956) “Artificial Intelligence” first used as a term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1956) First good “theorem prover” –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symbolic AI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(1965) ELIZA basic “chatbot” in 200 lines of code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(1960s) Hopfield, Minsky and others do early work in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“neural networks”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(1967) Minsky: “Within a generation … the problem of creating artificial intelligence will substantially be solved.”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(1969) Minsky and Papert publish “Perceptrons”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Proves one-layer (all they knew how to train) neural networks very limited and  triggers first </a:t>
            </a: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“AI winter”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"/>
          <p:cNvPicPr/>
          <p:nvPr/>
        </p:nvPicPr>
        <p:blipFill>
          <a:blip r:embed="rId1"/>
          <a:stretch/>
        </p:blipFill>
        <p:spPr>
          <a:xfrm>
            <a:off x="6675480" y="1463040"/>
            <a:ext cx="2791080" cy="19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504000" y="226080"/>
            <a:ext cx="90684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History 1970s-1990s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CustomShape 2"/>
          <p:cNvSpPr/>
          <p:nvPr/>
        </p:nvSpPr>
        <p:spPr>
          <a:xfrm>
            <a:off x="504000" y="1326600"/>
            <a:ext cx="906840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(1970) Seppo Linnainmaa quietly publishes “backpropagation” algorithm, solving the multilayer training problem. 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one notices.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(1970s and 80s): Direct coding of logic in symbolic “expert systems”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Turns out to be limited and fragile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Vaunted “5</a:t>
            </a:r>
            <a:r>
              <a:rPr lang="en-US" sz="2800" b="0" u="none" strike="noStrik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generation” computing fizzles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(1986) Backpropagation algorithm (re)discovered.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Neural nets are back.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But training networks &gt; 3 layers proves very hard.  (Modern AI takes hundreds.)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After brief burst of progress, a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“AI Winter”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CustomShape 1"/>
          <p:cNvSpPr/>
          <p:nvPr/>
        </p:nvSpPr>
        <p:spPr>
          <a:xfrm>
            <a:off x="504000" y="226080"/>
            <a:ext cx="90684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History 2012-2023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CustomShape 2"/>
          <p:cNvSpPr/>
          <p:nvPr/>
        </p:nvSpPr>
        <p:spPr>
          <a:xfrm>
            <a:off x="504000" y="1326600"/>
            <a:ext cx="906840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40000" lnSpcReduction="19999"/>
          </a:bodyPr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 important advances lay ground for new neural network growth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More available training data via internet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Computing power via GPUs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Better neural network design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activation functions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connections, normalization layers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better gradient descent algorithms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Vibrant and very intensive research community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(2012) Neural networks, now “deep learning networks” are back, again!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(2017) “Attention is all you Need” paper describes Transformers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(2020-2023) Steady LLM improvement arrives at GPT-3.5/GPT-4, and world attention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ustomShape 1"/>
          <p:cNvSpPr/>
          <p:nvPr/>
        </p:nvSpPr>
        <p:spPr>
          <a:xfrm>
            <a:off x="504000" y="226080"/>
            <a:ext cx="906876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History – Taking Stock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CustomShape 2"/>
          <p:cNvSpPr/>
          <p:nvPr/>
        </p:nvSpPr>
        <p:spPr>
          <a:xfrm>
            <a:off x="1097280" y="1097280"/>
            <a:ext cx="9068760" cy="32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Early investigation of major ideas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Neural networks since 1960s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Alternating optimism and AI winters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Symbolic logic vs neural networks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“bitter” (to some) lesson – can’t program AI directly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Need better theory – too much cut-and-try innovation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504000" y="226080"/>
            <a:ext cx="906804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Recent AI Events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504000" y="1326600"/>
            <a:ext cx="90680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47500" lnSpcReduction="19999"/>
          </a:bodyPr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Nobel Prizes 2024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Physics to John Hopfield and Geoffrey Hinton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Chemistry to the developers of AlphaFold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Improved LLM Architectures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MoE – “Mixture of Experts”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CoT – “Chain of Thought” – LLMs that reason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Agentic 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coding and math research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Research on “interpretability”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CustomShape 1"/>
          <p:cNvSpPr/>
          <p:nvPr/>
        </p:nvSpPr>
        <p:spPr>
          <a:xfrm>
            <a:off x="504000" y="226080"/>
            <a:ext cx="906804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Events: late 2020s (?)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CustomShape 2"/>
          <p:cNvSpPr/>
          <p:nvPr/>
        </p:nvSpPr>
        <p:spPr>
          <a:xfrm>
            <a:off x="504000" y="1326600"/>
            <a:ext cx="906804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55000" lnSpcReduction="19999"/>
          </a:bodyPr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Automation of routine white collar 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Writing, coding, art, music, law, healthcare, customer service, translation, entertainment, etc.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Claude Code is like a competent, knowledgeable, very fast junior engineer.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May increase productivity of experienced professionals by 5x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Physical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with vision, movement, hearing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Robotics, drones, self-driving cars, manufacturing, construction, etc.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Much investment going into this; blue-collar labor is not necessarily safe from AI.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Scientific advances using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1"/>
          <p:cNvSpPr/>
          <p:nvPr/>
        </p:nvSpPr>
        <p:spPr>
          <a:xfrm>
            <a:off x="504000" y="226080"/>
            <a:ext cx="90684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Near Term Issues to Consider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504000" y="1326600"/>
            <a:ext cx="906840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0000" lnSpcReduction="19999"/>
          </a:bodyPr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Legal questions of copyright and liability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“Alignment” of AI with human values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replaces professional beginners creating “apprentice gap”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Technological unemployment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 like going from farm to factory to simple white-collar 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UBI might provide subsistence, but doesn’t provide purpose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“Manhattan Project” of the 2020s.  Who will lead? US or China?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Possible threats to digital security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Hugging Face incident, and PHP exploit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Amodei and others: “We Must Pace the Frontier”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504000" y="226080"/>
            <a:ext cx="90684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Advice to Students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504000" y="1326600"/>
            <a:ext cx="9068400" cy="32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0000" lnSpcReduction="19999"/>
          </a:bodyPr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Learn to create without AI first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Can’t be in charge if you are dependent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Gets you closer to content.  Do your own code/calculations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Then, create using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Leverage AI to create more than you can alone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 AI as “cointelligence” partner from whom you can learn as well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Always question/challenge the AI; don’t take output at face value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“Any good LLM session includes you correcting the LLM”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ustomShape 1"/>
          <p:cNvSpPr/>
          <p:nvPr/>
        </p:nvSpPr>
        <p:spPr>
          <a:xfrm>
            <a:off x="504000" y="226080"/>
            <a:ext cx="906876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Future – Limits on Prediction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CustomShape 2"/>
          <p:cNvSpPr/>
          <p:nvPr/>
        </p:nvSpPr>
        <p:spPr>
          <a:xfrm>
            <a:off x="504000" y="1323720"/>
            <a:ext cx="9068760" cy="32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“.. [no] faith in aerial navigation other than ballooning”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Lord Kelvin, 1896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Alchemistic Empiricism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Analogy of Chemistry in 1825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Results in fits and starts as we try things out by guess-and-by-golly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Better theory is desperately needed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07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Start with Nature, End with Design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Planes vs birds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07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Deep Learning vs brains : Geoff Hinton’s warning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in 2030s (?)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Shape 2"/>
          <p:cNvSpPr/>
          <p:nvPr/>
        </p:nvSpPr>
        <p:spPr>
          <a:xfrm>
            <a:off x="504000" y="1326600"/>
            <a:ext cx="9071640" cy="37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S-curves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Aerospace example, and two prior “winters” in neural networks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Option A: current S-curve plateaus in 1-2 years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experts expect this (Ilya Sutskever)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Option B: plateau later, reaching AGI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Unprecedented investment and research community; improvements continue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Option C: advances to self-improving loop – “singularity”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one – depends on who you listen to. 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Theory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years ago A:70% B:20%; C:10%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A:30% B:50%; C:20%  (and I just changed this, downward, two days ago!)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 with a “third plateau”, underlying math has huge potential for fourth S-curve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504000" y="226080"/>
            <a:ext cx="9065520" cy="9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Long Term Questions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CustomShape 2"/>
          <p:cNvSpPr/>
          <p:nvPr/>
        </p:nvSpPr>
        <p:spPr>
          <a:xfrm>
            <a:off x="457200" y="1326600"/>
            <a:ext cx="9065520" cy="38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What can AI teach us about the nature of thought and intelligence?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What if it becomes more intelligent than us?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Hard Problem of Consciousness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as “moral patient”?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82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 of AI to extend human intelligence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7706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2026-10-31T21:19:59Z</dcterms:modified>
  <cp:revision>70</cp:revision>
  <dc:subject/>
  <dc:title/>
</cp:coreProperties>
</file>