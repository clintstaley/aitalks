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_rels/slideLayout3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media/image1.png" ContentType="image/png"/>
  <Override PartName="/ppt/media/image2.png" ContentType="image/png"/>
  <Override PartName="/ppt/media/image4.jpeg" ContentType="image/jpeg"/>
  <Override PartName="/ppt/media/image3.png" ContentType="image/png"/>
  <Override PartName="/ppt/media/image5.jpeg" ContentType="image/jpe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AI Technical Concepts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53" name="CustomShape 2"/>
          <p:cNvSpPr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7000"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Word Embedding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Pattern Space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Gradient Descent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Attention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Transformer 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RLHF: Reinforcement Learning by Human Feedback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Convolutional Neural Network (CNN)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Reinforcement Learning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an LLM (e.g.GPT) Works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55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1000"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Thinks” in patterns of 12,000 numbers each.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Combines words into phrases, phrases into sentences, sentences into concepts.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Predicts next “thought” and chooses best next word.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12 “matrix” equations, one page of code, describes the essential mechanism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1"/>
          <p:cNvSpPr/>
          <p:nvPr/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GPT Learns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57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9000"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Those 12 equations have </a:t>
            </a:r>
            <a:r>
              <a:rPr b="1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number-weights (“parameters”)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Parameters for the 12,000-number “idea” for each word.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Parameters for combination into higher abstractions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175 billion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parameters for GPT-3.  1.7 trillion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for GPT-4.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How do we come up with them?  By adjusting parameters to imitate examples…  Lots of examples.. 100 million sentences.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Further refinement and “socialization” by RLHF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504000" y="82080"/>
            <a:ext cx="9070200" cy="94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Word/Idea “Embedding”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91440" y="907200"/>
            <a:ext cx="9882360" cy="35719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" descr=""/>
          <p:cNvPicPr/>
          <p:nvPr/>
        </p:nvPicPr>
        <p:blipFill>
          <a:blip r:embed="rId1"/>
          <a:stretch/>
        </p:blipFill>
        <p:spPr>
          <a:xfrm>
            <a:off x="2966760" y="2520"/>
            <a:ext cx="4150440" cy="56682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1"/>
          <p:cNvSpPr/>
          <p:nvPr/>
        </p:nvSpPr>
        <p:spPr>
          <a:xfrm>
            <a:off x="504000" y="226080"/>
            <a:ext cx="907164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Gradient Descent” Training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2" name="CustomShape 2"/>
          <p:cNvSpPr/>
          <p:nvPr/>
        </p:nvSpPr>
        <p:spPr>
          <a:xfrm>
            <a:off x="504000" y="1326600"/>
            <a:ext cx="55306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21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Example of 2 weights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Red mountains have high error; blue valleys have low error.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Start with random weights, then tweak weights to move toward low error.  Rinse and repeat…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Learning” is just rolling a ball down a hill, in high dimensions.  No plan, no higher reasoning...  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network is thus self-taught, automatically adjusted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But, with 1+ trillion dimensions, and 100 million sentences.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5951520" y="1280520"/>
            <a:ext cx="3649680" cy="2193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 the “Intelligence”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1000"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Doesn’t need to do web hunts.  Could run on a disconnected computer.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Trained weights are “long term memory”.  Current conversation is “short term memory”.  All internal logic is by word/concept embeddings.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And we 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don’t know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what each weight does.  It’s 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self-organized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to follow examples.  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Could learn to converse in a language none of its programmers understand.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Are world-models, theory of mind, etc. spontaneously emerging from the training? 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CustomShape 1"/>
          <p:cNvSpPr/>
          <p:nvPr/>
        </p:nvSpPr>
        <p:spPr>
          <a:xfrm>
            <a:off x="504000" y="1828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7" name="CustomShape 2"/>
          <p:cNvSpPr/>
          <p:nvPr/>
        </p:nvSpPr>
        <p:spPr>
          <a:xfrm>
            <a:off x="504000" y="1097280"/>
            <a:ext cx="9069840" cy="3515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78000"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 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just an improved search engine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 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hand-crafted code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 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the whole modern AI story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a sophisticated mathematical engine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self-organizing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a partial mystery even to its creators 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Other AI – CNNs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9" name="CustomShape 2"/>
          <p:cNvSpPr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Convolutional Neural Networks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70" name="" descr=""/>
          <p:cNvPicPr/>
          <p:nvPr/>
        </p:nvPicPr>
        <p:blipFill>
          <a:blip r:embed="rId1"/>
          <a:stretch/>
        </p:blipFill>
        <p:spPr>
          <a:xfrm>
            <a:off x="1463040" y="2011680"/>
            <a:ext cx="6328440" cy="3383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Shape 1"/>
          <p:cNvSpPr txBox="1"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CNN Concepts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2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latin typeface="Arial"/>
              </a:rPr>
              <a:t>Deep Learning, but designed for images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latin typeface="Arial"/>
              </a:rPr>
              <a:t>Modeled after human visual system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latin typeface="Arial"/>
              </a:rPr>
              <a:t>Trained on huge image collections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latin typeface="Arial"/>
              </a:rPr>
              <a:t>Faces, objects, self-driving cars, etc.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latin typeface="Arial"/>
              </a:rPr>
              <a:t>Related work in neural radiance fields (“NeRF”s) reconstructs 3-D scenes.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Shape 1"/>
          <p:cNvSpPr txBox="1"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Other AI – Reinforcement Learning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4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64000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Automatic generation of training data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Example of playing games against yourself to learn.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Problem config =&gt; best move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But, when you win, how do you know which moves helped?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And, as you play, do you try new approaches or refine existing ones?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RL and Games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504000" y="1326600"/>
            <a:ext cx="9071640" cy="214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latin typeface="Arial"/>
              </a:rPr>
              <a:t>Game of Go is notoriously hard.  Many moves, much lookahead needed.</a:t>
            </a:r>
            <a:endParaRPr b="0" lang="en-US" sz="28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latin typeface="Arial"/>
              </a:rPr>
              <a:t>Alpha-Go beats best human players using RL.  And finds new strategies.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77" name="" descr=""/>
          <p:cNvPicPr/>
          <p:nvPr/>
        </p:nvPicPr>
        <p:blipFill>
          <a:blip r:embed="rId1"/>
          <a:stretch/>
        </p:blipFill>
        <p:spPr>
          <a:xfrm>
            <a:off x="5120640" y="3039120"/>
            <a:ext cx="4023360" cy="22644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Shape 1"/>
          <p:cNvSpPr txBox="1"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RL and Protein Folding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9" name="TextShape 2"/>
          <p:cNvSpPr txBox="1"/>
          <p:nvPr/>
        </p:nvSpPr>
        <p:spPr>
          <a:xfrm>
            <a:off x="504000" y="1326600"/>
            <a:ext cx="9071640" cy="1873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73000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latin typeface="Arial"/>
              </a:rPr>
              <a:t>GATACAGA…. =&gt; shape of protein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latin typeface="Arial"/>
              </a:rPr>
              <a:t>Very hard, and critical to biomed research.  One protein might take years of research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latin typeface="Arial"/>
              </a:rPr>
              <a:t>Alpha-fold learns to fold via RL, and folds 100,000 proteins.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80" name="" descr=""/>
          <p:cNvPicPr/>
          <p:nvPr/>
        </p:nvPicPr>
        <p:blipFill>
          <a:blip r:embed="rId1"/>
          <a:stretch/>
        </p:blipFill>
        <p:spPr>
          <a:xfrm>
            <a:off x="1005840" y="3383280"/>
            <a:ext cx="6309360" cy="1692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ustomShape 1"/>
          <p:cNvSpPr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Diffusion Models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82" name="CustomShape 2"/>
          <p:cNvSpPr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DALL-E examples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Form of deep learning trained on labelled images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Translates text to image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Can also fill in missing parts of images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ustomShape 1"/>
          <p:cNvSpPr/>
          <p:nvPr/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Far Will It Advance?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84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70000"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"Heavier-than-air flying machines are impossible" Lord Kelvin 1895</a:t>
            </a:r>
            <a:endParaRPr b="0" lang="en-US" sz="24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will “plateau”</a:t>
            </a:r>
            <a:endParaRPr b="0" lang="en-US" sz="24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Reaching limits on compute and on data</a:t>
            </a:r>
            <a:endParaRPr b="0" lang="en-US" sz="24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It’s plateaued before</a:t>
            </a:r>
            <a:endParaRPr b="0" lang="en-US" sz="24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will reach human intelligence or more</a:t>
            </a:r>
            <a:endParaRPr b="0" lang="en-US" sz="24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Unprecedented research community and infrastructure</a:t>
            </a:r>
            <a:endParaRPr b="0" lang="en-US" sz="24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Hardware is rapidly improving</a:t>
            </a:r>
            <a:endParaRPr b="0" lang="en-US" sz="24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Could do self-instruction via reinforcement learning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So, which is it?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86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5 years ago, most researchers would guess “plateau”.  Now most would guess major improvements</a:t>
            </a:r>
            <a:endParaRPr b="0" lang="en-US" sz="24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Desperate need for theory.  Like chemistry in 1824</a:t>
            </a:r>
            <a:endParaRPr b="0" lang="en-US" sz="24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Hinton’s insight on deep learning vs. brains</a:t>
            </a:r>
            <a:endParaRPr b="0" lang="en-US" sz="24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Example of early steam power, electricity, chemistry</a:t>
            </a:r>
            <a:endParaRPr b="0" lang="en-US" sz="24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Birds vs planes</a:t>
            </a:r>
            <a:endParaRPr b="0" lang="en-US" sz="24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GPT-4 is a mouse brain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4937</TotalTime>
  <Application>LibreOffice/6.3.5.2$Windows_X86_64 LibreOffice_project/dd0751754f11728f69b42ee2af66670068624673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2017-10-20T23:41:18Z</dcterms:created>
  <dc:creator/>
  <dc:description/>
  <dc:language>en-US</dc:language>
  <cp:lastModifiedBy/>
  <cp:lastPrinted>2023-04-17T14:15:08Z</cp:lastPrinted>
  <dcterms:modified xsi:type="dcterms:W3CDTF">2024-06-06T23:30:26Z</dcterms:modified>
  <cp:revision>39</cp:revision>
  <dc:subject/>
  <dc:title/>
</cp:coreProperties>
</file>