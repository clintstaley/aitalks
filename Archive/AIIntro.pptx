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731520" y="2088360"/>
            <a:ext cx="9067320" cy="56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AI For Everyone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Dr. Clint Staley (C’80)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CSCI Professor, Principia College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CSC Professor Emeritus, Cal Poly SLO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4206240" y="2768400"/>
            <a:ext cx="1643040" cy="39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503640" y="477720"/>
            <a:ext cx="9067320" cy="94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Large Language Model” (LLM) Demo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69" name="CustomShape 2"/>
          <p:cNvSpPr/>
          <p:nvPr/>
        </p:nvSpPr>
        <p:spPr>
          <a:xfrm>
            <a:off x="503640" y="1326240"/>
            <a:ext cx="9067320" cy="32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9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and Revise a Story (Claude Sonnet)</a:t>
            </a:r>
            <a:endParaRPr b="0" lang="en-US" sz="32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the context of the story</a:t>
            </a:r>
            <a:endParaRPr b="0" lang="en-US" sz="28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Summarizes; changes style</a:t>
            </a:r>
            <a:endParaRPr b="0" lang="en-US" sz="2800" spc="-1" strike="noStrike"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Multimodal: ChatGPT cat photo</a:t>
            </a:r>
            <a:endParaRPr b="0" lang="en-US" sz="2800" spc="-1" strike="noStrike"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Many LLMs available, steadily improving</a:t>
            </a:r>
            <a:endParaRPr b="0" lang="en-US" sz="28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ChatGPT (OpenAI), Claude (Anthropic), R1 (DeepSeek)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Using an LLM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1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0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Typical uses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Comprehensive web search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Summarizing and analyzing documents (Emancipation Proclamation example)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Generating or editing prose (passive voice change)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Tutorial discussions 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Brainstorming and recommendations (AZ cities visit)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Language translation</a:t>
            </a:r>
            <a:endParaRPr b="0" lang="en-US" sz="26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Learning to Prompt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More than a question.  Note how ChatGPT rephrases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Prompt and entire conversation are “input” for further conversation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503640" y="182520"/>
            <a:ext cx="9067320" cy="94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503640" y="1096920"/>
            <a:ext cx="9067320" cy="351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2000"/>
          </a:bodyPr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 improved search engine</a:t>
            </a:r>
            <a:endParaRPr b="0" lang="en-US" sz="32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Is able to web-search when useful, but…</a:t>
            </a:r>
            <a:endParaRPr b="0" lang="en-US" sz="26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…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can work unplugged from the internet</a:t>
            </a:r>
            <a:endParaRPr b="0" lang="en-US" sz="2600" spc="-1" strike="noStrike"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Hand-crafted code</a:t>
            </a:r>
            <a:endParaRPr b="0" lang="en-US" sz="32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 programming specific to the questions/answers</a:t>
            </a:r>
            <a:endParaRPr b="0" lang="en-US" sz="26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Could be written in one page of code –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</a:t>
            </a:r>
            <a:endParaRPr b="0" lang="en-US" sz="2600" spc="-1" strike="noStrike"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whole modern AI story</a:t>
            </a:r>
            <a:endParaRPr b="0" lang="en-US" sz="32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Important other areas are making major advances too, e.g. “reinforcement learning”, computer vision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503640" y="225720"/>
            <a:ext cx="9067320" cy="94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503640" y="1326240"/>
            <a:ext cx="9067320" cy="32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5000"/>
          </a:bodyPr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 sophisticated mathematical engine</a:t>
            </a:r>
            <a:endParaRPr b="0" lang="en-US" sz="32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equations, but on “matrices” – huge grids of numbers</a:t>
            </a:r>
            <a:endParaRPr b="0" lang="en-US" sz="32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From 10 billion to over 1 trillion numbers</a:t>
            </a:r>
            <a:endParaRPr b="0" lang="en-US" sz="32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“intelligence” is in those numbers (aka weights or parameters)</a:t>
            </a:r>
            <a:endParaRPr b="0" lang="en-US" sz="3200" spc="-1" strike="noStrike"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Self-organizing!</a:t>
            </a:r>
            <a:endParaRPr b="0" lang="en-US" sz="32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are “trained” by incremental adjustment to match known texts and human feedback.</a:t>
            </a:r>
            <a:endParaRPr b="0" lang="en-US" sz="3200" spc="-1" strike="noStrike">
              <a:latin typeface="Arial"/>
            </a:endParaRPr>
          </a:p>
          <a:p>
            <a:pPr lvl="1" marL="864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Humans design the training process and the equations, but not the weights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504000" y="82080"/>
            <a:ext cx="906876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77" name="" descr=""/>
          <p:cNvPicPr/>
          <p:nvPr/>
        </p:nvPicPr>
        <p:blipFill>
          <a:blip r:embed="rId1"/>
          <a:stretch/>
        </p:blipFill>
        <p:spPr>
          <a:xfrm>
            <a:off x="91440" y="909000"/>
            <a:ext cx="9874440" cy="2841120"/>
          </a:xfrm>
          <a:prstGeom prst="rect">
            <a:avLst/>
          </a:prstGeom>
          <a:ln>
            <a:noFill/>
          </a:ln>
        </p:spPr>
      </p:pic>
      <p:sp>
        <p:nvSpPr>
          <p:cNvPr id="278" name="CustomShape 2"/>
          <p:cNvSpPr/>
          <p:nvPr/>
        </p:nvSpPr>
        <p:spPr>
          <a:xfrm>
            <a:off x="526320" y="3987360"/>
            <a:ext cx="9070560" cy="193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This is how an LLM represents words, phrases and ideas</a:t>
            </a:r>
            <a:endParaRPr b="0" lang="en-US" sz="2600" spc="-1" strike="noStrike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Each word has a number sequence – an “embedding”</a:t>
            </a:r>
            <a:endParaRPr b="0" lang="en-US" sz="2600" spc="-1" strike="noStrike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But, with 12,800 numbers per word – many conceptual dimensions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504000" y="226080"/>
            <a:ext cx="906876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“Thinks”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504000" y="1326600"/>
            <a:ext cx="9068760" cy="328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7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Starts with word embeddings representing words in your prompt and the current conversation.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into higher 12,800-number patterns representing phrases, then sentences, etc.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as a number pattern and chooses closest next word.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Repeat, word by word...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504000" y="226080"/>
            <a:ext cx="906876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2" name="CustomShape 2"/>
          <p:cNvSpPr/>
          <p:nvPr/>
        </p:nvSpPr>
        <p:spPr>
          <a:xfrm>
            <a:off x="504000" y="1326600"/>
            <a:ext cx="9068760" cy="328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 “reasoning”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(mostly)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 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504000" y="226080"/>
            <a:ext cx="906876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 an LLM Intelligent?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4" name="CustomShape 2"/>
          <p:cNvSpPr/>
          <p:nvPr/>
        </p:nvSpPr>
        <p:spPr>
          <a:xfrm>
            <a:off x="457200" y="1254600"/>
            <a:ext cx="9068760" cy="404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Yes” arguments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Behavior suggests world-models, theory of mind, etc.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we really don’t know since we’re not sure how the weights work in detail)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No” arguments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mindless numbers and 12 equations</a:t>
            </a:r>
            <a:endParaRPr b="0" lang="en-US" sz="26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predicting the next word.</a:t>
            </a:r>
            <a:endParaRPr b="0" lang="en-US" sz="26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it’s improving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fast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, a human brain is just “mindless” neurons and synapses, and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how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 is it picking that next word so intelligently?)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Other” AI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6" name="CustomShape 2"/>
          <p:cNvSpPr/>
          <p:nvPr/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4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Diffusion Models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DALL-E example  (Mammoths on the chapel green, Sora video)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Reinforcement Learning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Self-instructing, based on automatically generable feedback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Alpha Go example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CNNs and Vision Transformers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Recognize and interpret images and visual data  (Cat humor)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1950s - 1960s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8" name="CustomShape 2"/>
          <p:cNvSpPr/>
          <p:nvPr/>
        </p:nvSpPr>
        <p:spPr>
          <a:xfrm>
            <a:off x="504000" y="1343520"/>
            <a:ext cx="580500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2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(1956) “Artificial Intelligence” first used as a term</a:t>
            </a:r>
            <a:endParaRPr b="0" lang="en-US" sz="36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icrosoft YaHei"/>
              </a:rPr>
              <a:t>1956) First good “theorem prover” –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Microsoft YaHei"/>
              </a:rPr>
              <a:t>symbolic AI</a:t>
            </a:r>
            <a:endParaRPr b="0" lang="en-US" sz="36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(1965) ELIZA basic “chatbot” in 200 lines of code</a:t>
            </a:r>
            <a:endParaRPr b="0" lang="en-US" sz="36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(1960s) Hopfield, Minsky and others do early work in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“neural networks”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.  </a:t>
            </a:r>
            <a:endParaRPr b="0" lang="en-US" sz="36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(1967) Minsky: “Within a generation … the problem of creating artificial intelligence will substantially be solved.”</a:t>
            </a:r>
            <a:endParaRPr b="0" lang="en-US" sz="36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(1969) Minsky and Papert publish “Perceptrons”</a:t>
            </a:r>
            <a:endParaRPr b="0" lang="en-US" sz="3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Proves early neural networks very limited and  triggers first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“AI winter”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89" name="" descr=""/>
          <p:cNvPicPr/>
          <p:nvPr/>
        </p:nvPicPr>
        <p:blipFill>
          <a:blip r:embed="rId1"/>
          <a:stretch/>
        </p:blipFill>
        <p:spPr>
          <a:xfrm>
            <a:off x="6675480" y="1463040"/>
            <a:ext cx="2794320" cy="1991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1970s-1990s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1" name="CustomShape 2"/>
          <p:cNvSpPr/>
          <p:nvPr/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7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(1970) Seppo Linnainmaa quietly publishes “backpropagation” algorithm, solving the multilayer training problem Minsky cites in 1969. 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 one notices.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(1970s and 80s): Direct coding of logic in “expert systems”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Turns out to be limited and fragile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Vaunted “5</a:t>
            </a:r>
            <a:r>
              <a:rPr b="0" lang="en-US" sz="2800" spc="-1" strike="noStrike" baseline="14000000">
                <a:solidFill>
                  <a:srgbClr val="000000"/>
                </a:solidFill>
                <a:latin typeface="Arial"/>
                <a:ea typeface="DejaVu Sans"/>
              </a:rPr>
              <a:t>th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generation” computing fizzles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(1986) Backpropagation algorithm (re)discovered. 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nets are back.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But training networks &gt; 3 layers proves very hard.  (Modern AI takes dozens or more.)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After brief burst of progress, a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second “AI Winter”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2012-2024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2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Four important advances lay ground for new neural network growth</a:t>
            </a:r>
            <a:endParaRPr b="0" lang="en-US" sz="4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more available training data via internet</a:t>
            </a:r>
            <a:endParaRPr b="0" lang="en-US" sz="4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computing power via GPUs</a:t>
            </a:r>
            <a:endParaRPr b="0" lang="en-US" sz="4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better neural twork design:  “activation functions” and architectures (neural net =&gt; deep learning)</a:t>
            </a:r>
            <a:endParaRPr b="0" lang="en-US" sz="4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vibrant and very intensive research community</a:t>
            </a:r>
            <a:endParaRPr b="0" lang="en-US" sz="44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(2012) Neural networks, now “deep learning networks” are back, again!</a:t>
            </a:r>
            <a:endParaRPr b="0" lang="en-US" sz="44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(2017) “Attention is all you Need” paper describes Transformers</a:t>
            </a:r>
            <a:endParaRPr b="0" lang="en-US" sz="44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(2020-2023) Steady LLM improvement arrives at GPT-4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CustomShape 1"/>
          <p:cNvSpPr/>
          <p:nvPr/>
        </p:nvSpPr>
        <p:spPr>
          <a:xfrm>
            <a:off x="504000" y="226080"/>
            <a:ext cx="907200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latin typeface="Arial"/>
              </a:rPr>
              <a:t>AI History – Taking Stock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5" name="CustomShape 2"/>
          <p:cNvSpPr/>
          <p:nvPr/>
        </p:nvSpPr>
        <p:spPr>
          <a:xfrm>
            <a:off x="1097280" y="1097280"/>
            <a:ext cx="907200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Early investigation of major ideas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Neural networks since 1960s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Alternating optimism and AI winters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Symbolic logic vs neural networks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The “bitter lesson” – don’t program AI directly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 2025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7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5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Nobel Prizes</a:t>
            </a:r>
            <a:endParaRPr b="0" lang="en-US" sz="4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Physics to John Hopfield and Geoffrey Hinton</a:t>
            </a:r>
            <a:endParaRPr b="0" lang="en-US" sz="4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Chemistry to the developers of Alpha Fold</a:t>
            </a:r>
            <a:endParaRPr b="0" lang="en-US" sz="40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Improved LLM Architectures</a:t>
            </a:r>
            <a:endParaRPr b="0" lang="en-US" sz="4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MoE – “Mixture of Experts”</a:t>
            </a:r>
            <a:endParaRPr b="0" lang="en-US" sz="4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CoT – “Chain of Thought”</a:t>
            </a:r>
            <a:endParaRPr b="0" lang="en-US" sz="40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DeepSeek</a:t>
            </a:r>
            <a:endParaRPr b="0" lang="en-US" sz="4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Chinese innovators</a:t>
            </a:r>
            <a:endParaRPr b="0" lang="en-US" sz="4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Demonstrates much more efficient use of computation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CustomShape 1"/>
          <p:cNvSpPr/>
          <p:nvPr/>
        </p:nvSpPr>
        <p:spPr>
          <a:xfrm>
            <a:off x="504000" y="226080"/>
            <a:ext cx="907200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AI Future – Where is it heading?</a:t>
            </a:r>
            <a:r>
              <a:rPr b="0" lang="en-US" sz="4400" spc="-1" strike="noStrike">
                <a:latin typeface="Arial"/>
              </a:rPr>
              <a:t>	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9" name="CustomShape 2"/>
          <p:cNvSpPr/>
          <p:nvPr/>
        </p:nvSpPr>
        <p:spPr>
          <a:xfrm>
            <a:off x="504000" y="1323720"/>
            <a:ext cx="907200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7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“… </a:t>
            </a:r>
            <a:r>
              <a:rPr b="0" lang="en-US" sz="3200" spc="-1" strike="noStrike">
                <a:latin typeface="Arial"/>
              </a:rPr>
              <a:t>heavier than air flying machines are impossible”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Lord Kelvin, 1895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Alchemistic Empiricism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latin typeface="Arial"/>
              </a:rPr>
              <a:t>Analogy of Chemistry in 1825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Results in fits and starts as we try things out by guess-and-by-golly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Start with Nature, End with Design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Planes vs birds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Deep Learning vs brains : Geoff Hinton’s warning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Events: late 2020s (?)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1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5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Ongoing automation of white collar work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Writing, coding, art, music, law, healthcare, customer service, language translation, entertainment, etc.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My own experience: It's like a competent, widely read, and blindingly fast junior engineer.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May double or triple productivity of experienced professionals.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Physical AI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AI with vision, movement, hearing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Robotics, self-driving cars, manufacturing, construction, etc.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Scientific advances using AI, especially RL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504000" y="226080"/>
            <a:ext cx="906876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Events: 2030s (??)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3" name="CustomShape 2"/>
          <p:cNvSpPr/>
          <p:nvPr/>
        </p:nvSpPr>
        <p:spPr>
          <a:xfrm>
            <a:off x="504000" y="1326600"/>
            <a:ext cx="9068760" cy="328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A: AI progress will “plateau”</a:t>
            </a:r>
            <a:endParaRPr b="0" lang="en-US" sz="24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 are 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It’s plateaued before</a:t>
            </a:r>
            <a:endParaRPr b="0" lang="en-US" sz="24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B: Continued progress reaching “AGI” or “superintelligence”</a:t>
            </a:r>
            <a:endParaRPr b="0" lang="en-US" sz="24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Unprecedented research community and infrastructure</a:t>
            </a:r>
            <a:endParaRPr b="0" lang="en-US" sz="24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Continued improvement in design and training procedures</a:t>
            </a:r>
            <a:endParaRPr b="0" lang="en-US" sz="24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 is rapidly improving</a:t>
            </a:r>
            <a:endParaRPr b="0" lang="en-US" sz="24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years ago, many experts thought “A”.  Now many think “B”.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Near Term Issues to Consider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5" name="CustomShape 2"/>
          <p:cNvSpPr/>
          <p:nvPr/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4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Legal questions of copyright and liability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Alignment” of AI with human values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Apprentice gap”: How will entry level professionals learn their trade?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Technological unemployment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Not like going from farm to factory to simple white-collar work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UBI might provide subsistence, but doesn’t provide purpose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Which nation will lead? – Manhattan project of the 2020s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Advice to Students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7" name="CustomShape 2"/>
          <p:cNvSpPr/>
          <p:nvPr/>
        </p:nvSpPr>
        <p:spPr>
          <a:xfrm>
            <a:off x="504000" y="1326600"/>
            <a:ext cx="907164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0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Learn to create without AI first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Can’t be “in charge” if you are dependent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Gets you closer to content, like doing your own calculations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Then, create using AI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Leverage AI to create more than you can alone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 AI as “cointelligence” partner from whom you can learn as well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is the workflow of the future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504000" y="226080"/>
            <a:ext cx="906876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Long Term Questions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457200" y="1326600"/>
            <a:ext cx="9068760" cy="388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can AI teach us about the nature of thought and intelligence? 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Hard Problem of Consciousness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Who is my neighbor?”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CustomShape 1"/>
          <p:cNvSpPr/>
          <p:nvPr/>
        </p:nvSpPr>
        <p:spPr>
          <a:xfrm>
            <a:off x="504000" y="226080"/>
            <a:ext cx="907200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Future Predictions – Dystopian SF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1" name="CustomShape 2"/>
          <p:cNvSpPr/>
          <p:nvPr/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4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Premise: Technology is a power unto itself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(1984) Blade Runner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LA is stygian hellscape in 2020s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(1984) Terminator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LA is nuclear-blasted wreck with robots killing humans in 2020s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(1970) Colossus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AI computer becomes world dictator in late 1970s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504000" y="74160"/>
            <a:ext cx="9072000" cy="124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Future Predictions – CS Perspective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3" name="CustomShape 2"/>
          <p:cNvSpPr/>
          <p:nvPr/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Premise: Technology is Mind’s creativity unfolding.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“</a:t>
            </a:r>
            <a:r>
              <a:rPr b="0" lang="en-US" sz="3200" spc="-1" strike="noStrike">
                <a:latin typeface="Arial"/>
              </a:rPr>
              <a:t>The mariner will have dominion over the atmosphere and the great deep .. the astronomer will no longer look up to the stars, – he will look out from them..” </a:t>
            </a:r>
            <a:r>
              <a:rPr b="0" lang="en-US" sz="2400" spc="-1" strike="noStrike">
                <a:latin typeface="Arial"/>
              </a:rPr>
              <a:t>Science and Health p125: 25-29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" descr=""/>
          <p:cNvPicPr/>
          <p:nvPr/>
        </p:nvPicPr>
        <p:blipFill>
          <a:blip r:embed="rId1"/>
          <a:stretch/>
        </p:blipFill>
        <p:spPr>
          <a:xfrm>
            <a:off x="274320" y="1005840"/>
            <a:ext cx="5303160" cy="3291480"/>
          </a:xfrm>
          <a:prstGeom prst="rect">
            <a:avLst/>
          </a:prstGeom>
          <a:ln>
            <a:noFill/>
          </a:ln>
        </p:spPr>
      </p:pic>
      <p:pic>
        <p:nvPicPr>
          <p:cNvPr id="315" name="" descr=""/>
          <p:cNvPicPr/>
          <p:nvPr/>
        </p:nvPicPr>
        <p:blipFill>
          <a:blip r:embed="rId2"/>
          <a:stretch/>
        </p:blipFill>
        <p:spPr>
          <a:xfrm>
            <a:off x="4297680" y="2651760"/>
            <a:ext cx="4388760" cy="2925000"/>
          </a:xfrm>
          <a:prstGeom prst="rect">
            <a:avLst/>
          </a:prstGeom>
          <a:ln>
            <a:noFill/>
          </a:ln>
        </p:spPr>
      </p:pic>
      <p:pic>
        <p:nvPicPr>
          <p:cNvPr id="316" name="" descr=""/>
          <p:cNvPicPr/>
          <p:nvPr/>
        </p:nvPicPr>
        <p:blipFill>
          <a:blip r:embed="rId3"/>
          <a:stretch/>
        </p:blipFill>
        <p:spPr>
          <a:xfrm>
            <a:off x="6126840" y="518400"/>
            <a:ext cx="3474720" cy="2316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CustomShape 1"/>
          <p:cNvSpPr/>
          <p:nvPr/>
        </p:nvSpPr>
        <p:spPr>
          <a:xfrm>
            <a:off x="504000" y="226080"/>
            <a:ext cx="907128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Christian Science Perspective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8" name="CustomShape 2"/>
          <p:cNvSpPr/>
          <p:nvPr/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There is no life, truth, intelligence, nor substance in matter. All is infinite Mind and its infinite manifestation…” S&amp;H p 468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Intelligence is omniscience, omnipresence, and omnipotence.  It is the primal and eternal quality of infinite Mind...”  S&amp;H p 469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7186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2025-04-27T13:10:58Z</dcterms:modified>
  <cp:revision>47</cp:revision>
  <dc:subject/>
  <dc:title/>
</cp:coreProperties>
</file>